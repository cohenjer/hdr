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7"/>
  </p:notesMasterIdLst>
  <p:sldIdLst>
    <p:sldId id="318" r:id="rId2"/>
    <p:sldId id="256" r:id="rId3"/>
    <p:sldId id="419" r:id="rId4"/>
    <p:sldId id="406" r:id="rId5"/>
    <p:sldId id="259" r:id="rId6"/>
    <p:sldId id="262" r:id="rId7"/>
    <p:sldId id="421" r:id="rId8"/>
    <p:sldId id="432" r:id="rId9"/>
    <p:sldId id="467" r:id="rId10"/>
    <p:sldId id="427" r:id="rId11"/>
    <p:sldId id="448" r:id="rId12"/>
    <p:sldId id="444" r:id="rId13"/>
    <p:sldId id="396" r:id="rId14"/>
    <p:sldId id="464" r:id="rId15"/>
    <p:sldId id="465" r:id="rId16"/>
    <p:sldId id="437" r:id="rId17"/>
    <p:sldId id="420" r:id="rId18"/>
    <p:sldId id="261" r:id="rId19"/>
    <p:sldId id="400" r:id="rId20"/>
    <p:sldId id="449" r:id="rId21"/>
    <p:sldId id="471" r:id="rId22"/>
    <p:sldId id="431" r:id="rId23"/>
    <p:sldId id="459" r:id="rId24"/>
    <p:sldId id="452" r:id="rId25"/>
    <p:sldId id="402" r:id="rId26"/>
    <p:sldId id="408" r:id="rId27"/>
    <p:sldId id="413" r:id="rId28"/>
    <p:sldId id="435" r:id="rId29"/>
    <p:sldId id="445" r:id="rId30"/>
    <p:sldId id="472" r:id="rId31"/>
    <p:sldId id="266" r:id="rId32"/>
    <p:sldId id="473" r:id="rId33"/>
    <p:sldId id="461" r:id="rId34"/>
    <p:sldId id="460" r:id="rId35"/>
    <p:sldId id="265" r:id="rId36"/>
    <p:sldId id="453" r:id="rId37"/>
    <p:sldId id="290" r:id="rId38"/>
    <p:sldId id="298" r:id="rId39"/>
    <p:sldId id="299" r:id="rId40"/>
    <p:sldId id="300" r:id="rId41"/>
    <p:sldId id="267" r:id="rId42"/>
    <p:sldId id="268" r:id="rId43"/>
    <p:sldId id="412" r:id="rId44"/>
    <p:sldId id="291" r:id="rId45"/>
    <p:sldId id="454" r:id="rId46"/>
    <p:sldId id="301" r:id="rId47"/>
    <p:sldId id="303" r:id="rId48"/>
    <p:sldId id="438" r:id="rId49"/>
    <p:sldId id="269" r:id="rId50"/>
    <p:sldId id="414" r:id="rId51"/>
    <p:sldId id="474" r:id="rId52"/>
    <p:sldId id="462" r:id="rId53"/>
    <p:sldId id="439" r:id="rId54"/>
    <p:sldId id="276" r:id="rId55"/>
    <p:sldId id="309" r:id="rId56"/>
    <p:sldId id="475" r:id="rId57"/>
    <p:sldId id="463" r:id="rId58"/>
    <p:sldId id="440" r:id="rId59"/>
    <p:sldId id="274" r:id="rId60"/>
    <p:sldId id="281" r:id="rId61"/>
    <p:sldId id="311" r:id="rId62"/>
    <p:sldId id="283" r:id="rId63"/>
    <p:sldId id="476" r:id="rId64"/>
    <p:sldId id="272" r:id="rId65"/>
    <p:sldId id="455" r:id="rId66"/>
    <p:sldId id="470" r:id="rId67"/>
    <p:sldId id="424" r:id="rId68"/>
    <p:sldId id="480" r:id="rId69"/>
    <p:sldId id="322" r:id="rId70"/>
    <p:sldId id="450" r:id="rId71"/>
    <p:sldId id="433" r:id="rId72"/>
    <p:sldId id="323" r:id="rId73"/>
    <p:sldId id="469" r:id="rId74"/>
    <p:sldId id="478" r:id="rId75"/>
    <p:sldId id="446" r:id="rId76"/>
    <p:sldId id="479" r:id="rId77"/>
    <p:sldId id="481" r:id="rId78"/>
    <p:sldId id="282" r:id="rId79"/>
    <p:sldId id="468" r:id="rId80"/>
    <p:sldId id="458" r:id="rId81"/>
    <p:sldId id="407" r:id="rId82"/>
    <p:sldId id="319" r:id="rId83"/>
    <p:sldId id="294" r:id="rId84"/>
    <p:sldId id="296" r:id="rId85"/>
    <p:sldId id="308" r:id="rId86"/>
  </p:sldIdLst>
  <p:sldSz cx="12192000" cy="6858000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xel Marmoret" initials="AM" lastIdx="1" clrIdx="0">
    <p:extLst>
      <p:ext uri="{19B8F6BF-5375-455C-9EA6-DF929625EA0E}">
        <p15:presenceInfo xmlns:p15="http://schemas.microsoft.com/office/powerpoint/2012/main" userId="S-1-5-21-457044843-2388172105-1975960266-367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7DD"/>
    <a:srgbClr val="93E159"/>
    <a:srgbClr val="0EFC4C"/>
    <a:srgbClr val="B40000"/>
    <a:srgbClr val="A2C4CB"/>
    <a:srgbClr val="1A2E40"/>
    <a:srgbClr val="B4B4B4"/>
    <a:srgbClr val="F6F5F5"/>
    <a:srgbClr val="F2F2F2"/>
    <a:srgbClr val="4751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69174" autoAdjust="0"/>
  </p:normalViewPr>
  <p:slideViewPr>
    <p:cSldViewPr snapToGrid="0">
      <p:cViewPr varScale="1">
        <p:scale>
          <a:sx n="48" d="100"/>
          <a:sy n="48" d="100"/>
        </p:scale>
        <p:origin x="1372" y="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C0A8F-4082-450C-872B-15906C58A7B2}" type="datetimeFigureOut">
              <a:rPr lang="fr-FR" smtClean="0"/>
              <a:t>25/01/2023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BC80D-F59E-4876-A28F-FBAD6643EC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85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REDUIRE LA TAILLE DES NOTES</a:t>
            </a:r>
          </a:p>
          <a:p>
            <a:endParaRPr lang="en-GB" dirty="0"/>
          </a:p>
          <a:p>
            <a:r>
              <a:rPr lang="en-GB" dirty="0"/>
              <a:t>Exhibit – expose, met </a:t>
            </a:r>
            <a:r>
              <a:rPr lang="en-GB" dirty="0" err="1"/>
              <a:t>en</a:t>
            </a:r>
            <a:r>
              <a:rPr lang="en-GB" dirty="0"/>
              <a:t> evidence, </a:t>
            </a:r>
            <a:r>
              <a:rPr lang="en-GB" dirty="0" err="1"/>
              <a:t>montre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73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Bonjour à </a:t>
            </a:r>
            <a:r>
              <a:rPr lang="fr-FR" noProof="0" dirty="0"/>
              <a:t>tous</a:t>
            </a:r>
            <a:r>
              <a:rPr lang="en-GB" dirty="0"/>
              <a:t>. </a:t>
            </a:r>
          </a:p>
          <a:p>
            <a:r>
              <a:rPr lang="en-GB" dirty="0"/>
              <a:t>Tout </a:t>
            </a:r>
            <a:r>
              <a:rPr lang="en-GB" dirty="0" err="1"/>
              <a:t>d'abord</a:t>
            </a:r>
            <a:r>
              <a:rPr lang="en-GB" dirty="0"/>
              <a:t>, </a:t>
            </a:r>
            <a:r>
              <a:rPr lang="en-GB" dirty="0" err="1"/>
              <a:t>j'aimerais</a:t>
            </a:r>
            <a:r>
              <a:rPr lang="en-GB" dirty="0"/>
              <a:t> </a:t>
            </a:r>
            <a:r>
              <a:rPr lang="en-GB" dirty="0" err="1"/>
              <a:t>remercier</a:t>
            </a:r>
            <a:r>
              <a:rPr lang="en-GB" dirty="0"/>
              <a:t> les members du jury </a:t>
            </a:r>
            <a:r>
              <a:rPr lang="en-GB" dirty="0" err="1"/>
              <a:t>d'avoir</a:t>
            </a:r>
            <a:r>
              <a:rPr lang="en-GB" dirty="0"/>
              <a:t> </a:t>
            </a:r>
            <a:r>
              <a:rPr lang="en-GB" dirty="0" err="1"/>
              <a:t>accepté</a:t>
            </a:r>
            <a:r>
              <a:rPr lang="en-GB" dirty="0"/>
              <a:t> </a:t>
            </a:r>
            <a:r>
              <a:rPr lang="en-GB" dirty="0" err="1"/>
              <a:t>d'évaluer</a:t>
            </a:r>
            <a:r>
              <a:rPr lang="en-GB" dirty="0"/>
              <a:t> les travaux </a:t>
            </a:r>
            <a:r>
              <a:rPr lang="en-GB" dirty="0" err="1"/>
              <a:t>réalisés</a:t>
            </a:r>
            <a:r>
              <a:rPr lang="en-GB" dirty="0"/>
              <a:t> dans le cadre de ma these de </a:t>
            </a:r>
            <a:r>
              <a:rPr lang="en-GB" dirty="0" err="1"/>
              <a:t>doctorat</a:t>
            </a:r>
            <a:r>
              <a:rPr lang="en-GB" dirty="0"/>
              <a:t>, </a:t>
            </a:r>
            <a:r>
              <a:rPr lang="en-GB" dirty="0" err="1"/>
              <a:t>intitulée</a:t>
            </a:r>
            <a:r>
              <a:rPr lang="en-GB" dirty="0"/>
              <a:t> </a:t>
            </a:r>
          </a:p>
          <a:p>
            <a:r>
              <a:rPr lang="en-GB" dirty="0"/>
              <a:t>"</a:t>
            </a:r>
            <a:r>
              <a:rPr lang="en-GB" dirty="0" err="1"/>
              <a:t>Paradigmes</a:t>
            </a:r>
            <a:r>
              <a:rPr lang="en-GB" dirty="0"/>
              <a:t> </a:t>
            </a:r>
            <a:r>
              <a:rPr lang="en-GB" dirty="0" err="1"/>
              <a:t>d'Apprentissage</a:t>
            </a:r>
            <a:r>
              <a:rPr lang="en-GB" dirty="0"/>
              <a:t> </a:t>
            </a:r>
            <a:r>
              <a:rPr lang="en-GB" dirty="0" err="1"/>
              <a:t>Automatique</a:t>
            </a:r>
            <a:r>
              <a:rPr lang="en-GB" dirty="0"/>
              <a:t> non supervises pour la representations de la </a:t>
            </a:r>
            <a:r>
              <a:rPr lang="en-GB" dirty="0" err="1"/>
              <a:t>similarité</a:t>
            </a:r>
            <a:r>
              <a:rPr lang="en-GB" dirty="0"/>
              <a:t> et de la structure musicale".</a:t>
            </a:r>
          </a:p>
          <a:p>
            <a:r>
              <a:rPr lang="en-GB" dirty="0"/>
              <a:t>These co-</a:t>
            </a:r>
            <a:r>
              <a:rPr lang="en-GB" dirty="0" err="1"/>
              <a:t>encadrée</a:t>
            </a:r>
            <a:r>
              <a:rPr lang="en-GB" dirty="0"/>
              <a:t> F </a:t>
            </a:r>
            <a:r>
              <a:rPr lang="en-GB" dirty="0" err="1"/>
              <a:t>Bimbot</a:t>
            </a:r>
            <a:r>
              <a:rPr lang="en-GB" dirty="0"/>
              <a:t> J Cohen.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042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Ces</a:t>
            </a:r>
            <a:r>
              <a:rPr lang="en-GB" dirty="0"/>
              <a:t> travaux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synthétisés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image : </a:t>
            </a:r>
          </a:p>
          <a:p>
            <a:r>
              <a:rPr lang="en-GB" dirty="0" err="1"/>
              <a:t>Partant</a:t>
            </a:r>
            <a:r>
              <a:rPr lang="en-GB" dirty="0"/>
              <a:t> d'un morceau de musique, sous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forme</a:t>
            </a:r>
            <a:r>
              <a:rPr lang="en-GB" dirty="0"/>
              <a:t> audio, </a:t>
            </a:r>
            <a:r>
              <a:rPr lang="en-GB" dirty="0" err="1"/>
              <a:t>l'objectif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de developer des </a:t>
            </a:r>
            <a:r>
              <a:rPr lang="en-GB" dirty="0" err="1"/>
              <a:t>algorithmes</a:t>
            </a:r>
            <a:r>
              <a:rPr lang="en-GB" dirty="0"/>
              <a:t> </a:t>
            </a:r>
            <a:r>
              <a:rPr lang="en-GB" dirty="0" err="1"/>
              <a:t>permettant</a:t>
            </a:r>
            <a:r>
              <a:rPr lang="en-GB" dirty="0"/>
              <a:t> </a:t>
            </a:r>
            <a:r>
              <a:rPr lang="en-GB" dirty="0" err="1"/>
              <a:t>d'estimer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structure (</a:t>
            </a:r>
            <a:r>
              <a:rPr lang="en-GB" dirty="0" err="1"/>
              <a:t>Ici</a:t>
            </a:r>
            <a:r>
              <a:rPr lang="en-GB" dirty="0"/>
              <a:t> un </a:t>
            </a: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serait</a:t>
            </a:r>
            <a:r>
              <a:rPr lang="en-GB" dirty="0"/>
              <a:t> de </a:t>
            </a:r>
            <a:r>
              <a:rPr lang="en-GB" dirty="0" err="1"/>
              <a:t>retrouver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structure couplet-refrain-couplet-solo-refrain).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467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Digital – numérique</a:t>
            </a:r>
          </a:p>
          <a:p>
            <a:endParaRPr lang="fr-FR" noProof="0" dirty="0"/>
          </a:p>
          <a:p>
            <a:r>
              <a:rPr lang="fr-FR" noProof="0" dirty="0"/>
              <a:t>- forme audio, c'est à dire l'onde sonore telle que perçue par nos oreilles et nos cerveaux humains. Il s'agit d'un signal, qui peut être traité par un ordinateur.</a:t>
            </a:r>
          </a:p>
          <a:p>
            <a:r>
              <a:rPr lang="fr-FR" noProof="0" dirty="0"/>
              <a:t> - La 2eme forme représentations symboliques de l'audio, c'est à dire une expression sous forme de symboles du contenu musical. Il peut s'agir de représentations pour l'humain, telles que la partition, mais également des représentations à l'intention de machines tel que le format MIDI.</a:t>
            </a:r>
          </a:p>
          <a:p>
            <a:endParaRPr lang="fr-FR" noProof="0" dirty="0"/>
          </a:p>
          <a:p>
            <a:r>
              <a:rPr lang="fr-FR" noProof="0" dirty="0"/>
              <a:t>Cette thèse se concentre ici sous la forme audio de la musique.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98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Représentation simplifiée de l'organisation d'un morceau de musique.</a:t>
            </a:r>
          </a:p>
          <a:p>
            <a:endParaRPr lang="fr-FR" noProof="0" dirty="0"/>
          </a:p>
          <a:p>
            <a:r>
              <a:rPr lang="fr-FR" noProof="0" dirty="0"/>
              <a:t>- un exemple de structure en sections couplet-refrain-couplet-solo-refrain (correspondant à un morceau), </a:t>
            </a:r>
          </a:p>
          <a:p>
            <a:r>
              <a:rPr lang="fr-FR" noProof="0" dirty="0"/>
              <a:t> - plusieurs niveaux d'estimation de structure. (objet </a:t>
            </a:r>
            <a:r>
              <a:rPr lang="fr-FR" b="1" noProof="0" dirty="0"/>
              <a:t>multi-échelle</a:t>
            </a:r>
            <a:r>
              <a:rPr lang="fr-FR" noProof="0" dirty="0"/>
              <a:t>)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348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Tache prétexte = un proxy</a:t>
            </a:r>
          </a:p>
          <a:p>
            <a:endParaRPr lang="fr-FR" dirty="0"/>
          </a:p>
          <a:p>
            <a:r>
              <a:rPr lang="fr-FR" dirty="0"/>
              <a:t>Pourquoi s'intéresser à la structure musicale ?</a:t>
            </a:r>
          </a:p>
          <a:p>
            <a:r>
              <a:rPr lang="fr-FR" dirty="0"/>
              <a:t> - structure en elle-même </a:t>
            </a:r>
          </a:p>
          <a:p>
            <a:r>
              <a:rPr lang="fr-FR" dirty="0"/>
              <a:t>- représentations intermédiaires pour d'autres tâches (courant en Machine Learning)</a:t>
            </a:r>
          </a:p>
          <a:p>
            <a:r>
              <a:rPr lang="fr-FR" dirty="0"/>
              <a:t> - Comme une tâche permettant d'évaluer quantitativement la pertinence d'un modèle. (par, scores quantitatifs de la pertinence du modèle)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684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 </a:t>
            </a:r>
            <a:r>
              <a:rPr lang="en-GB" dirty="0" err="1"/>
              <a:t>critères</a:t>
            </a:r>
            <a:r>
              <a:rPr lang="en-GB" dirty="0"/>
              <a:t>:</a:t>
            </a:r>
          </a:p>
          <a:p>
            <a:r>
              <a:rPr lang="en-GB" dirty="0"/>
              <a:t> - </a:t>
            </a:r>
            <a:r>
              <a:rPr lang="en-GB" dirty="0" err="1"/>
              <a:t>Homogéneité</a:t>
            </a:r>
            <a:r>
              <a:rPr lang="en-GB" dirty="0"/>
              <a:t> : </a:t>
            </a:r>
            <a:r>
              <a:rPr lang="en-GB" dirty="0" err="1"/>
              <a:t>une</a:t>
            </a:r>
            <a:r>
              <a:rPr lang="en-GB" dirty="0"/>
              <a:t> section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estimée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un segment </a:t>
            </a:r>
            <a:r>
              <a:rPr lang="en-GB" dirty="0" err="1"/>
              <a:t>cohérent</a:t>
            </a:r>
            <a:r>
              <a:rPr lang="en-GB" dirty="0"/>
              <a:t> dans le temps -&gt; bloc </a:t>
            </a:r>
            <a:r>
              <a:rPr lang="en-GB" dirty="0" err="1"/>
              <a:t>homogène</a:t>
            </a:r>
            <a:r>
              <a:rPr lang="en-GB" dirty="0"/>
              <a:t>, stable, </a:t>
            </a:r>
            <a:r>
              <a:rPr lang="en-GB" dirty="0" err="1"/>
              <a:t>stationaire</a:t>
            </a:r>
            <a:endParaRPr lang="en-GB" dirty="0"/>
          </a:p>
          <a:p>
            <a:r>
              <a:rPr lang="en-GB" dirty="0" err="1"/>
              <a:t>Ici</a:t>
            </a:r>
            <a:r>
              <a:rPr lang="en-GB" dirty="0"/>
              <a:t>, </a:t>
            </a:r>
            <a:r>
              <a:rPr lang="en-GB" dirty="0" err="1"/>
              <a:t>pont</a:t>
            </a:r>
            <a:r>
              <a:rPr lang="en-GB" dirty="0"/>
              <a:t> </a:t>
            </a:r>
            <a:r>
              <a:rPr lang="en-GB" dirty="0" err="1"/>
              <a:t>avant</a:t>
            </a:r>
            <a:r>
              <a:rPr lang="en-GB" dirty="0"/>
              <a:t> refrain</a:t>
            </a:r>
          </a:p>
          <a:p>
            <a:r>
              <a:rPr lang="en-GB" dirty="0"/>
              <a:t> - </a:t>
            </a:r>
            <a:r>
              <a:rPr lang="en-GB" dirty="0" err="1"/>
              <a:t>Répétition</a:t>
            </a:r>
            <a:r>
              <a:rPr lang="en-GB" dirty="0"/>
              <a:t> : </a:t>
            </a:r>
            <a:r>
              <a:rPr lang="en-GB" dirty="0" err="1"/>
              <a:t>une</a:t>
            </a:r>
            <a:r>
              <a:rPr lang="en-GB" dirty="0"/>
              <a:t> section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estimée</a:t>
            </a:r>
            <a:r>
              <a:rPr lang="en-GB" dirty="0"/>
              <a:t> car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contenu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répété</a:t>
            </a:r>
            <a:r>
              <a:rPr lang="en-GB" dirty="0"/>
              <a:t>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fois</a:t>
            </a:r>
            <a:r>
              <a:rPr lang="en-GB" dirty="0"/>
              <a:t> dans la chanson</a:t>
            </a:r>
          </a:p>
          <a:p>
            <a:r>
              <a:rPr lang="en-GB" dirty="0"/>
              <a:t>(ex)</a:t>
            </a:r>
          </a:p>
          <a:p>
            <a:r>
              <a:rPr lang="en-GB" dirty="0"/>
              <a:t>Le segment </a:t>
            </a:r>
            <a:r>
              <a:rPr lang="en-GB" dirty="0" err="1"/>
              <a:t>n'est</a:t>
            </a:r>
            <a:r>
              <a:rPr lang="en-GB" dirty="0"/>
              <a:t> pas coherent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lui-même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on </a:t>
            </a:r>
            <a:r>
              <a:rPr lang="en-GB" dirty="0" err="1"/>
              <a:t>sait</a:t>
            </a:r>
            <a:r>
              <a:rPr lang="en-GB" dirty="0"/>
              <a:t> </a:t>
            </a:r>
            <a:r>
              <a:rPr lang="en-GB" dirty="0" err="1"/>
              <a:t>qu'il</a:t>
            </a:r>
            <a:r>
              <a:rPr lang="en-GB" dirty="0"/>
              <a:t> </a:t>
            </a:r>
            <a:r>
              <a:rPr lang="en-GB" dirty="0" err="1"/>
              <a:t>s'agit</a:t>
            </a:r>
            <a:r>
              <a:rPr lang="en-GB" dirty="0"/>
              <a:t> </a:t>
            </a:r>
            <a:r>
              <a:rPr lang="en-GB" dirty="0" err="1"/>
              <a:t>d'une</a:t>
            </a:r>
            <a:r>
              <a:rPr lang="en-GB" dirty="0"/>
              <a:t> section (refrain) car </a:t>
            </a:r>
            <a:r>
              <a:rPr lang="en-GB" dirty="0" err="1"/>
              <a:t>il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répété</a:t>
            </a:r>
            <a:r>
              <a:rPr lang="en-GB" dirty="0"/>
              <a:t>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fois</a:t>
            </a:r>
            <a:r>
              <a:rPr lang="en-GB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262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pratique</a:t>
            </a:r>
            <a:r>
              <a:rPr lang="en-GB" dirty="0"/>
              <a:t>:</a:t>
            </a:r>
          </a:p>
          <a:p>
            <a:r>
              <a:rPr lang="en-GB" dirty="0"/>
              <a:t> - Introduction</a:t>
            </a:r>
          </a:p>
          <a:p>
            <a:r>
              <a:rPr lang="en-GB" dirty="0"/>
              <a:t> - Couplet 1</a:t>
            </a:r>
          </a:p>
          <a:p>
            <a:r>
              <a:rPr lang="en-GB" dirty="0"/>
              <a:t> - Couplet 2</a:t>
            </a:r>
          </a:p>
          <a:p>
            <a:r>
              <a:rPr lang="en-GB" dirty="0"/>
              <a:t> - Refrain</a:t>
            </a:r>
          </a:p>
          <a:p>
            <a:r>
              <a:rPr lang="en-GB" dirty="0"/>
              <a:t> - 2 sections pour le solo </a:t>
            </a:r>
            <a:r>
              <a:rPr lang="en-GB" dirty="0" err="1"/>
              <a:t>puis</a:t>
            </a:r>
            <a:r>
              <a:rPr lang="en-GB" dirty="0"/>
              <a:t> 1 pour la fin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48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- </a:t>
            </a:r>
            <a:r>
              <a:rPr lang="en-GB" dirty="0" err="1"/>
              <a:t>Algorithme</a:t>
            </a:r>
            <a:r>
              <a:rPr lang="en-GB" dirty="0"/>
              <a:t> conventionnel: decision </a:t>
            </a:r>
            <a:r>
              <a:rPr lang="en-GB" dirty="0" err="1"/>
              <a:t>entièrement</a:t>
            </a:r>
            <a:r>
              <a:rPr lang="en-GB" dirty="0"/>
              <a:t> </a:t>
            </a:r>
            <a:r>
              <a:rPr lang="en-GB" dirty="0" err="1"/>
              <a:t>détérminée</a:t>
            </a:r>
            <a:r>
              <a:rPr lang="en-GB" dirty="0"/>
              <a:t> par un </a:t>
            </a:r>
            <a:r>
              <a:rPr lang="en-GB" dirty="0" err="1"/>
              <a:t>humain</a:t>
            </a:r>
            <a:r>
              <a:rPr lang="en-GB" dirty="0"/>
              <a:t>, par un programme </a:t>
            </a:r>
            <a:r>
              <a:rPr lang="en-GB" dirty="0" err="1"/>
              <a:t>informatique</a:t>
            </a:r>
            <a:r>
              <a:rPr lang="en-GB" dirty="0"/>
              <a:t>, un code, </a:t>
            </a:r>
            <a:r>
              <a:rPr lang="en-GB" dirty="0" err="1"/>
              <a:t>une</a:t>
            </a:r>
            <a:r>
              <a:rPr lang="en-GB" dirty="0"/>
              <a:t> suite </a:t>
            </a:r>
            <a:r>
              <a:rPr lang="en-GB" b="1" dirty="0" err="1"/>
              <a:t>d'instructions</a:t>
            </a:r>
            <a:r>
              <a:rPr lang="en-GB" b="1" dirty="0"/>
              <a:t> </a:t>
            </a:r>
            <a:r>
              <a:rPr lang="en-GB" b="1" dirty="0" err="1"/>
              <a:t>explicites</a:t>
            </a:r>
            <a:endParaRPr lang="en-GB" b="1" dirty="0"/>
          </a:p>
          <a:p>
            <a:r>
              <a:rPr lang="en-GB" b="1" dirty="0"/>
              <a:t> </a:t>
            </a:r>
            <a:r>
              <a:rPr lang="en-GB" b="0" dirty="0"/>
              <a:t>- Machine Learning: decision </a:t>
            </a:r>
            <a:r>
              <a:rPr lang="en-GB" b="0" dirty="0" err="1"/>
              <a:t>inférée</a:t>
            </a:r>
            <a:r>
              <a:rPr lang="en-GB" b="0" dirty="0"/>
              <a:t> de </a:t>
            </a:r>
            <a:r>
              <a:rPr lang="en-GB" b="0" dirty="0" err="1"/>
              <a:t>données</a:t>
            </a:r>
            <a:r>
              <a:rPr lang="en-GB" b="0" dirty="0"/>
              <a:t>,  apprise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578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Correspondance</a:t>
            </a:r>
            <a:r>
              <a:rPr lang="en-GB" dirty="0"/>
              <a:t> – fait </a:t>
            </a:r>
            <a:r>
              <a:rPr lang="en-GB" dirty="0" err="1"/>
              <a:t>correspondre</a:t>
            </a:r>
            <a:endParaRPr lang="en-GB" dirty="0"/>
          </a:p>
          <a:p>
            <a:r>
              <a:rPr lang="en-GB" dirty="0"/>
              <a:t>"</a:t>
            </a:r>
            <a:r>
              <a:rPr lang="en-GB" dirty="0" err="1"/>
              <a:t>Exemples</a:t>
            </a:r>
            <a:r>
              <a:rPr lang="en-GB" dirty="0"/>
              <a:t> </a:t>
            </a:r>
            <a:r>
              <a:rPr lang="en-GB" dirty="0" err="1"/>
              <a:t>connus</a:t>
            </a:r>
            <a:r>
              <a:rPr lang="en-GB" dirty="0"/>
              <a:t>" (</a:t>
            </a:r>
            <a:r>
              <a:rPr lang="en-GB" dirty="0" err="1"/>
              <a:t>décrits</a:t>
            </a:r>
            <a:r>
              <a:rPr lang="en-GB" dirty="0"/>
              <a:t> par des </a:t>
            </a:r>
            <a:r>
              <a:rPr lang="en-GB" dirty="0" err="1"/>
              <a:t>humains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 err="1"/>
              <a:t>Algorithme</a:t>
            </a:r>
            <a:r>
              <a:rPr lang="en-GB" dirty="0"/>
              <a:t> </a:t>
            </a:r>
            <a:r>
              <a:rPr lang="en-GB" dirty="0" err="1"/>
              <a:t>doit</a:t>
            </a:r>
            <a:r>
              <a:rPr lang="en-GB" dirty="0"/>
              <a:t> </a:t>
            </a:r>
            <a:r>
              <a:rPr lang="en-GB" dirty="0" err="1"/>
              <a:t>comprendre</a:t>
            </a:r>
            <a:r>
              <a:rPr lang="en-GB" dirty="0"/>
              <a:t> les relations entre </a:t>
            </a:r>
            <a:r>
              <a:rPr lang="en-GB" dirty="0" err="1"/>
              <a:t>l'image</a:t>
            </a:r>
            <a:r>
              <a:rPr lang="en-GB" dirty="0"/>
              <a:t> et le label</a:t>
            </a:r>
          </a:p>
          <a:p>
            <a:r>
              <a:rPr lang="en-GB" dirty="0"/>
              <a:t> - </a:t>
            </a:r>
            <a:r>
              <a:rPr lang="en-GB" dirty="0" err="1"/>
              <a:t>Besoin</a:t>
            </a:r>
            <a:r>
              <a:rPr lang="en-GB" dirty="0"/>
              <a:t> </a:t>
            </a:r>
            <a:r>
              <a:rPr lang="en-GB" dirty="0" err="1"/>
              <a:t>d'une</a:t>
            </a:r>
            <a:r>
              <a:rPr lang="en-GB" dirty="0"/>
              <a:t> base de </a:t>
            </a:r>
            <a:r>
              <a:rPr lang="en-GB" dirty="0" err="1"/>
              <a:t>données</a:t>
            </a:r>
            <a:r>
              <a:rPr lang="en-GB" dirty="0"/>
              <a:t> </a:t>
            </a:r>
            <a:r>
              <a:rPr lang="en-GB" dirty="0" err="1"/>
              <a:t>annotée</a:t>
            </a:r>
            <a:r>
              <a:rPr lang="en-GB" dirty="0"/>
              <a:t> (BDD avec </a:t>
            </a:r>
            <a:r>
              <a:rPr lang="en-GB" dirty="0" err="1"/>
              <a:t>ces</a:t>
            </a:r>
            <a:r>
              <a:rPr lang="en-GB" dirty="0"/>
              <a:t> couples/</a:t>
            </a:r>
            <a:r>
              <a:rPr lang="en-GB" dirty="0" err="1"/>
              <a:t>correspondances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particulier : reseaux de neurones </a:t>
            </a:r>
            <a:r>
              <a:rPr lang="en-GB" dirty="0" err="1"/>
              <a:t>profonds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089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Regle</a:t>
            </a:r>
            <a:r>
              <a:rPr lang="en-GB" dirty="0"/>
              <a:t> de decision </a:t>
            </a:r>
            <a:r>
              <a:rPr lang="en-GB" dirty="0" err="1"/>
              <a:t>basée</a:t>
            </a:r>
            <a:r>
              <a:rPr lang="en-GB" dirty="0"/>
              <a:t> sur la distribution des </a:t>
            </a:r>
            <a:r>
              <a:rPr lang="en-GB" dirty="0" err="1"/>
              <a:t>données</a:t>
            </a:r>
            <a:endParaRPr lang="en-GB" dirty="0"/>
          </a:p>
          <a:p>
            <a:r>
              <a:rPr lang="en-GB" dirty="0"/>
              <a:t>On suppose que les </a:t>
            </a:r>
            <a:r>
              <a:rPr lang="en-GB" dirty="0" err="1"/>
              <a:t>données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distribuées</a:t>
            </a:r>
            <a:r>
              <a:rPr lang="en-GB" dirty="0"/>
              <a:t> dans </a:t>
            </a:r>
            <a:r>
              <a:rPr lang="en-GB" dirty="0" err="1"/>
              <a:t>l'espace</a:t>
            </a:r>
            <a:r>
              <a:rPr lang="en-GB" dirty="0"/>
              <a:t> de </a:t>
            </a:r>
            <a:r>
              <a:rPr lang="en-GB" dirty="0" err="1"/>
              <a:t>telle</a:t>
            </a:r>
            <a:r>
              <a:rPr lang="en-GB" dirty="0"/>
              <a:t> </a:t>
            </a:r>
            <a:r>
              <a:rPr lang="en-GB" dirty="0" err="1"/>
              <a:t>sorte</a:t>
            </a:r>
            <a:r>
              <a:rPr lang="en-GB" dirty="0"/>
              <a:t> </a:t>
            </a:r>
            <a:r>
              <a:rPr lang="en-GB" dirty="0" err="1"/>
              <a:t>qu'on</a:t>
            </a:r>
            <a:r>
              <a:rPr lang="en-GB" dirty="0"/>
              <a:t> </a:t>
            </a:r>
            <a:r>
              <a:rPr lang="en-GB" dirty="0" err="1"/>
              <a:t>puisse</a:t>
            </a:r>
            <a:r>
              <a:rPr lang="en-GB" dirty="0"/>
              <a:t> les </a:t>
            </a:r>
            <a:r>
              <a:rPr lang="en-GB" dirty="0" err="1"/>
              <a:t>différencier</a:t>
            </a:r>
            <a:endParaRPr lang="en-GB" dirty="0"/>
          </a:p>
          <a:p>
            <a:r>
              <a:rPr lang="en-GB" dirty="0"/>
              <a:t> - </a:t>
            </a:r>
            <a:r>
              <a:rPr lang="en-GB" dirty="0" err="1"/>
              <a:t>Hypothèse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dur à verifier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pratique</a:t>
            </a:r>
            <a:endParaRPr lang="en-GB" dirty="0"/>
          </a:p>
          <a:p>
            <a:r>
              <a:rPr lang="en-GB" dirty="0"/>
              <a:t> - Importance de la </a:t>
            </a:r>
            <a:r>
              <a:rPr lang="en-GB" dirty="0" err="1"/>
              <a:t>similarité</a:t>
            </a:r>
            <a:r>
              <a:rPr lang="en-GB" dirty="0"/>
              <a:t> entre les </a:t>
            </a:r>
            <a:r>
              <a:rPr lang="en-GB" dirty="0" err="1"/>
              <a:t>données</a:t>
            </a:r>
            <a:r>
              <a:rPr lang="en-GB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91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Métrique</a:t>
            </a:r>
            <a:r>
              <a:rPr lang="en-GB" dirty="0"/>
              <a:t> de structure : accord/concordance entre 2 </a:t>
            </a:r>
            <a:r>
              <a:rPr lang="en-GB" dirty="0" err="1"/>
              <a:t>listes</a:t>
            </a:r>
            <a:r>
              <a:rPr lang="en-GB" dirty="0"/>
              <a:t> de </a:t>
            </a:r>
            <a:r>
              <a:rPr lang="en-GB" dirty="0" err="1"/>
              <a:t>frontieres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2 tolerances </a:t>
            </a:r>
            <a:r>
              <a:rPr lang="en-GB" dirty="0" err="1"/>
              <a:t>considérées</a:t>
            </a:r>
            <a:r>
              <a:rPr lang="en-GB" dirty="0"/>
              <a:t> : 0.5s et 3s</a:t>
            </a:r>
          </a:p>
          <a:p>
            <a:endParaRPr lang="en-GB" dirty="0"/>
          </a:p>
          <a:p>
            <a:r>
              <a:rPr lang="en-GB" dirty="0" err="1"/>
              <a:t>Précision</a:t>
            </a:r>
            <a:r>
              <a:rPr lang="en-GB" dirty="0"/>
              <a:t>: proportion de </a:t>
            </a:r>
            <a:r>
              <a:rPr lang="en-GB" dirty="0" err="1"/>
              <a:t>bonnes</a:t>
            </a:r>
            <a:r>
              <a:rPr lang="en-GB" dirty="0"/>
              <a:t> estimations </a:t>
            </a:r>
            <a:r>
              <a:rPr lang="en-GB" dirty="0" err="1"/>
              <a:t>parmi</a:t>
            </a:r>
            <a:r>
              <a:rPr lang="en-GB" dirty="0"/>
              <a:t> </a:t>
            </a:r>
            <a:r>
              <a:rPr lang="en-GB" dirty="0" err="1"/>
              <a:t>toutes</a:t>
            </a:r>
            <a:r>
              <a:rPr lang="en-GB" dirty="0"/>
              <a:t> estimation</a:t>
            </a:r>
          </a:p>
          <a:p>
            <a:r>
              <a:rPr lang="en-GB" dirty="0"/>
              <a:t>Rappel: proportion </a:t>
            </a:r>
            <a:r>
              <a:rPr lang="en-GB" dirty="0" err="1"/>
              <a:t>d'annotations</a:t>
            </a:r>
            <a:r>
              <a:rPr lang="en-GB" dirty="0"/>
              <a:t> </a:t>
            </a:r>
            <a:r>
              <a:rPr lang="en-GB" dirty="0" err="1"/>
              <a:t>trouvées</a:t>
            </a:r>
            <a:endParaRPr lang="en-GB" dirty="0"/>
          </a:p>
          <a:p>
            <a:r>
              <a:rPr lang="en-GB" dirty="0"/>
              <a:t>F </a:t>
            </a:r>
            <a:r>
              <a:rPr lang="en-GB" dirty="0" err="1"/>
              <a:t>mesure</a:t>
            </a:r>
            <a:r>
              <a:rPr lang="en-GB" dirty="0"/>
              <a:t>: </a:t>
            </a:r>
            <a:r>
              <a:rPr lang="en-GB" dirty="0" err="1"/>
              <a:t>compromis</a:t>
            </a:r>
            <a:r>
              <a:rPr lang="en-GB" dirty="0"/>
              <a:t> entre les 2 (</a:t>
            </a:r>
            <a:r>
              <a:rPr lang="en-GB" dirty="0" err="1"/>
              <a:t>moyenne</a:t>
            </a:r>
            <a:r>
              <a:rPr lang="en-GB" dirty="0"/>
              <a:t> </a:t>
            </a:r>
            <a:r>
              <a:rPr lang="en-GB" dirty="0" err="1"/>
              <a:t>géomètrique</a:t>
            </a:r>
            <a:r>
              <a:rPr lang="en-GB" dirty="0"/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604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BARRE ANIMATION</a:t>
            </a:r>
          </a:p>
          <a:p>
            <a:endParaRPr lang="en-GB" dirty="0"/>
          </a:p>
          <a:p>
            <a:r>
              <a:rPr lang="en-GB" dirty="0" err="1"/>
              <a:t>Voici</a:t>
            </a:r>
            <a:r>
              <a:rPr lang="en-GB" dirty="0"/>
              <a:t> le context de </a:t>
            </a:r>
            <a:r>
              <a:rPr lang="en-GB" dirty="0" err="1"/>
              <a:t>ces</a:t>
            </a:r>
            <a:r>
              <a:rPr lang="en-GB" dirty="0"/>
              <a:t> travaux. Je </a:t>
            </a:r>
            <a:r>
              <a:rPr lang="en-GB" dirty="0" err="1"/>
              <a:t>vais</a:t>
            </a:r>
            <a:r>
              <a:rPr lang="en-GB" dirty="0"/>
              <a:t> </a:t>
            </a:r>
            <a:r>
              <a:rPr lang="en-GB" dirty="0" err="1"/>
              <a:t>désormais</a:t>
            </a:r>
            <a:r>
              <a:rPr lang="en-GB" dirty="0"/>
              <a:t> </a:t>
            </a:r>
            <a:r>
              <a:rPr lang="en-GB" dirty="0" err="1"/>
              <a:t>rentrer</a:t>
            </a:r>
            <a:r>
              <a:rPr lang="en-GB" dirty="0"/>
              <a:t> dans le detail de </a:t>
            </a:r>
            <a:r>
              <a:rPr lang="en-GB" dirty="0" err="1"/>
              <a:t>ce</a:t>
            </a:r>
            <a:r>
              <a:rPr lang="en-GB" dirty="0"/>
              <a:t> qui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réalisé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"</a:t>
            </a:r>
            <a:r>
              <a:rPr lang="en-GB" dirty="0" err="1"/>
              <a:t>Spectrogrammes</a:t>
            </a:r>
            <a:r>
              <a:rPr lang="en-GB" dirty="0"/>
              <a:t> par </a:t>
            </a:r>
            <a:r>
              <a:rPr lang="en-GB" dirty="0" err="1"/>
              <a:t>mesures</a:t>
            </a:r>
            <a:r>
              <a:rPr lang="en-GB" dirty="0"/>
              <a:t>"</a:t>
            </a:r>
          </a:p>
          <a:p>
            <a:endParaRPr lang="en-GB" dirty="0"/>
          </a:p>
          <a:p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méthodes</a:t>
            </a:r>
            <a:r>
              <a:rPr lang="en-GB" dirty="0"/>
              <a:t> de machine learning, </a:t>
            </a:r>
            <a:r>
              <a:rPr lang="en-GB" dirty="0" err="1"/>
              <a:t>objectif</a:t>
            </a:r>
            <a:r>
              <a:rPr lang="en-GB" dirty="0"/>
              <a:t>: </a:t>
            </a:r>
            <a:r>
              <a:rPr lang="en-GB" b="1" dirty="0" err="1"/>
              <a:t>mettre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évidence</a:t>
            </a:r>
            <a:r>
              <a:rPr lang="en-GB" b="1" dirty="0"/>
              <a:t> </a:t>
            </a:r>
            <a:r>
              <a:rPr lang="en-GB" dirty="0"/>
              <a:t>la structure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09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450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Décrire</a:t>
            </a:r>
            <a:r>
              <a:rPr lang="en-GB" dirty="0"/>
              <a:t> le </a:t>
            </a:r>
            <a:r>
              <a:rPr lang="en-GB" dirty="0" err="1"/>
              <a:t>contenu</a:t>
            </a:r>
            <a:r>
              <a:rPr lang="en-GB" dirty="0"/>
              <a:t> du signal sur de </a:t>
            </a:r>
            <a:r>
              <a:rPr lang="en-GB" b="1" dirty="0"/>
              <a:t>petites </a:t>
            </a:r>
            <a:r>
              <a:rPr lang="en-GB" b="1" dirty="0" err="1"/>
              <a:t>fenêtres</a:t>
            </a:r>
            <a:r>
              <a:rPr lang="en-GB" b="1" dirty="0"/>
              <a:t> </a:t>
            </a:r>
            <a:r>
              <a:rPr lang="en-GB" b="1" dirty="0" err="1"/>
              <a:t>temporelles</a:t>
            </a:r>
            <a:r>
              <a:rPr lang="en-GB" dirty="0"/>
              <a:t>. </a:t>
            </a:r>
          </a:p>
          <a:p>
            <a:r>
              <a:rPr lang="en-GB" dirty="0"/>
              <a:t>Principe d'un </a:t>
            </a:r>
            <a:r>
              <a:rPr lang="en-GB" dirty="0" err="1"/>
              <a:t>spectrogramme</a:t>
            </a:r>
            <a:r>
              <a:rPr lang="en-GB" dirty="0"/>
              <a:t>: </a:t>
            </a:r>
            <a:r>
              <a:rPr lang="en-GB" dirty="0" err="1"/>
              <a:t>représentation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descripteurs</a:t>
            </a:r>
            <a:r>
              <a:rPr lang="en-GB" dirty="0"/>
              <a:t> : pas le signal </a:t>
            </a:r>
            <a:r>
              <a:rPr lang="en-GB" dirty="0" err="1"/>
              <a:t>directement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Mel – echelle de </a:t>
            </a:r>
            <a:r>
              <a:rPr lang="en-GB" dirty="0" err="1"/>
              <a:t>fréquences</a:t>
            </a:r>
            <a:r>
              <a:rPr lang="en-GB" dirty="0"/>
              <a:t> </a:t>
            </a:r>
            <a:r>
              <a:rPr lang="en-GB" dirty="0" err="1"/>
              <a:t>suivant</a:t>
            </a:r>
            <a:r>
              <a:rPr lang="en-GB" dirty="0"/>
              <a:t> la perception </a:t>
            </a:r>
            <a:r>
              <a:rPr lang="en-GB" dirty="0" err="1"/>
              <a:t>humaine</a:t>
            </a:r>
            <a:r>
              <a:rPr lang="en-GB" dirty="0"/>
              <a:t> des </a:t>
            </a:r>
            <a:r>
              <a:rPr lang="en-GB" dirty="0" err="1"/>
              <a:t>hauteurs</a:t>
            </a:r>
            <a:endParaRPr lang="en-GB" dirty="0"/>
          </a:p>
          <a:p>
            <a:r>
              <a:rPr lang="en-GB" dirty="0"/>
              <a:t>Chromagram – </a:t>
            </a:r>
            <a:r>
              <a:rPr lang="en-GB" dirty="0" err="1"/>
              <a:t>Représentation</a:t>
            </a:r>
            <a:r>
              <a:rPr lang="en-GB" dirty="0"/>
              <a:t> de </a:t>
            </a:r>
            <a:r>
              <a:rPr lang="en-GB" dirty="0" err="1"/>
              <a:t>l'energie</a:t>
            </a:r>
            <a:r>
              <a:rPr lang="en-GB" dirty="0"/>
              <a:t> dans le signal </a:t>
            </a:r>
            <a:r>
              <a:rPr lang="en-GB" dirty="0" err="1"/>
              <a:t>selon</a:t>
            </a:r>
            <a:r>
              <a:rPr lang="en-GB" dirty="0"/>
              <a:t> </a:t>
            </a:r>
            <a:r>
              <a:rPr lang="en-GB" dirty="0" err="1"/>
              <a:t>l'echelle</a:t>
            </a:r>
            <a:r>
              <a:rPr lang="en-GB" dirty="0"/>
              <a:t> </a:t>
            </a:r>
            <a:r>
              <a:rPr lang="en-GB" dirty="0" err="1"/>
              <a:t>chromatique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38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Parallélépipède</a:t>
            </a:r>
            <a:endParaRPr lang="en-GB" b="1" dirty="0"/>
          </a:p>
          <a:p>
            <a:endParaRPr lang="en-GB" dirty="0"/>
          </a:p>
          <a:p>
            <a:r>
              <a:rPr lang="en-GB" dirty="0" err="1"/>
              <a:t>Mesures</a:t>
            </a:r>
            <a:r>
              <a:rPr lang="en-GB" dirty="0"/>
              <a:t> : plus </a:t>
            </a:r>
            <a:r>
              <a:rPr lang="en-GB" dirty="0" err="1"/>
              <a:t>grande</a:t>
            </a:r>
            <a:r>
              <a:rPr lang="en-GB" dirty="0"/>
              <a:t> echelle </a:t>
            </a:r>
            <a:r>
              <a:rPr lang="en-GB" dirty="0" err="1"/>
              <a:t>temporelle</a:t>
            </a:r>
            <a:r>
              <a:rPr lang="en-GB" dirty="0"/>
              <a:t> musicale, </a:t>
            </a:r>
            <a:r>
              <a:rPr lang="en-GB" dirty="0" err="1"/>
              <a:t>organisant</a:t>
            </a:r>
            <a:r>
              <a:rPr lang="en-GB" dirty="0"/>
              <a:t> les motifs</a:t>
            </a:r>
          </a:p>
          <a:p>
            <a:endParaRPr lang="en-GB" dirty="0"/>
          </a:p>
          <a:p>
            <a:r>
              <a:rPr lang="en-GB" dirty="0"/>
              <a:t>On </a:t>
            </a:r>
            <a:r>
              <a:rPr lang="en-GB" dirty="0" err="1"/>
              <a:t>sépare</a:t>
            </a:r>
            <a:r>
              <a:rPr lang="en-GB" dirty="0"/>
              <a:t> le temps </a:t>
            </a:r>
            <a:r>
              <a:rPr lang="en-GB" dirty="0" err="1"/>
              <a:t>en</a:t>
            </a:r>
            <a:r>
              <a:rPr lang="en-GB" dirty="0"/>
              <a:t> 2 dimensions : temps interne aux </a:t>
            </a:r>
            <a:r>
              <a:rPr lang="en-GB" dirty="0" err="1"/>
              <a:t>mesures</a:t>
            </a:r>
            <a:r>
              <a:rPr lang="en-GB" dirty="0"/>
              <a:t> (t) et indices de </a:t>
            </a:r>
            <a:r>
              <a:rPr lang="en-GB" dirty="0" err="1"/>
              <a:t>mesures</a:t>
            </a:r>
            <a:r>
              <a:rPr lang="en-GB" dirty="0"/>
              <a:t> (b)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699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dirty="0" err="1"/>
              <a:t>automatique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095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Réordonner, réorganiser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Chaque mesure contient t instants temporels (c'est</a:t>
            </a:r>
            <a:r>
              <a:rPr lang="fr-FR" baseline="0" dirty="0"/>
              <a:t> un </a:t>
            </a:r>
            <a:r>
              <a:rPr lang="fr-FR" baseline="0" dirty="0" err="1"/>
              <a:t>parametre</a:t>
            </a:r>
            <a:r>
              <a:rPr lang="fr-FR" baseline="0" dirty="0"/>
              <a:t>)</a:t>
            </a:r>
            <a:endParaRPr lang="fr-FR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88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Ordre de grandeur </a:t>
            </a:r>
            <a:r>
              <a:rPr lang="fr-FR" b="0" dirty="0"/>
              <a:t>(f 10/100, autres 100)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Chaque mesure contient t instants temporels (c'est</a:t>
            </a:r>
            <a:r>
              <a:rPr lang="fr-FR" baseline="0" dirty="0"/>
              <a:t> un </a:t>
            </a:r>
            <a:r>
              <a:rPr lang="fr-FR" baseline="0" dirty="0" err="1"/>
              <a:t>parametre</a:t>
            </a:r>
            <a:r>
              <a:rPr lang="fr-FR" baseline="0" dirty="0"/>
              <a:t>)</a:t>
            </a:r>
            <a:endParaRPr lang="fr-FR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982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Voici</a:t>
            </a:r>
            <a:r>
              <a:rPr lang="en-GB" dirty="0"/>
              <a:t> le context de </a:t>
            </a:r>
            <a:r>
              <a:rPr lang="en-GB" dirty="0" err="1"/>
              <a:t>ces</a:t>
            </a:r>
            <a:r>
              <a:rPr lang="en-GB" dirty="0"/>
              <a:t> travaux. Je </a:t>
            </a:r>
            <a:r>
              <a:rPr lang="en-GB" dirty="0" err="1"/>
              <a:t>vais</a:t>
            </a:r>
            <a:r>
              <a:rPr lang="en-GB" dirty="0"/>
              <a:t> </a:t>
            </a:r>
            <a:r>
              <a:rPr lang="en-GB" dirty="0" err="1"/>
              <a:t>désormais</a:t>
            </a:r>
            <a:r>
              <a:rPr lang="en-GB" dirty="0"/>
              <a:t> </a:t>
            </a:r>
            <a:r>
              <a:rPr lang="en-GB" dirty="0" err="1"/>
              <a:t>rentrer</a:t>
            </a:r>
            <a:r>
              <a:rPr lang="en-GB" dirty="0"/>
              <a:t> dans le detail de </a:t>
            </a:r>
            <a:r>
              <a:rPr lang="en-GB" dirty="0" err="1"/>
              <a:t>ce</a:t>
            </a:r>
            <a:r>
              <a:rPr lang="en-GB" dirty="0"/>
              <a:t> qui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réalisé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"</a:t>
            </a:r>
            <a:r>
              <a:rPr lang="en-GB" dirty="0" err="1"/>
              <a:t>Spectrogrammes</a:t>
            </a:r>
            <a:r>
              <a:rPr lang="en-GB" dirty="0"/>
              <a:t> par </a:t>
            </a:r>
            <a:r>
              <a:rPr lang="en-GB" dirty="0" err="1"/>
              <a:t>mesures</a:t>
            </a:r>
            <a:r>
              <a:rPr lang="en-GB" dirty="0"/>
              <a:t>"</a:t>
            </a:r>
          </a:p>
          <a:p>
            <a:endParaRPr lang="en-GB" dirty="0"/>
          </a:p>
          <a:p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méthodes</a:t>
            </a:r>
            <a:r>
              <a:rPr lang="en-GB" dirty="0"/>
              <a:t> de machine learning, </a:t>
            </a:r>
            <a:r>
              <a:rPr lang="en-GB" dirty="0" err="1"/>
              <a:t>objectif</a:t>
            </a:r>
            <a:r>
              <a:rPr lang="en-GB" dirty="0"/>
              <a:t>: </a:t>
            </a:r>
            <a:r>
              <a:rPr lang="en-GB" b="1" dirty="0" err="1"/>
              <a:t>mettre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évidence</a:t>
            </a:r>
            <a:r>
              <a:rPr lang="en-GB" b="1" dirty="0"/>
              <a:t> </a:t>
            </a:r>
            <a:r>
              <a:rPr lang="en-GB" dirty="0"/>
              <a:t>la structure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704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  <a:p>
            <a:endParaRPr lang="en-GB" dirty="0"/>
          </a:p>
          <a:p>
            <a:r>
              <a:rPr lang="en-GB" dirty="0" err="1"/>
              <a:t>Algorithme</a:t>
            </a:r>
            <a:r>
              <a:rPr lang="en-GB" dirty="0"/>
              <a:t> de correspondence/</a:t>
            </a:r>
            <a:r>
              <a:rPr lang="en-GB" dirty="0" err="1"/>
              <a:t>appariement</a:t>
            </a:r>
            <a:r>
              <a:rPr lang="en-GB" dirty="0"/>
              <a:t> de blocs par convolution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076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L'algorithme</a:t>
            </a:r>
            <a:r>
              <a:rPr lang="en-GB" dirty="0"/>
              <a:t> CBM se base sur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matrice</a:t>
            </a:r>
            <a:r>
              <a:rPr lang="en-GB" dirty="0"/>
              <a:t> </a:t>
            </a:r>
            <a:r>
              <a:rPr lang="en-GB" dirty="0" err="1"/>
              <a:t>d'autosimilarité</a:t>
            </a:r>
            <a:r>
              <a:rPr lang="en-GB" dirty="0"/>
              <a:t>, et </a:t>
            </a:r>
            <a:r>
              <a:rPr lang="en-GB" dirty="0" err="1"/>
              <a:t>essaie</a:t>
            </a:r>
            <a:r>
              <a:rPr lang="en-GB" dirty="0"/>
              <a:t> de transformer </a:t>
            </a:r>
            <a:r>
              <a:rPr lang="en-GB" dirty="0" err="1"/>
              <a:t>une</a:t>
            </a:r>
            <a:r>
              <a:rPr lang="en-GB" dirty="0"/>
              <a:t> structure par blocs </a:t>
            </a:r>
            <a:r>
              <a:rPr lang="en-GB" dirty="0" err="1"/>
              <a:t>en</a:t>
            </a:r>
            <a:r>
              <a:rPr lang="en-GB" dirty="0"/>
              <a:t> frontiers </a:t>
            </a:r>
            <a:r>
              <a:rPr lang="en-GB" dirty="0" err="1"/>
              <a:t>localisées</a:t>
            </a:r>
            <a:r>
              <a:rPr lang="en-GB" dirty="0"/>
              <a:t> entre les blocs</a:t>
            </a:r>
          </a:p>
          <a:p>
            <a:endParaRPr lang="en-GB" dirty="0"/>
          </a:p>
          <a:p>
            <a:r>
              <a:rPr lang="en-GB" dirty="0"/>
              <a:t>16"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484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plus haut est la similarité, le plus similaires doivent être ces mesures, et le plus noir est la matrice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192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Segmentation : ensemble de segments</a:t>
                </a:r>
              </a:p>
              <a:p>
                <a:endParaRPr lang="fr-FR" dirty="0"/>
              </a:p>
              <a:p>
                <a:r>
                  <a:rPr lang="fr-FR" dirty="0"/>
                  <a:t>Principe de cet algorithme : associer un coût à chaque segment en fonction de sa similarité (moyenne pondérée), et maximiser la similarité globale (comme somme des scores pour chaque segment) par de la programmation dynamique.</a:t>
                </a:r>
              </a:p>
              <a:p>
                <a:endParaRPr lang="fr-FR" dirty="0"/>
              </a:p>
              <a:p>
                <a:r>
                  <a:rPr lang="fr-FR" dirty="0"/>
                  <a:t>Je ne rentre pas dans les détails de cet algorithme et pourrait le faire si vous avez des question à ce sujet.</a:t>
                </a:r>
              </a:p>
              <a:p>
                <a:endParaRPr lang="fr-FR" dirty="0"/>
              </a:p>
              <a:p>
                <a:r>
                  <a:rPr lang="fr-FR" dirty="0"/>
                  <a:t>BARRES POUR FAIRE ESTIMATIONS</a:t>
                </a:r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For a </a:t>
                </a:r>
                <a:r>
                  <a:rPr lang="fr-FR" dirty="0" err="1"/>
                  <a:t>potential</a:t>
                </a:r>
                <a:r>
                  <a:rPr lang="fr-FR" dirty="0"/>
                  <a:t> segment</a:t>
                </a:r>
                <a:r>
                  <a:rPr lang="fr-FR" i="0">
                    <a:latin typeface="Cambria Math" panose="02040503050406030204" pitchFamily="18" charset="0"/>
                  </a:rPr>
                  <a:t> </a:t>
                </a:r>
                <a:r>
                  <a:rPr lang="fr-FR" i="0" dirty="0">
                    <a:latin typeface="Cambria Math" panose="02040503050406030204" pitchFamily="18" charset="0"/>
                  </a:rPr>
                  <a:t>[</a:t>
                </a:r>
                <a:r>
                  <a:rPr lang="fr-FR" i="0">
                    <a:latin typeface="Cambria Math" panose="02040503050406030204" pitchFamily="18" charset="0"/>
                  </a:rPr>
                  <a:t>b_i, b_j [</a:t>
                </a:r>
                <a:r>
                  <a:rPr lang="fr-FR" dirty="0"/>
                  <a:t>: 	</a:t>
                </a:r>
                <a:r>
                  <a:rPr lang="fr-FR" i="0">
                    <a:latin typeface="Cambria Math" panose="02040503050406030204" pitchFamily="18" charset="0"/>
                  </a:rPr>
                  <a:t>𝛾_(</a:t>
                </a:r>
                <a:r>
                  <a:rPr lang="fr-FR" i="0" dirty="0">
                    <a:latin typeface="Cambria Math" panose="02040503050406030204" pitchFamily="18" charset="0"/>
                  </a:rPr>
                  <a:t>[</a:t>
                </a:r>
                <a:r>
                  <a:rPr lang="fr-FR" i="0">
                    <a:latin typeface="Cambria Math" panose="02040503050406030204" pitchFamily="18" charset="0"/>
                  </a:rPr>
                  <a:t>b_i, b_j [)=1/(𝑗 −𝑖) ∑_(𝑘=0)^(𝑖−1)▒∑_(𝑙=0)^(𝑗−1)▒〖〖𝐴(𝑋)〗_(𝑖+𝑘, 𝑖+𝑙) 𝐾_(𝑘,𝑙) 〗</a:t>
                </a:r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989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Niveau</a:t>
            </a:r>
            <a:r>
              <a:rPr lang="en-GB" dirty="0"/>
              <a:t> de </a:t>
            </a:r>
            <a:r>
              <a:rPr lang="en-GB" dirty="0" err="1"/>
              <a:t>gris</a:t>
            </a:r>
            <a:r>
              <a:rPr lang="en-GB" dirty="0"/>
              <a:t> </a:t>
            </a:r>
            <a:r>
              <a:rPr lang="en-GB" dirty="0" err="1"/>
              <a:t>globalement</a:t>
            </a:r>
            <a:r>
              <a:rPr lang="en-GB" dirty="0"/>
              <a:t> </a:t>
            </a:r>
            <a:r>
              <a:rPr lang="en-GB" dirty="0" err="1"/>
              <a:t>haut</a:t>
            </a:r>
            <a:r>
              <a:rPr lang="en-GB" dirty="0"/>
              <a:t>, structure resort un </a:t>
            </a:r>
            <a:r>
              <a:rPr lang="en-GB" dirty="0" err="1"/>
              <a:t>peu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pas </a:t>
            </a:r>
            <a:r>
              <a:rPr lang="en-GB" dirty="0" err="1"/>
              <a:t>tant</a:t>
            </a:r>
            <a:r>
              <a:rPr lang="en-GB" dirty="0"/>
              <a:t> que </a:t>
            </a:r>
            <a:r>
              <a:rPr lang="en-GB" dirty="0" err="1"/>
              <a:t>ça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Subjectivité</a:t>
            </a:r>
            <a:r>
              <a:rPr lang="en-GB" dirty="0"/>
              <a:t> structure : Intro et Couplet 1</a:t>
            </a:r>
          </a:p>
          <a:p>
            <a:r>
              <a:rPr lang="en-GB" dirty="0"/>
              <a:t>+ </a:t>
            </a:r>
            <a:r>
              <a:rPr lang="en-GB" dirty="0" err="1"/>
              <a:t>Dissimilarité</a:t>
            </a:r>
            <a:r>
              <a:rPr lang="en-GB" dirty="0"/>
              <a:t> pas à </a:t>
            </a:r>
            <a:r>
              <a:rPr lang="en-GB" dirty="0" err="1"/>
              <a:t>même</a:t>
            </a:r>
            <a:r>
              <a:rPr lang="en-GB" dirty="0"/>
              <a:t> de </a:t>
            </a:r>
            <a:r>
              <a:rPr lang="en-GB" dirty="0" err="1"/>
              <a:t>différencier</a:t>
            </a:r>
            <a:r>
              <a:rPr lang="en-GB" dirty="0"/>
              <a:t> structures</a:t>
            </a:r>
          </a:p>
          <a:p>
            <a:endParaRPr lang="en-GB" dirty="0"/>
          </a:p>
          <a:p>
            <a:r>
              <a:rPr lang="en-GB" dirty="0"/>
              <a:t>On </a:t>
            </a:r>
            <a:r>
              <a:rPr lang="en-GB" dirty="0" err="1"/>
              <a:t>représente</a:t>
            </a:r>
            <a:r>
              <a:rPr lang="en-GB" dirty="0"/>
              <a:t> les annotations (</a:t>
            </a:r>
            <a:r>
              <a:rPr lang="en-GB" dirty="0" err="1"/>
              <a:t>en</a:t>
            </a:r>
            <a:r>
              <a:rPr lang="en-GB" dirty="0"/>
              <a:t> Intro Couplet 1 couplet 2 etc) </a:t>
            </a:r>
            <a:r>
              <a:rPr lang="en-GB" dirty="0" err="1"/>
              <a:t>tel</a:t>
            </a:r>
            <a:r>
              <a:rPr lang="en-GB" dirty="0"/>
              <a:t> </a:t>
            </a:r>
            <a:r>
              <a:rPr lang="en-GB" dirty="0" err="1"/>
              <a:t>qu'introduit</a:t>
            </a:r>
            <a:r>
              <a:rPr lang="en-GB" dirty="0"/>
              <a:t> au début de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présentation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1386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RWC POP RWC POP </a:t>
            </a:r>
            <a:r>
              <a:rPr lang="en-GB" b="1" dirty="0"/>
              <a:t>RWC POP </a:t>
            </a:r>
            <a:r>
              <a:rPr lang="en-GB" dirty="0"/>
              <a:t>RWC POP</a:t>
            </a:r>
          </a:p>
          <a:p>
            <a:endParaRPr lang="en-GB" dirty="0"/>
          </a:p>
          <a:p>
            <a:r>
              <a:rPr lang="en-GB" dirty="0"/>
              <a:t>A gauche : </a:t>
            </a:r>
            <a:r>
              <a:rPr lang="en-GB" dirty="0" err="1"/>
              <a:t>algos</a:t>
            </a:r>
            <a:r>
              <a:rPr lang="en-GB" dirty="0"/>
              <a:t> non supervises </a:t>
            </a:r>
            <a:r>
              <a:rPr lang="en-GB" dirty="0" err="1"/>
              <a:t>etat</a:t>
            </a:r>
            <a:r>
              <a:rPr lang="en-GB" dirty="0"/>
              <a:t> de </a:t>
            </a:r>
            <a:r>
              <a:rPr lang="en-GB" dirty="0" err="1"/>
              <a:t>l'art</a:t>
            </a:r>
            <a:endParaRPr lang="en-GB" dirty="0"/>
          </a:p>
          <a:p>
            <a:r>
              <a:rPr lang="en-GB" dirty="0"/>
              <a:t>A droite : Reseau de neurones </a:t>
            </a:r>
            <a:r>
              <a:rPr lang="en-GB" dirty="0" err="1"/>
              <a:t>profonds</a:t>
            </a:r>
            <a:r>
              <a:rPr lang="en-GB" dirty="0"/>
              <a:t>, supervise, </a:t>
            </a:r>
            <a:r>
              <a:rPr lang="en-GB" dirty="0" err="1"/>
              <a:t>etat</a:t>
            </a:r>
            <a:r>
              <a:rPr lang="en-GB" dirty="0"/>
              <a:t> de </a:t>
            </a:r>
            <a:r>
              <a:rPr lang="en-GB" dirty="0" err="1"/>
              <a:t>l'art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selon</a:t>
            </a:r>
            <a:r>
              <a:rPr lang="en-GB" dirty="0"/>
              <a:t> annotations.</a:t>
            </a:r>
          </a:p>
          <a:p>
            <a:endParaRPr lang="en-GB" dirty="0"/>
          </a:p>
          <a:p>
            <a:r>
              <a:rPr lang="en-GB" dirty="0"/>
              <a:t>Notre </a:t>
            </a:r>
            <a:r>
              <a:rPr lang="en-GB" dirty="0" err="1"/>
              <a:t>algorithme</a:t>
            </a:r>
            <a:r>
              <a:rPr lang="en-GB" dirty="0"/>
              <a:t> se </a:t>
            </a:r>
            <a:r>
              <a:rPr lang="en-GB" dirty="0" err="1"/>
              <a:t>situe</a:t>
            </a:r>
            <a:r>
              <a:rPr lang="en-GB" dirty="0"/>
              <a:t> entre </a:t>
            </a:r>
            <a:r>
              <a:rPr lang="en-GB" dirty="0" err="1"/>
              <a:t>ces</a:t>
            </a:r>
            <a:r>
              <a:rPr lang="en-GB" dirty="0"/>
              <a:t> 2 </a:t>
            </a:r>
            <a:r>
              <a:rPr lang="en-GB" dirty="0" err="1"/>
              <a:t>etats</a:t>
            </a:r>
            <a:r>
              <a:rPr lang="en-GB" dirty="0"/>
              <a:t> de </a:t>
            </a:r>
            <a:r>
              <a:rPr lang="en-GB" dirty="0" err="1"/>
              <a:t>l'art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Ici</a:t>
            </a:r>
            <a:r>
              <a:rPr lang="en-GB" dirty="0"/>
              <a:t> : </a:t>
            </a:r>
            <a:r>
              <a:rPr lang="en-GB" dirty="0" err="1"/>
              <a:t>extrait</a:t>
            </a:r>
            <a:r>
              <a:rPr lang="en-GB" dirty="0"/>
              <a:t> du </a:t>
            </a:r>
            <a:r>
              <a:rPr lang="en-GB" dirty="0" err="1"/>
              <a:t>meilleur</a:t>
            </a:r>
            <a:r>
              <a:rPr lang="en-GB" dirty="0"/>
              <a:t> </a:t>
            </a:r>
            <a:r>
              <a:rPr lang="en-GB" dirty="0" err="1"/>
              <a:t>résultat</a:t>
            </a:r>
            <a:r>
              <a:rPr lang="en-GB" dirty="0"/>
              <a:t> </a:t>
            </a:r>
            <a:r>
              <a:rPr lang="en-GB" dirty="0" err="1"/>
              <a:t>selon</a:t>
            </a:r>
            <a:r>
              <a:rPr lang="en-GB" dirty="0"/>
              <a:t> </a:t>
            </a:r>
            <a:r>
              <a:rPr lang="en-GB" dirty="0" err="1"/>
              <a:t>différents</a:t>
            </a:r>
            <a:r>
              <a:rPr lang="en-GB" dirty="0"/>
              <a:t> </a:t>
            </a:r>
            <a:r>
              <a:rPr lang="en-GB" dirty="0" err="1"/>
              <a:t>paramètres</a:t>
            </a:r>
            <a:r>
              <a:rPr lang="en-GB" dirty="0"/>
              <a:t>, non </a:t>
            </a:r>
            <a:r>
              <a:rPr lang="en-GB" dirty="0" err="1"/>
              <a:t>explicités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786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Représentation</a:t>
            </a:r>
            <a:r>
              <a:rPr lang="en-GB" dirty="0"/>
              <a:t> </a:t>
            </a:r>
            <a:r>
              <a:rPr lang="en-GB" dirty="0" err="1"/>
              <a:t>différente</a:t>
            </a:r>
            <a:r>
              <a:rPr lang="en-GB" dirty="0"/>
              <a:t> de la </a:t>
            </a:r>
            <a:r>
              <a:rPr lang="en-GB" dirty="0" err="1"/>
              <a:t>similarité</a:t>
            </a:r>
            <a:r>
              <a:rPr lang="en-GB" dirty="0"/>
              <a:t>, non </a:t>
            </a:r>
            <a:r>
              <a:rPr lang="en-GB" dirty="0" err="1"/>
              <a:t>linéaire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Contraste</a:t>
            </a:r>
            <a:r>
              <a:rPr lang="en-GB" dirty="0"/>
              <a:t>: insister</a:t>
            </a:r>
          </a:p>
          <a:p>
            <a:r>
              <a:rPr lang="en-GB" dirty="0" err="1"/>
              <a:t>Différence</a:t>
            </a:r>
            <a:r>
              <a:rPr lang="en-GB" dirty="0"/>
              <a:t> entre le </a:t>
            </a:r>
            <a:r>
              <a:rPr lang="en-GB" dirty="0" err="1"/>
              <a:t>niveau</a:t>
            </a:r>
            <a:r>
              <a:rPr lang="en-GB" dirty="0"/>
              <a:t> de </a:t>
            </a:r>
            <a:r>
              <a:rPr lang="en-GB" dirty="0" err="1"/>
              <a:t>dissimilarité</a:t>
            </a:r>
            <a:r>
              <a:rPr lang="en-GB" dirty="0"/>
              <a:t> et de </a:t>
            </a:r>
            <a:r>
              <a:rPr lang="en-GB" dirty="0" err="1"/>
              <a:t>similarité</a:t>
            </a:r>
            <a:r>
              <a:rPr lang="en-GB" dirty="0"/>
              <a:t> </a:t>
            </a:r>
            <a:r>
              <a:rPr lang="en-GB" dirty="0" err="1"/>
              <a:t>moyen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15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RBF </a:t>
            </a:r>
            <a:r>
              <a:rPr lang="en-GB" dirty="0" err="1"/>
              <a:t>améliore</a:t>
            </a:r>
            <a:r>
              <a:rPr lang="en-GB" dirty="0"/>
              <a:t> precedent score </a:t>
            </a:r>
            <a:r>
              <a:rPr lang="en-GB" dirty="0" err="1"/>
              <a:t>en</a:t>
            </a:r>
            <a:r>
              <a:rPr lang="en-GB" dirty="0"/>
              <a:t> cosine et se </a:t>
            </a:r>
            <a:r>
              <a:rPr lang="en-GB" dirty="0" err="1"/>
              <a:t>rapproche</a:t>
            </a:r>
            <a:r>
              <a:rPr lang="en-GB" dirty="0"/>
              <a:t> de </a:t>
            </a:r>
            <a:r>
              <a:rPr lang="en-GB" dirty="0" err="1"/>
              <a:t>l'etat</a:t>
            </a:r>
            <a:r>
              <a:rPr lang="en-GB" dirty="0"/>
              <a:t> de </a:t>
            </a:r>
            <a:r>
              <a:rPr lang="en-GB" dirty="0" err="1"/>
              <a:t>l'art</a:t>
            </a:r>
            <a:r>
              <a:rPr lang="en-GB" dirty="0"/>
              <a:t> </a:t>
            </a:r>
            <a:r>
              <a:rPr lang="en-GB" b="1" dirty="0"/>
              <a:t>sans supervision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6339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Maintenant</a:t>
            </a:r>
            <a:r>
              <a:rPr lang="en-GB" dirty="0"/>
              <a:t> je </a:t>
            </a:r>
            <a:r>
              <a:rPr lang="en-GB" dirty="0" err="1"/>
              <a:t>vais</a:t>
            </a:r>
            <a:r>
              <a:rPr lang="en-GB" dirty="0"/>
              <a:t> presenter des techniques de machine learning </a:t>
            </a:r>
            <a:r>
              <a:rPr lang="en-GB" dirty="0" err="1"/>
              <a:t>permettant</a:t>
            </a:r>
            <a:r>
              <a:rPr lang="en-GB" dirty="0"/>
              <a:t> de </a:t>
            </a:r>
            <a:r>
              <a:rPr lang="en-GB" dirty="0" err="1"/>
              <a:t>compresser</a:t>
            </a:r>
            <a:r>
              <a:rPr lang="en-GB" dirty="0"/>
              <a:t> le </a:t>
            </a:r>
            <a:r>
              <a:rPr lang="en-GB" dirty="0" err="1"/>
              <a:t>contenu</a:t>
            </a:r>
            <a:r>
              <a:rPr lang="en-GB" dirty="0"/>
              <a:t> musical par </a:t>
            </a:r>
            <a:r>
              <a:rPr lang="en-GB" dirty="0" err="1"/>
              <a:t>mesures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628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Idée générale: résumer le contenu de chaque mesure à quelques coefficients uniquement, et ainsi essayer de ne garder que des composantes importantes de chaque mesure, plus a </a:t>
            </a:r>
            <a:r>
              <a:rPr lang="fr-FR" dirty="0" err="1"/>
              <a:t>meme</a:t>
            </a:r>
            <a:r>
              <a:rPr lang="fr-FR" dirty="0"/>
              <a:t> d'</a:t>
            </a:r>
            <a:r>
              <a:rPr lang="fr-FR" dirty="0" err="1"/>
              <a:t>etre</a:t>
            </a:r>
            <a:r>
              <a:rPr lang="fr-FR" dirty="0"/>
              <a:t> dissimilaires entre elles dans le morceau</a:t>
            </a:r>
          </a:p>
          <a:p>
            <a:endParaRPr lang="fr-FR" dirty="0"/>
          </a:p>
          <a:p>
            <a:r>
              <a:rPr lang="fr-FR" dirty="0"/>
              <a:t>C'EST QUOI COMPOSANTS IMPORTANTS ? IDEE DE REONSTRUCTION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9990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Voici</a:t>
            </a:r>
            <a:r>
              <a:rPr lang="en-GB" dirty="0"/>
              <a:t> le context de </a:t>
            </a:r>
            <a:r>
              <a:rPr lang="en-GB" dirty="0" err="1"/>
              <a:t>ces</a:t>
            </a:r>
            <a:r>
              <a:rPr lang="en-GB" dirty="0"/>
              <a:t> travaux. Je </a:t>
            </a:r>
            <a:r>
              <a:rPr lang="en-GB" dirty="0" err="1"/>
              <a:t>vais</a:t>
            </a:r>
            <a:r>
              <a:rPr lang="en-GB" dirty="0"/>
              <a:t> </a:t>
            </a:r>
            <a:r>
              <a:rPr lang="en-GB" dirty="0" err="1"/>
              <a:t>désormais</a:t>
            </a:r>
            <a:r>
              <a:rPr lang="en-GB" dirty="0"/>
              <a:t> </a:t>
            </a:r>
            <a:r>
              <a:rPr lang="en-GB" dirty="0" err="1"/>
              <a:t>rentrer</a:t>
            </a:r>
            <a:r>
              <a:rPr lang="en-GB" dirty="0"/>
              <a:t> dans le detail de </a:t>
            </a:r>
            <a:r>
              <a:rPr lang="en-GB" dirty="0" err="1"/>
              <a:t>ce</a:t>
            </a:r>
            <a:r>
              <a:rPr lang="en-GB" dirty="0"/>
              <a:t> qui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réalisé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"</a:t>
            </a:r>
            <a:r>
              <a:rPr lang="en-GB" dirty="0" err="1"/>
              <a:t>Spectrogrammes</a:t>
            </a:r>
            <a:r>
              <a:rPr lang="en-GB" dirty="0"/>
              <a:t> par </a:t>
            </a:r>
            <a:r>
              <a:rPr lang="en-GB" dirty="0" err="1"/>
              <a:t>mesures</a:t>
            </a:r>
            <a:r>
              <a:rPr lang="en-GB" dirty="0"/>
              <a:t>"</a:t>
            </a:r>
          </a:p>
          <a:p>
            <a:endParaRPr lang="en-GB" dirty="0"/>
          </a:p>
          <a:p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méthodes</a:t>
            </a:r>
            <a:r>
              <a:rPr lang="en-GB" dirty="0"/>
              <a:t> de machine learning, </a:t>
            </a:r>
            <a:r>
              <a:rPr lang="en-GB" dirty="0" err="1"/>
              <a:t>objectif</a:t>
            </a:r>
            <a:r>
              <a:rPr lang="en-GB" dirty="0"/>
              <a:t>: </a:t>
            </a:r>
            <a:r>
              <a:rPr lang="en-GB" b="1" dirty="0" err="1"/>
              <a:t>mettre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évidence</a:t>
            </a:r>
            <a:r>
              <a:rPr lang="en-GB" b="1" dirty="0"/>
              <a:t> </a:t>
            </a:r>
            <a:r>
              <a:rPr lang="en-GB" dirty="0"/>
              <a:t>la structure</a:t>
            </a:r>
          </a:p>
          <a:p>
            <a:endParaRPr lang="en-GB" dirty="0"/>
          </a:p>
          <a:p>
            <a:r>
              <a:rPr lang="en-GB" dirty="0"/>
              <a:t>CHAPITRES A METTRE D'UN COUP</a:t>
            </a:r>
          </a:p>
          <a:p>
            <a:r>
              <a:rPr lang="en-GB" dirty="0"/>
              <a:t>FLECHE ARODNIE CHELOU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114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  <a:p>
            <a:endParaRPr lang="en-GB" dirty="0"/>
          </a:p>
          <a:p>
            <a:r>
              <a:rPr lang="en-GB" dirty="0"/>
              <a:t>22" pas mal (pas top)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877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Transcription : de signal a </a:t>
            </a:r>
            <a:r>
              <a:rPr lang="en-GB" dirty="0" err="1"/>
              <a:t>symbolique</a:t>
            </a:r>
            <a:r>
              <a:rPr lang="en-GB" dirty="0"/>
              <a:t>,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histoire</a:t>
            </a:r>
            <a:r>
              <a:rPr lang="en-GB" dirty="0"/>
              <a:t> de presenter </a:t>
            </a:r>
            <a:r>
              <a:rPr lang="en-GB" dirty="0" err="1"/>
              <a:t>quelles</a:t>
            </a:r>
            <a:r>
              <a:rPr lang="en-GB" dirty="0"/>
              <a:t> notes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jouees</a:t>
            </a:r>
            <a:r>
              <a:rPr lang="en-GB" dirty="0"/>
              <a:t> et </a:t>
            </a:r>
            <a:r>
              <a:rPr lang="en-GB" dirty="0" err="1"/>
              <a:t>quand</a:t>
            </a:r>
            <a:r>
              <a:rPr lang="en-GB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16474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Transcription : de signal a </a:t>
            </a:r>
            <a:r>
              <a:rPr lang="en-GB" dirty="0" err="1"/>
              <a:t>symbolique</a:t>
            </a:r>
            <a:r>
              <a:rPr lang="en-GB" dirty="0"/>
              <a:t>,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histoire</a:t>
            </a:r>
            <a:r>
              <a:rPr lang="en-GB" dirty="0"/>
              <a:t> de presenter </a:t>
            </a:r>
            <a:r>
              <a:rPr lang="en-GB" dirty="0" err="1"/>
              <a:t>quelles</a:t>
            </a:r>
            <a:r>
              <a:rPr lang="en-GB" dirty="0"/>
              <a:t> notes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jouees</a:t>
            </a:r>
            <a:r>
              <a:rPr lang="en-GB" dirty="0"/>
              <a:t> et </a:t>
            </a:r>
            <a:r>
              <a:rPr lang="en-GB" dirty="0" err="1"/>
              <a:t>quand</a:t>
            </a:r>
            <a:r>
              <a:rPr lang="en-GB" dirty="0"/>
              <a:t>.</a:t>
            </a:r>
          </a:p>
          <a:p>
            <a:r>
              <a:rPr lang="en-GB" dirty="0" err="1"/>
              <a:t>Forme</a:t>
            </a:r>
            <a:r>
              <a:rPr lang="en-GB" dirty="0"/>
              <a:t> </a:t>
            </a:r>
            <a:r>
              <a:rPr lang="en-GB" dirty="0" err="1"/>
              <a:t>typique</a:t>
            </a:r>
            <a:r>
              <a:rPr lang="en-GB" dirty="0"/>
              <a:t> – template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91516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Colonnes</a:t>
            </a:r>
            <a:r>
              <a:rPr lang="en-GB" dirty="0"/>
              <a:t> ne </a:t>
            </a:r>
            <a:r>
              <a:rPr lang="en-GB" dirty="0" err="1"/>
              <a:t>sont</a:t>
            </a:r>
            <a:r>
              <a:rPr lang="en-GB" dirty="0"/>
              <a:t> plus </a:t>
            </a:r>
            <a:r>
              <a:rPr lang="en-GB" dirty="0" err="1"/>
              <a:t>liées</a:t>
            </a:r>
            <a:r>
              <a:rPr lang="en-GB" dirty="0"/>
              <a:t> par le </a:t>
            </a:r>
            <a:r>
              <a:rPr lang="en-GB" dirty="0" err="1"/>
              <a:t>produit</a:t>
            </a:r>
            <a:r>
              <a:rPr lang="en-GB" dirty="0"/>
              <a:t> </a:t>
            </a:r>
            <a:r>
              <a:rPr lang="en-GB" dirty="0" err="1"/>
              <a:t>matriciel</a:t>
            </a:r>
            <a:r>
              <a:rPr lang="en-GB" dirty="0"/>
              <a:t> conventionnel </a:t>
            </a:r>
            <a:r>
              <a:rPr lang="en-GB" dirty="0" err="1"/>
              <a:t>mais</a:t>
            </a:r>
            <a:r>
              <a:rPr lang="en-GB" dirty="0"/>
              <a:t> par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matrice</a:t>
            </a:r>
            <a:r>
              <a:rPr lang="en-GB" dirty="0"/>
              <a:t> de mélange</a:t>
            </a:r>
          </a:p>
          <a:p>
            <a:r>
              <a:rPr lang="en-GB" dirty="0"/>
              <a:t> - </a:t>
            </a:r>
            <a:r>
              <a:rPr lang="en-GB" dirty="0" err="1"/>
              <a:t>Obtenir</a:t>
            </a:r>
            <a:r>
              <a:rPr lang="en-GB" dirty="0"/>
              <a:t> des </a:t>
            </a:r>
            <a:r>
              <a:rPr lang="en-GB" dirty="0" err="1"/>
              <a:t>facteurs</a:t>
            </a:r>
            <a:r>
              <a:rPr lang="en-GB" dirty="0"/>
              <a:t> dans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matrice</a:t>
            </a:r>
            <a:r>
              <a:rPr lang="en-GB" dirty="0"/>
              <a:t> </a:t>
            </a:r>
            <a:r>
              <a:rPr lang="en-GB" dirty="0" err="1"/>
              <a:t>propres</a:t>
            </a:r>
            <a:r>
              <a:rPr lang="en-GB" dirty="0"/>
              <a:t> à se </a:t>
            </a:r>
            <a:r>
              <a:rPr lang="en-GB" dirty="0" err="1"/>
              <a:t>mélanger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0505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l'echelle</a:t>
            </a:r>
            <a:r>
              <a:rPr lang="en-GB" dirty="0"/>
              <a:t> de la </a:t>
            </a:r>
            <a:r>
              <a:rPr lang="en-GB" dirty="0" err="1"/>
              <a:t>mesure</a:t>
            </a:r>
            <a:r>
              <a:rPr lang="en-GB" dirty="0"/>
              <a:t>, </a:t>
            </a:r>
            <a:r>
              <a:rPr lang="en-GB" dirty="0" err="1"/>
              <a:t>cela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considéré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</a:p>
          <a:p>
            <a:r>
              <a:rPr lang="en-GB" dirty="0"/>
              <a:t> - W : </a:t>
            </a:r>
            <a:r>
              <a:rPr lang="en-GB" dirty="0" err="1"/>
              <a:t>atomes</a:t>
            </a:r>
            <a:r>
              <a:rPr lang="en-GB" dirty="0"/>
              <a:t> </a:t>
            </a:r>
            <a:r>
              <a:rPr lang="en-GB" dirty="0" err="1"/>
              <a:t>fréquentiels</a:t>
            </a:r>
            <a:r>
              <a:rPr lang="en-GB" dirty="0"/>
              <a:t> (i.e. note)</a:t>
            </a:r>
          </a:p>
          <a:p>
            <a:r>
              <a:rPr lang="en-GB" dirty="0"/>
              <a:t> - H : </a:t>
            </a:r>
            <a:r>
              <a:rPr lang="en-GB" dirty="0" err="1"/>
              <a:t>atomes</a:t>
            </a:r>
            <a:r>
              <a:rPr lang="en-GB" dirty="0"/>
              <a:t> de </a:t>
            </a:r>
            <a:r>
              <a:rPr lang="en-GB" dirty="0" err="1"/>
              <a:t>rythme</a:t>
            </a:r>
            <a:r>
              <a:rPr lang="en-GB" dirty="0"/>
              <a:t>, pattern </a:t>
            </a:r>
            <a:r>
              <a:rPr lang="en-GB" dirty="0" err="1"/>
              <a:t>rythmique</a:t>
            </a:r>
            <a:r>
              <a:rPr lang="en-GB" dirty="0"/>
              <a:t> à </a:t>
            </a:r>
            <a:r>
              <a:rPr lang="en-GB" dirty="0" err="1"/>
              <a:t>l'echelle</a:t>
            </a:r>
            <a:r>
              <a:rPr lang="en-GB" dirty="0"/>
              <a:t> </a:t>
            </a:r>
            <a:r>
              <a:rPr lang="en-GB" dirty="0" err="1"/>
              <a:t>d'une</a:t>
            </a:r>
            <a:r>
              <a:rPr lang="en-GB" dirty="0"/>
              <a:t> </a:t>
            </a:r>
            <a:r>
              <a:rPr lang="en-GB" dirty="0" err="1"/>
              <a:t>mesure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-&gt; pattern musical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7195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Interet</a:t>
            </a:r>
            <a:r>
              <a:rPr lang="en-GB" dirty="0"/>
              <a:t> de </a:t>
            </a:r>
            <a:r>
              <a:rPr lang="en-GB" dirty="0" err="1"/>
              <a:t>ce</a:t>
            </a:r>
            <a:r>
              <a:rPr lang="en-GB" dirty="0"/>
              <a:t> melange : </a:t>
            </a:r>
            <a:r>
              <a:rPr lang="en-GB" dirty="0" err="1"/>
              <a:t>définir</a:t>
            </a:r>
            <a:r>
              <a:rPr lang="en-GB" dirty="0"/>
              <a:t> des </a:t>
            </a:r>
            <a:r>
              <a:rPr lang="en-GB" dirty="0" err="1"/>
              <a:t>dictionnaires</a:t>
            </a:r>
            <a:r>
              <a:rPr lang="en-GB" dirty="0"/>
              <a:t> </a:t>
            </a:r>
            <a:r>
              <a:rPr lang="en-GB" dirty="0" err="1"/>
              <a:t>haut</a:t>
            </a:r>
            <a:r>
              <a:rPr lang="en-GB" dirty="0"/>
              <a:t> </a:t>
            </a:r>
            <a:r>
              <a:rPr lang="en-GB" dirty="0" err="1"/>
              <a:t>niveau</a:t>
            </a:r>
            <a:r>
              <a:rPr lang="en-GB" dirty="0"/>
              <a:t>, </a:t>
            </a:r>
            <a:r>
              <a:rPr lang="en-GB" dirty="0" err="1"/>
              <a:t>generaux</a:t>
            </a:r>
            <a:r>
              <a:rPr lang="en-GB" dirty="0"/>
              <a:t>, et </a:t>
            </a:r>
            <a:r>
              <a:rPr lang="en-GB" dirty="0" err="1"/>
              <a:t>représenter</a:t>
            </a:r>
            <a:r>
              <a:rPr lang="en-GB" dirty="0"/>
              <a:t> les </a:t>
            </a:r>
            <a:r>
              <a:rPr lang="en-GB" dirty="0" err="1"/>
              <a:t>contenus</a:t>
            </a:r>
            <a:r>
              <a:rPr lang="en-GB" dirty="0"/>
              <a:t> avec different patterns.</a:t>
            </a:r>
          </a:p>
          <a:p>
            <a:endParaRPr lang="en-GB" dirty="0"/>
          </a:p>
          <a:p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spectrogramme</a:t>
            </a:r>
            <a:r>
              <a:rPr lang="en-GB" dirty="0"/>
              <a:t> </a:t>
            </a:r>
            <a:r>
              <a:rPr lang="en-GB" dirty="0" err="1"/>
              <a:t>d'une</a:t>
            </a:r>
            <a:r>
              <a:rPr lang="en-GB" dirty="0"/>
              <a:t> </a:t>
            </a:r>
            <a:r>
              <a:rPr lang="en-GB" dirty="0" err="1"/>
              <a:t>mesure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etre</a:t>
            </a:r>
            <a:r>
              <a:rPr lang="en-GB" dirty="0"/>
              <a:t> </a:t>
            </a:r>
            <a:r>
              <a:rPr lang="en-GB" dirty="0" err="1"/>
              <a:t>represente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la </a:t>
            </a:r>
            <a:r>
              <a:rPr lang="en-GB" dirty="0" err="1"/>
              <a:t>combinaison</a:t>
            </a:r>
            <a:r>
              <a:rPr lang="en-GB" dirty="0"/>
              <a:t> de </a:t>
            </a:r>
            <a:r>
              <a:rPr lang="en-GB" dirty="0" err="1"/>
              <a:t>plusieurs</a:t>
            </a:r>
            <a:r>
              <a:rPr lang="en-GB" dirty="0"/>
              <a:t> patterns.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3723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Les </a:t>
            </a:r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mesures</a:t>
            </a:r>
            <a:r>
              <a:rPr lang="en-GB" dirty="0"/>
              <a:t> du morceau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chacune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exprimées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combinaisons</a:t>
            </a:r>
            <a:r>
              <a:rPr lang="en-GB" dirty="0"/>
              <a:t> de </a:t>
            </a:r>
            <a:r>
              <a:rPr lang="en-GB" dirty="0" err="1"/>
              <a:t>ces</a:t>
            </a:r>
            <a:r>
              <a:rPr lang="en-GB" dirty="0"/>
              <a:t> patterns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9296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Ordre de grandeur </a:t>
            </a:r>
            <a:r>
              <a:rPr lang="en-GB" dirty="0"/>
              <a:t>des dimensions</a:t>
            </a:r>
          </a:p>
          <a:p>
            <a:endParaRPr lang="en-GB" dirty="0"/>
          </a:p>
          <a:p>
            <a:r>
              <a:rPr lang="en-GB" dirty="0" err="1"/>
              <a:t>Reglage</a:t>
            </a:r>
            <a:r>
              <a:rPr lang="en-GB" dirty="0"/>
              <a:t> des </a:t>
            </a:r>
            <a:r>
              <a:rPr lang="en-GB" dirty="0" err="1"/>
              <a:t>hyperparametres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8591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Représenter</a:t>
            </a:r>
            <a:r>
              <a:rPr lang="en-GB" dirty="0"/>
              <a:t>, </a:t>
            </a:r>
            <a:r>
              <a:rPr lang="en-GB" dirty="0" err="1"/>
              <a:t>couvrir</a:t>
            </a:r>
            <a:r>
              <a:rPr lang="en-GB" dirty="0"/>
              <a:t> – span</a:t>
            </a:r>
          </a:p>
          <a:p>
            <a:endParaRPr lang="en-GB" dirty="0"/>
          </a:p>
          <a:p>
            <a:r>
              <a:rPr lang="en-GB" dirty="0" err="1"/>
              <a:t>Introduire</a:t>
            </a:r>
            <a:r>
              <a:rPr lang="en-GB" dirty="0"/>
              <a:t> </a:t>
            </a:r>
            <a:r>
              <a:rPr lang="en-GB" b="1" dirty="0"/>
              <a:t>Q </a:t>
            </a:r>
            <a:r>
              <a:rPr lang="en-GB" b="1" dirty="0" err="1"/>
              <a:t>utilisée</a:t>
            </a:r>
            <a:r>
              <a:rPr lang="en-GB" b="1" dirty="0"/>
              <a:t> pour structure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1288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Problème</a:t>
            </a:r>
            <a:r>
              <a:rPr lang="en-GB" dirty="0"/>
              <a:t> </a:t>
            </a:r>
            <a:r>
              <a:rPr lang="en-GB" dirty="0" err="1"/>
              <a:t>d'optimisation</a:t>
            </a:r>
            <a:r>
              <a:rPr lang="en-GB" dirty="0"/>
              <a:t>, </a:t>
            </a:r>
            <a:r>
              <a:rPr lang="en-GB" dirty="0" err="1"/>
              <a:t>sujet</a:t>
            </a:r>
            <a:r>
              <a:rPr lang="en-GB" dirty="0"/>
              <a:t> à </a:t>
            </a:r>
            <a:r>
              <a:rPr lang="en-GB" dirty="0" err="1"/>
              <a:t>une</a:t>
            </a:r>
            <a:r>
              <a:rPr lang="en-GB" dirty="0"/>
              <a:t> function de </a:t>
            </a:r>
            <a:r>
              <a:rPr lang="en-GB" dirty="0" err="1"/>
              <a:t>coût</a:t>
            </a:r>
            <a:r>
              <a:rPr lang="en-GB" dirty="0"/>
              <a:t>, </a:t>
            </a:r>
          </a:p>
          <a:p>
            <a:endParaRPr lang="en-GB" dirty="0"/>
          </a:p>
          <a:p>
            <a:r>
              <a:rPr lang="en-GB" dirty="0"/>
              <a:t>!!! </a:t>
            </a:r>
            <a:r>
              <a:rPr lang="en-GB" b="1" dirty="0"/>
              <a:t>Divergence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0526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Factorisation NTD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trouver</a:t>
            </a:r>
            <a:r>
              <a:rPr lang="en-GB" dirty="0"/>
              <a:t> des patterns </a:t>
            </a:r>
            <a:r>
              <a:rPr lang="en-GB" dirty="0" err="1"/>
              <a:t>musicaux</a:t>
            </a:r>
            <a:r>
              <a:rPr lang="en-GB" dirty="0"/>
              <a:t>, </a:t>
            </a:r>
            <a:r>
              <a:rPr lang="en-GB" dirty="0" err="1"/>
              <a:t>présentés</a:t>
            </a:r>
            <a:r>
              <a:rPr lang="en-GB" dirty="0"/>
              <a:t> </a:t>
            </a:r>
            <a:r>
              <a:rPr lang="en-GB" dirty="0" err="1"/>
              <a:t>avant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Il </a:t>
            </a:r>
            <a:r>
              <a:rPr lang="en-GB" dirty="0" err="1"/>
              <a:t>s'agit</a:t>
            </a:r>
            <a:r>
              <a:rPr lang="en-GB" dirty="0"/>
              <a:t> de </a:t>
            </a:r>
            <a:r>
              <a:rPr lang="en-GB" dirty="0" err="1"/>
              <a:t>spectrogrammes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on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retransformer</a:t>
            </a:r>
            <a:r>
              <a:rPr lang="en-GB" dirty="0"/>
              <a:t>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spectrogrammes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signal audio (avec un </a:t>
            </a:r>
            <a:r>
              <a:rPr lang="en-GB" dirty="0" err="1"/>
              <a:t>peu</a:t>
            </a:r>
            <a:r>
              <a:rPr lang="en-GB" dirty="0"/>
              <a:t> de </a:t>
            </a:r>
            <a:r>
              <a:rPr lang="en-GB" dirty="0" err="1"/>
              <a:t>perte</a:t>
            </a:r>
            <a:r>
              <a:rPr lang="en-GB" dirty="0"/>
              <a:t>) pour se </a:t>
            </a:r>
            <a:r>
              <a:rPr lang="en-GB" dirty="0" err="1"/>
              <a:t>compte</a:t>
            </a:r>
            <a:r>
              <a:rPr lang="en-GB" dirty="0"/>
              <a:t> </a:t>
            </a:r>
            <a:r>
              <a:rPr lang="en-GB" dirty="0" err="1"/>
              <a:t>qualitativement</a:t>
            </a:r>
            <a:r>
              <a:rPr lang="en-GB" dirty="0"/>
              <a:t> de </a:t>
            </a:r>
            <a:r>
              <a:rPr lang="en-GB" dirty="0" err="1"/>
              <a:t>l'impact</a:t>
            </a:r>
            <a:r>
              <a:rPr lang="en-GB" dirty="0"/>
              <a:t> de la function de </a:t>
            </a:r>
            <a:r>
              <a:rPr lang="en-GB" dirty="0" err="1"/>
              <a:t>cout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7072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Représenter</a:t>
            </a:r>
            <a:r>
              <a:rPr lang="en-GB" dirty="0"/>
              <a:t>, </a:t>
            </a:r>
            <a:r>
              <a:rPr lang="en-GB" dirty="0" err="1"/>
              <a:t>couvrir</a:t>
            </a:r>
            <a:r>
              <a:rPr lang="en-GB" dirty="0"/>
              <a:t> - span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8316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Effet</a:t>
            </a:r>
            <a:r>
              <a:rPr lang="en-GB" dirty="0"/>
              <a:t> </a:t>
            </a:r>
            <a:r>
              <a:rPr lang="en-GB" dirty="0" err="1"/>
              <a:t>cumulé</a:t>
            </a:r>
            <a:r>
              <a:rPr lang="en-GB" dirty="0"/>
              <a:t> de </a:t>
            </a:r>
            <a:r>
              <a:rPr lang="en-GB" dirty="0" err="1"/>
              <a:t>similarité</a:t>
            </a:r>
            <a:r>
              <a:rPr lang="en-GB" dirty="0"/>
              <a:t> et compression: pas </a:t>
            </a:r>
            <a:r>
              <a:rPr lang="en-GB" dirty="0" err="1"/>
              <a:t>évident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7265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1448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Biais</a:t>
            </a:r>
            <a:r>
              <a:rPr lang="en-GB" dirty="0"/>
              <a:t> NTD : dimensions non Claire pour la NTD ("marge de progression")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5854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D'autres</a:t>
            </a:r>
            <a:r>
              <a:rPr lang="en-GB" dirty="0"/>
              <a:t> </a:t>
            </a:r>
            <a:r>
              <a:rPr lang="en-GB" dirty="0" err="1"/>
              <a:t>méthodes</a:t>
            </a:r>
            <a:r>
              <a:rPr lang="en-GB" dirty="0"/>
              <a:t> de compression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73930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</a:t>
            </a:r>
          </a:p>
          <a:p>
            <a:endParaRPr lang="en-GB" dirty="0"/>
          </a:p>
          <a:p>
            <a:r>
              <a:rPr lang="en-GB" dirty="0"/>
              <a:t>35" ca </a:t>
            </a:r>
            <a:r>
              <a:rPr lang="en-GB" dirty="0" err="1"/>
              <a:t>passe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5237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Dispersion </a:t>
            </a:r>
            <a:r>
              <a:rPr lang="en-GB" dirty="0" err="1"/>
              <a:t>maximale</a:t>
            </a:r>
            <a:r>
              <a:rPr lang="en-GB" dirty="0"/>
              <a:t> (scattered)</a:t>
            </a:r>
          </a:p>
          <a:p>
            <a:endParaRPr lang="en-GB" dirty="0"/>
          </a:p>
          <a:p>
            <a:r>
              <a:rPr lang="en-GB" dirty="0"/>
              <a:t>Compression </a:t>
            </a:r>
            <a:r>
              <a:rPr lang="en-GB" b="1" dirty="0"/>
              <a:t>par morceau </a:t>
            </a:r>
            <a:r>
              <a:rPr lang="en-GB" dirty="0" err="1"/>
              <a:t>hein</a:t>
            </a:r>
            <a:endParaRPr lang="en-GB" dirty="0"/>
          </a:p>
          <a:p>
            <a:endParaRPr lang="en-GB" dirty="0"/>
          </a:p>
          <a:p>
            <a:r>
              <a:rPr lang="en-GB" dirty="0"/>
              <a:t>Projection sur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composantes</a:t>
            </a:r>
            <a:r>
              <a:rPr lang="en-GB" dirty="0"/>
              <a:t> </a:t>
            </a:r>
            <a:r>
              <a:rPr lang="en-GB" dirty="0" err="1"/>
              <a:t>principales</a:t>
            </a:r>
            <a:r>
              <a:rPr lang="en-GB" dirty="0"/>
              <a:t> -&gt; compression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5530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Meilleur performance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relachant</a:t>
            </a:r>
            <a:r>
              <a:rPr lang="en-GB" dirty="0"/>
              <a:t> </a:t>
            </a:r>
            <a:r>
              <a:rPr lang="en-GB" dirty="0" err="1"/>
              <a:t>contrainte</a:t>
            </a:r>
            <a:r>
              <a:rPr lang="en-GB" dirty="0"/>
              <a:t> </a:t>
            </a:r>
            <a:r>
              <a:rPr lang="en-GB" dirty="0" err="1"/>
              <a:t>d'interpretabilité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261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Voici</a:t>
            </a:r>
            <a:r>
              <a:rPr lang="en-GB" dirty="0"/>
              <a:t> le context de </a:t>
            </a:r>
            <a:r>
              <a:rPr lang="en-GB" dirty="0" err="1"/>
              <a:t>ces</a:t>
            </a:r>
            <a:r>
              <a:rPr lang="en-GB" dirty="0"/>
              <a:t> travaux. Je </a:t>
            </a:r>
            <a:r>
              <a:rPr lang="en-GB" dirty="0" err="1"/>
              <a:t>vais</a:t>
            </a:r>
            <a:r>
              <a:rPr lang="en-GB" dirty="0"/>
              <a:t> </a:t>
            </a:r>
            <a:r>
              <a:rPr lang="en-GB" dirty="0" err="1"/>
              <a:t>désormais</a:t>
            </a:r>
            <a:r>
              <a:rPr lang="en-GB" dirty="0"/>
              <a:t> </a:t>
            </a:r>
            <a:r>
              <a:rPr lang="en-GB" dirty="0" err="1"/>
              <a:t>rentrer</a:t>
            </a:r>
            <a:r>
              <a:rPr lang="en-GB" dirty="0"/>
              <a:t> dans le detail de </a:t>
            </a:r>
            <a:r>
              <a:rPr lang="en-GB" dirty="0" err="1"/>
              <a:t>ce</a:t>
            </a:r>
            <a:r>
              <a:rPr lang="en-GB" dirty="0"/>
              <a:t> qui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réalisé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"</a:t>
            </a:r>
            <a:r>
              <a:rPr lang="en-GB" dirty="0" err="1"/>
              <a:t>Spectrogrammes</a:t>
            </a:r>
            <a:r>
              <a:rPr lang="en-GB" dirty="0"/>
              <a:t> par </a:t>
            </a:r>
            <a:r>
              <a:rPr lang="en-GB" dirty="0" err="1"/>
              <a:t>mesures</a:t>
            </a:r>
            <a:r>
              <a:rPr lang="en-GB" dirty="0"/>
              <a:t>"</a:t>
            </a:r>
          </a:p>
          <a:p>
            <a:endParaRPr lang="en-GB" dirty="0"/>
          </a:p>
          <a:p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méthodes</a:t>
            </a:r>
            <a:r>
              <a:rPr lang="en-GB" dirty="0"/>
              <a:t> de machine learning, </a:t>
            </a:r>
            <a:r>
              <a:rPr lang="en-GB" dirty="0" err="1"/>
              <a:t>objectif</a:t>
            </a:r>
            <a:r>
              <a:rPr lang="en-GB" dirty="0"/>
              <a:t>: </a:t>
            </a:r>
            <a:r>
              <a:rPr lang="en-GB" b="1" dirty="0" err="1"/>
              <a:t>mettre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évidence</a:t>
            </a:r>
            <a:r>
              <a:rPr lang="en-GB" b="1" dirty="0"/>
              <a:t> </a:t>
            </a:r>
            <a:r>
              <a:rPr lang="en-GB" dirty="0"/>
              <a:t>la structure</a:t>
            </a:r>
          </a:p>
          <a:p>
            <a:endParaRPr lang="en-GB" dirty="0"/>
          </a:p>
          <a:p>
            <a:r>
              <a:rPr lang="en-GB" dirty="0"/>
              <a:t>CHAPITRES A METTRE D'UN COUP</a:t>
            </a:r>
          </a:p>
          <a:p>
            <a:r>
              <a:rPr lang="en-GB" dirty="0"/>
              <a:t>FLECHE ARODNIE CHELOU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273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 </a:t>
            </a:r>
          </a:p>
          <a:p>
            <a:endParaRPr lang="en-GB" dirty="0"/>
          </a:p>
          <a:p>
            <a:r>
              <a:rPr lang="en-GB" dirty="0"/>
              <a:t>38" ca </a:t>
            </a:r>
            <a:r>
              <a:rPr lang="en-GB" dirty="0" err="1"/>
              <a:t>passe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9942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Présenter</a:t>
            </a:r>
            <a:r>
              <a:rPr lang="en-GB" dirty="0"/>
              <a:t> la NTD </a:t>
            </a:r>
            <a:r>
              <a:rPr lang="en-GB" dirty="0" err="1"/>
              <a:t>comme</a:t>
            </a:r>
            <a:r>
              <a:rPr lang="en-GB" dirty="0"/>
              <a:t> un </a:t>
            </a:r>
            <a:r>
              <a:rPr lang="en-GB" dirty="0" err="1"/>
              <a:t>produit</a:t>
            </a:r>
            <a:r>
              <a:rPr lang="en-GB" dirty="0"/>
              <a:t> </a:t>
            </a:r>
            <a:r>
              <a:rPr lang="en-GB" dirty="0" err="1"/>
              <a:t>matriciel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dépliant</a:t>
            </a:r>
            <a:r>
              <a:rPr lang="en-GB" dirty="0"/>
              <a:t> </a:t>
            </a:r>
            <a:r>
              <a:rPr lang="en-GB" dirty="0" err="1"/>
              <a:t>selon</a:t>
            </a:r>
            <a:r>
              <a:rPr lang="en-GB" dirty="0"/>
              <a:t> un mode (</a:t>
            </a:r>
            <a:r>
              <a:rPr lang="en-GB" dirty="0" err="1"/>
              <a:t>matricisation</a:t>
            </a:r>
            <a:r>
              <a:rPr lang="en-GB" dirty="0"/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8007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1152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"Pas le temps de faire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évaluation</a:t>
            </a:r>
            <a:r>
              <a:rPr lang="en-GB" dirty="0"/>
              <a:t> exhaustive de </a:t>
            </a:r>
            <a:r>
              <a:rPr lang="en-GB" dirty="0" err="1"/>
              <a:t>l'interpretabilité</a:t>
            </a:r>
            <a:r>
              <a:rPr lang="en-GB" dirty="0"/>
              <a:t> sur un grand </a:t>
            </a:r>
            <a:r>
              <a:rPr lang="en-GB" dirty="0" err="1"/>
              <a:t>nombre</a:t>
            </a:r>
            <a:r>
              <a:rPr lang="en-GB" dirty="0"/>
              <a:t> de </a:t>
            </a:r>
            <a:r>
              <a:rPr lang="en-GB" dirty="0" err="1"/>
              <a:t>données</a:t>
            </a:r>
            <a:r>
              <a:rPr lang="en-GB" dirty="0"/>
              <a:t>,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serait</a:t>
            </a:r>
            <a:r>
              <a:rPr lang="en-GB" dirty="0"/>
              <a:t> </a:t>
            </a:r>
            <a:r>
              <a:rPr lang="en-GB" dirty="0" err="1"/>
              <a:t>intéressant</a:t>
            </a:r>
            <a:r>
              <a:rPr lang="en-GB" dirty="0"/>
              <a:t>"</a:t>
            </a:r>
          </a:p>
          <a:p>
            <a:endParaRPr lang="en-GB" dirty="0"/>
          </a:p>
          <a:p>
            <a:r>
              <a:rPr lang="en-GB" dirty="0"/>
              <a:t>Pas de </a:t>
            </a:r>
            <a:r>
              <a:rPr lang="en-GB" dirty="0" err="1"/>
              <a:t>conlusion</a:t>
            </a:r>
            <a:r>
              <a:rPr lang="en-GB" dirty="0"/>
              <a:t> </a:t>
            </a:r>
            <a:r>
              <a:rPr lang="en-GB" dirty="0" err="1"/>
              <a:t>ferme</a:t>
            </a:r>
            <a:r>
              <a:rPr lang="en-GB" dirty="0"/>
              <a:t> </a:t>
            </a:r>
            <a:r>
              <a:rPr lang="en-GB" dirty="0" err="1"/>
              <a:t>ni</a:t>
            </a:r>
            <a:r>
              <a:rPr lang="en-GB" dirty="0"/>
              <a:t> definitive, </a:t>
            </a:r>
            <a:r>
              <a:rPr lang="en-GB" dirty="0" err="1"/>
              <a:t>résultats</a:t>
            </a:r>
            <a:r>
              <a:rPr lang="en-GB" dirty="0"/>
              <a:t> à </a:t>
            </a:r>
            <a:r>
              <a:rPr lang="en-GB" dirty="0" err="1"/>
              <a:t>teneur</a:t>
            </a:r>
            <a:r>
              <a:rPr lang="en-GB" dirty="0"/>
              <a:t> </a:t>
            </a:r>
            <a:r>
              <a:rPr lang="en-GB" dirty="0" err="1"/>
              <a:t>d'exemple</a:t>
            </a:r>
            <a:r>
              <a:rPr lang="en-GB" dirty="0"/>
              <a:t>, </a:t>
            </a:r>
            <a:r>
              <a:rPr lang="en-GB" dirty="0" err="1"/>
              <a:t>exploratoires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9104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BARRE ANIMATION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976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Exhibit – expose, met </a:t>
            </a:r>
            <a:r>
              <a:rPr lang="en-GB" dirty="0" err="1"/>
              <a:t>en</a:t>
            </a:r>
            <a:r>
              <a:rPr lang="en-GB" dirty="0"/>
              <a:t> evidence, </a:t>
            </a:r>
            <a:r>
              <a:rPr lang="en-GB" dirty="0" err="1"/>
              <a:t>montre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70881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/>
              <a:t>Pas </a:t>
            </a:r>
            <a:r>
              <a:rPr lang="fr-FR" dirty="0"/>
              <a:t>de lien évident entre dimension et résultats de segmentation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 dirty="0"/>
              <a:t>Supervision et connaissance a priori: utiliser la supervision pour de meilleures représentations (ex: matrices W et H dans NTD, structure dans couche Réseau de neurones)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 dirty="0"/>
              <a:t>Tester sur musique moins structurées ou moins </a:t>
            </a:r>
            <a:r>
              <a:rPr lang="fr-FR" dirty="0" err="1"/>
              <a:t>repetitives</a:t>
            </a:r>
            <a:endParaRPr lang="fr-FR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fr-FR" dirty="0"/>
              <a:t>Faire de l'analyse musicale des résultats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4611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Merci beaucoup de </a:t>
            </a:r>
            <a:r>
              <a:rPr lang="en-GB" dirty="0" err="1"/>
              <a:t>m'avoir</a:t>
            </a:r>
            <a:r>
              <a:rPr lang="en-GB" dirty="0"/>
              <a:t> </a:t>
            </a:r>
            <a:r>
              <a:rPr lang="en-GB" dirty="0" err="1"/>
              <a:t>écouté</a:t>
            </a:r>
            <a:r>
              <a:rPr lang="en-GB" dirty="0"/>
              <a:t>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1889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Dispersion </a:t>
            </a:r>
            <a:r>
              <a:rPr lang="en-GB" dirty="0" err="1"/>
              <a:t>maximale</a:t>
            </a:r>
            <a:r>
              <a:rPr lang="en-GB" dirty="0"/>
              <a:t> (scattered)</a:t>
            </a:r>
          </a:p>
          <a:p>
            <a:endParaRPr lang="en-GB" dirty="0"/>
          </a:p>
          <a:p>
            <a:r>
              <a:rPr lang="en-GB" dirty="0"/>
              <a:t>Compression </a:t>
            </a:r>
            <a:r>
              <a:rPr lang="en-GB" b="1" dirty="0"/>
              <a:t>par morceau </a:t>
            </a:r>
            <a:r>
              <a:rPr lang="en-GB" dirty="0" err="1"/>
              <a:t>hein</a:t>
            </a:r>
            <a:endParaRPr lang="en-GB" dirty="0"/>
          </a:p>
          <a:p>
            <a:endParaRPr lang="en-GB" dirty="0"/>
          </a:p>
          <a:p>
            <a:r>
              <a:rPr lang="en-GB" dirty="0"/>
              <a:t>Projection sur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composantes</a:t>
            </a:r>
            <a:r>
              <a:rPr lang="en-GB" dirty="0"/>
              <a:t> </a:t>
            </a:r>
            <a:r>
              <a:rPr lang="en-GB" dirty="0" err="1"/>
              <a:t>principales</a:t>
            </a:r>
            <a:r>
              <a:rPr lang="en-GB" dirty="0"/>
              <a:t> -&gt; compression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BC80D-F59E-4876-A28F-FBAD6643EC8C}" type="slidenum">
              <a:rPr lang="fr-FR" smtClean="0"/>
              <a:t>79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5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DE9272-E97D-4456-A82C-4B48804DFCB4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9570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8B75-B9A6-4FF7-81B5-8201A4843321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083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424613-DD0E-474F-8E89-9E5ADBB4D900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00667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BAA8-29FC-466B-8817-14D8E5FDBE70}" type="datetime1">
              <a:rPr lang="fr-FR" smtClean="0"/>
              <a:t>25/01/2023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88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CE9-287D-45C2-B053-6EDE8290D406}" type="datetime1">
              <a:rPr lang="fr-FR" smtClean="0"/>
              <a:t>25/01/2023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76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15E7-FAB1-4509-AD6D-0EC8D43D60A7}" type="datetime1">
              <a:rPr lang="fr-FR" smtClean="0"/>
              <a:t>25/01/2023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65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00A5-39AA-45F2-A45A-5FE3854A1639}" type="datetime1">
              <a:rPr lang="fr-FR" smtClean="0"/>
              <a:t>25/01/2023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78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06F4B-08F2-481A-A374-2A9D528A88E6}" type="datetime1">
              <a:rPr lang="fr-FR" smtClean="0"/>
              <a:t>25/01/2023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256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740237-6411-49F3-ACA8-56BC6AA8B35E}" type="datetime1">
              <a:rPr lang="fr-FR" smtClean="0"/>
              <a:t>25/01/2023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637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EEB80-EBDE-4406-A10E-1F8485FEFCC7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3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9546-0B3A-44E6-BD39-918B493E2A5D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60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F895E4B-8DDC-4BCD-8440-EFFBDD4E1181}" type="datetime1">
              <a:rPr lang="fr-FR" smtClean="0"/>
              <a:t>25/01/2023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04D9920-31A3-4B34-AAFA-0D666CFA796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374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wav"/><Relationship Id="rId2" Type="http://schemas.microsoft.com/office/2007/relationships/media" Target="../media/media1.wav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4.wav"/><Relationship Id="rId7" Type="http://schemas.openxmlformats.org/officeDocument/2006/relationships/image" Target="../media/image1.png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wav"/><Relationship Id="rId13" Type="http://schemas.microsoft.com/office/2007/relationships/media" Target="../media/media11.wav"/><Relationship Id="rId18" Type="http://schemas.openxmlformats.org/officeDocument/2006/relationships/image" Target="../media/image1.png"/><Relationship Id="rId3" Type="http://schemas.microsoft.com/office/2007/relationships/media" Target="../media/media6.wav"/><Relationship Id="rId7" Type="http://schemas.microsoft.com/office/2007/relationships/media" Target="../media/media8.wav"/><Relationship Id="rId12" Type="http://schemas.openxmlformats.org/officeDocument/2006/relationships/audio" Target="../media/media10.wav"/><Relationship Id="rId17" Type="http://schemas.openxmlformats.org/officeDocument/2006/relationships/image" Target="../media/image10.png"/><Relationship Id="rId2" Type="http://schemas.openxmlformats.org/officeDocument/2006/relationships/audio" Target="../media/media5.wav"/><Relationship Id="rId16" Type="http://schemas.openxmlformats.org/officeDocument/2006/relationships/notesSlide" Target="../notesSlides/notesSlide8.xml"/><Relationship Id="rId1" Type="http://schemas.microsoft.com/office/2007/relationships/media" Target="../media/media5.wav"/><Relationship Id="rId6" Type="http://schemas.openxmlformats.org/officeDocument/2006/relationships/audio" Target="../media/media7.wav"/><Relationship Id="rId11" Type="http://schemas.microsoft.com/office/2007/relationships/media" Target="../media/media10.wav"/><Relationship Id="rId5" Type="http://schemas.microsoft.com/office/2007/relationships/media" Target="../media/media7.wav"/><Relationship Id="rId15" Type="http://schemas.openxmlformats.org/officeDocument/2006/relationships/slideLayout" Target="../slideLayouts/slideLayout2.xml"/><Relationship Id="rId10" Type="http://schemas.openxmlformats.org/officeDocument/2006/relationships/audio" Target="../media/media9.wav"/><Relationship Id="rId4" Type="http://schemas.openxmlformats.org/officeDocument/2006/relationships/audio" Target="../media/media6.wav"/><Relationship Id="rId9" Type="http://schemas.microsoft.com/office/2007/relationships/media" Target="../media/media9.wav"/><Relationship Id="rId14" Type="http://schemas.openxmlformats.org/officeDocument/2006/relationships/audio" Target="../media/media1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10.png"/><Relationship Id="rId4" Type="http://schemas.openxmlformats.org/officeDocument/2006/relationships/image" Target="../media/image17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1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jpg"/><Relationship Id="rId9" Type="http://schemas.openxmlformats.org/officeDocument/2006/relationships/image" Target="../media/image32.png"/><Relationship Id="rId14" Type="http://schemas.openxmlformats.org/officeDocument/2006/relationships/image" Target="../media/image3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6.png"/><Relationship Id="rId3" Type="http://schemas.openxmlformats.org/officeDocument/2006/relationships/image" Target="../media/image342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36.png"/><Relationship Id="rId15" Type="http://schemas.openxmlformats.org/officeDocument/2006/relationships/image" Target="../media/image53.png"/><Relationship Id="rId10" Type="http://schemas.openxmlformats.org/officeDocument/2006/relationships/image" Target="../media/image50.png"/><Relationship Id="rId4" Type="http://schemas.openxmlformats.org/officeDocument/2006/relationships/image" Target="../media/image351.png"/><Relationship Id="rId9" Type="http://schemas.openxmlformats.org/officeDocument/2006/relationships/image" Target="../media/image49.png"/><Relationship Id="rId1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2.png"/><Relationship Id="rId5" Type="http://schemas.openxmlformats.org/officeDocument/2006/relationships/image" Target="../media/image591.png"/><Relationship Id="rId4" Type="http://schemas.openxmlformats.org/officeDocument/2006/relationships/image" Target="../media/image58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1.png"/><Relationship Id="rId7" Type="http://schemas.openxmlformats.org/officeDocument/2006/relationships/image" Target="../media/image660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image" Target="../media/image612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11" Type="http://schemas.openxmlformats.org/officeDocument/2006/relationships/image" Target="../media/image70.png"/><Relationship Id="rId5" Type="http://schemas.openxmlformats.org/officeDocument/2006/relationships/image" Target="../media/image640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1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65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79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281.png"/><Relationship Id="rId7" Type="http://schemas.openxmlformats.org/officeDocument/2006/relationships/image" Target="../media/image3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.png"/><Relationship Id="rId5" Type="http://schemas.openxmlformats.org/officeDocument/2006/relationships/image" Target="../media/image301.png"/><Relationship Id="rId4" Type="http://schemas.openxmlformats.org/officeDocument/2006/relationships/image" Target="../media/image29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9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6.PNG"/><Relationship Id="rId12" Type="http://schemas.openxmlformats.org/officeDocument/2006/relationships/image" Target="../media/image92.PNG"/><Relationship Id="rId17" Type="http://schemas.openxmlformats.org/officeDocument/2006/relationships/image" Target="../media/image1.png"/><Relationship Id="rId2" Type="http://schemas.openxmlformats.org/officeDocument/2006/relationships/audio" Target="../media/media12.wav"/><Relationship Id="rId16" Type="http://schemas.openxmlformats.org/officeDocument/2006/relationships/image" Target="../media/image96.svg"/><Relationship Id="rId1" Type="http://schemas.microsoft.com/office/2007/relationships/media" Target="../media/media12.wav"/><Relationship Id="rId6" Type="http://schemas.openxmlformats.org/officeDocument/2006/relationships/image" Target="../media/image180.png"/><Relationship Id="rId11" Type="http://schemas.openxmlformats.org/officeDocument/2006/relationships/image" Target="../media/image91.png"/><Relationship Id="rId5" Type="http://schemas.openxmlformats.org/officeDocument/2006/relationships/image" Target="../media/image340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notesSlide" Target="../notesSlides/notesSlide36.xml"/><Relationship Id="rId9" Type="http://schemas.openxmlformats.org/officeDocument/2006/relationships/image" Target="../media/image220.png"/><Relationship Id="rId1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11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1.PNG"/><Relationship Id="rId5" Type="http://schemas.openxmlformats.org/officeDocument/2006/relationships/image" Target="../media/image97.png"/><Relationship Id="rId4" Type="http://schemas.openxmlformats.org/officeDocument/2006/relationships/image" Target="../media/image420.png"/><Relationship Id="rId9" Type="http://schemas.openxmlformats.org/officeDocument/2006/relationships/image" Target="../media/image47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240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Relationship Id="rId9" Type="http://schemas.openxmlformats.org/officeDocument/2006/relationships/image" Target="../media/image5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280.png"/><Relationship Id="rId18" Type="http://schemas.openxmlformats.org/officeDocument/2006/relationships/image" Target="../media/image540.png"/><Relationship Id="rId3" Type="http://schemas.openxmlformats.org/officeDocument/2006/relationships/image" Target="../media/image271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17" Type="http://schemas.openxmlformats.org/officeDocument/2006/relationships/image" Target="../media/image530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410.png"/><Relationship Id="rId20" Type="http://schemas.openxmlformats.org/officeDocument/2006/relationships/image" Target="../media/image5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380.PNG"/><Relationship Id="rId10" Type="http://schemas.openxmlformats.org/officeDocument/2006/relationships/image" Target="../media/image522.png"/><Relationship Id="rId19" Type="http://schemas.openxmlformats.org/officeDocument/2006/relationships/image" Target="../media/image98.png"/><Relationship Id="rId4" Type="http://schemas.openxmlformats.org/officeDocument/2006/relationships/image" Target="../media/image290.png"/><Relationship Id="rId9" Type="http://schemas.openxmlformats.org/officeDocument/2006/relationships/image" Target="../media/image510.png"/><Relationship Id="rId14" Type="http://schemas.openxmlformats.org/officeDocument/2006/relationships/image" Target="../media/image3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8.png"/><Relationship Id="rId18" Type="http://schemas.openxmlformats.org/officeDocument/2006/relationships/image" Target="../media/image600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17" Type="http://schemas.openxmlformats.org/officeDocument/2006/relationships/image" Target="../media/image590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6.png"/><Relationship Id="rId5" Type="http://schemas.openxmlformats.org/officeDocument/2006/relationships/image" Target="../media/image101.png"/><Relationship Id="rId15" Type="http://schemas.openxmlformats.org/officeDocument/2006/relationships/image" Target="../media/image110.png"/><Relationship Id="rId10" Type="http://schemas.openxmlformats.org/officeDocument/2006/relationships/image" Target="../media/image520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1.png"/><Relationship Id="rId4" Type="http://schemas.openxmlformats.org/officeDocument/2006/relationships/image" Target="../media/image87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audio" Target="../media/media15.wav"/><Relationship Id="rId13" Type="http://schemas.openxmlformats.org/officeDocument/2006/relationships/image" Target="../media/image1.png"/><Relationship Id="rId3" Type="http://schemas.microsoft.com/office/2007/relationships/media" Target="../media/media13.wav"/><Relationship Id="rId7" Type="http://schemas.microsoft.com/office/2007/relationships/media" Target="../media/media15.wav"/><Relationship Id="rId12" Type="http://schemas.openxmlformats.org/officeDocument/2006/relationships/image" Target="../media/image880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audio" Target="../media/media14.wav"/><Relationship Id="rId11" Type="http://schemas.openxmlformats.org/officeDocument/2006/relationships/image" Target="../media/image870.png"/><Relationship Id="rId5" Type="http://schemas.microsoft.com/office/2007/relationships/media" Target="../media/media14.wav"/><Relationship Id="rId10" Type="http://schemas.openxmlformats.org/officeDocument/2006/relationships/notesSlide" Target="../notesSlides/notesSlide42.xml"/><Relationship Id="rId4" Type="http://schemas.openxmlformats.org/officeDocument/2006/relationships/audio" Target="../media/media13.wav"/><Relationship Id="rId9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8.png"/><Relationship Id="rId18" Type="http://schemas.openxmlformats.org/officeDocument/2006/relationships/image" Target="../media/image600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17" Type="http://schemas.openxmlformats.org/officeDocument/2006/relationships/image" Target="../media/image590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6.png"/><Relationship Id="rId5" Type="http://schemas.openxmlformats.org/officeDocument/2006/relationships/image" Target="../media/image101.png"/><Relationship Id="rId10" Type="http://schemas.openxmlformats.org/officeDocument/2006/relationships/image" Target="../media/image520.png"/><Relationship Id="rId19" Type="http://schemas.openxmlformats.org/officeDocument/2006/relationships/image" Target="../media/image109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8.png"/><Relationship Id="rId4" Type="http://schemas.openxmlformats.org/officeDocument/2006/relationships/image" Target="../media/image1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072.png"/><Relationship Id="rId7" Type="http://schemas.openxmlformats.org/officeDocument/2006/relationships/image" Target="../media/image117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png"/><Relationship Id="rId3" Type="http://schemas.openxmlformats.org/officeDocument/2006/relationships/image" Target="../media/image1001.png"/><Relationship Id="rId7" Type="http://schemas.openxmlformats.org/officeDocument/2006/relationships/image" Target="../media/image1051.png"/><Relationship Id="rId2" Type="http://schemas.openxmlformats.org/officeDocument/2006/relationships/image" Target="../media/image9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1.png"/><Relationship Id="rId5" Type="http://schemas.openxmlformats.org/officeDocument/2006/relationships/image" Target="../media/image1021.png"/><Relationship Id="rId10" Type="http://schemas.openxmlformats.org/officeDocument/2006/relationships/image" Target="../media/image1080.png"/><Relationship Id="rId4" Type="http://schemas.openxmlformats.org/officeDocument/2006/relationships/image" Target="../media/image1012.png"/><Relationship Id="rId9" Type="http://schemas.openxmlformats.org/officeDocument/2006/relationships/image" Target="../media/image107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111.png"/><Relationship Id="rId9" Type="http://schemas.openxmlformats.org/officeDocument/2006/relationships/image" Target="../media/image13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71.png"/><Relationship Id="rId3" Type="http://schemas.openxmlformats.org/officeDocument/2006/relationships/image" Target="../media/image970.png"/><Relationship Id="rId7" Type="http://schemas.openxmlformats.org/officeDocument/2006/relationships/image" Target="../media/image1011.png"/><Relationship Id="rId12" Type="http://schemas.openxmlformats.org/officeDocument/2006/relationships/image" Target="../media/image98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9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0.png"/><Relationship Id="rId11" Type="http://schemas.openxmlformats.org/officeDocument/2006/relationships/image" Target="../media/image780.png"/><Relationship Id="rId5" Type="http://schemas.openxmlformats.org/officeDocument/2006/relationships/image" Target="../media/image990.png"/><Relationship Id="rId15" Type="http://schemas.openxmlformats.org/officeDocument/2006/relationships/image" Target="../media/image1070.png"/><Relationship Id="rId10" Type="http://schemas.openxmlformats.org/officeDocument/2006/relationships/image" Target="../media/image930.png"/><Relationship Id="rId4" Type="http://schemas.openxmlformats.org/officeDocument/2006/relationships/image" Target="../media/image950.png"/><Relationship Id="rId9" Type="http://schemas.openxmlformats.org/officeDocument/2006/relationships/image" Target="../media/image1030.png"/><Relationship Id="rId14" Type="http://schemas.openxmlformats.org/officeDocument/2006/relationships/image" Target="../media/image118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0.png"/><Relationship Id="rId13" Type="http://schemas.openxmlformats.org/officeDocument/2006/relationships/image" Target="../media/image133.png"/><Relationship Id="rId3" Type="http://schemas.openxmlformats.org/officeDocument/2006/relationships/image" Target="../media/image940.png"/><Relationship Id="rId7" Type="http://schemas.openxmlformats.org/officeDocument/2006/relationships/image" Target="../media/image1100.png"/><Relationship Id="rId12" Type="http://schemas.openxmlformats.org/officeDocument/2006/relationships/image" Target="../media/image11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0.png"/><Relationship Id="rId11" Type="http://schemas.openxmlformats.org/officeDocument/2006/relationships/image" Target="../media/image1140.png"/><Relationship Id="rId5" Type="http://schemas.openxmlformats.org/officeDocument/2006/relationships/image" Target="../media/image1091.png"/><Relationship Id="rId10" Type="http://schemas.openxmlformats.org/officeDocument/2006/relationships/image" Target="../media/image1130.png"/><Relationship Id="rId4" Type="http://schemas.openxmlformats.org/officeDocument/2006/relationships/image" Target="../media/image960.png"/><Relationship Id="rId9" Type="http://schemas.openxmlformats.org/officeDocument/2006/relationships/image" Target="../media/image1120.png"/><Relationship Id="rId14" Type="http://schemas.openxmlformats.org/officeDocument/2006/relationships/image" Target="../media/image113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5.xml"/><Relationship Id="rId3" Type="http://schemas.microsoft.com/office/2007/relationships/media" Target="../media/media16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3.wav"/><Relationship Id="rId1" Type="http://schemas.microsoft.com/office/2007/relationships/media" Target="../media/media13.wav"/><Relationship Id="rId6" Type="http://schemas.openxmlformats.org/officeDocument/2006/relationships/audio" Target="../media/media17.wav"/><Relationship Id="rId11" Type="http://schemas.openxmlformats.org/officeDocument/2006/relationships/image" Target="../media/image1.png"/><Relationship Id="rId5" Type="http://schemas.microsoft.com/office/2007/relationships/media" Target="../media/media17.wav"/><Relationship Id="rId10" Type="http://schemas.openxmlformats.org/officeDocument/2006/relationships/image" Target="../media/image122.png"/><Relationship Id="rId4" Type="http://schemas.openxmlformats.org/officeDocument/2006/relationships/audio" Target="../media/media16.wav"/><Relationship Id="rId9" Type="http://schemas.openxmlformats.org/officeDocument/2006/relationships/image" Target="../media/image121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wav"/><Relationship Id="rId3" Type="http://schemas.microsoft.com/office/2007/relationships/media" Target="../media/media19.wav"/><Relationship Id="rId7" Type="http://schemas.microsoft.com/office/2007/relationships/media" Target="../media/media21.wav"/><Relationship Id="rId2" Type="http://schemas.openxmlformats.org/officeDocument/2006/relationships/audio" Target="../media/media18.wav"/><Relationship Id="rId1" Type="http://schemas.microsoft.com/office/2007/relationships/media" Target="../media/media18.wav"/><Relationship Id="rId6" Type="http://schemas.openxmlformats.org/officeDocument/2006/relationships/audio" Target="../media/media20.wav"/><Relationship Id="rId5" Type="http://schemas.microsoft.com/office/2007/relationships/media" Target="../media/media20.wav"/><Relationship Id="rId10" Type="http://schemas.openxmlformats.org/officeDocument/2006/relationships/image" Target="../media/image1.png"/><Relationship Id="rId4" Type="http://schemas.openxmlformats.org/officeDocument/2006/relationships/audio" Target="../media/media19.wav"/><Relationship Id="rId9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42.png"/><Relationship Id="rId7" Type="http://schemas.openxmlformats.org/officeDocument/2006/relationships/image" Target="../media/image28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5" Type="http://schemas.openxmlformats.org/officeDocument/2006/relationships/image" Target="../media/image262.png"/><Relationship Id="rId4" Type="http://schemas.openxmlformats.org/officeDocument/2006/relationships/image" Target="../media/image25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1.png"/><Relationship Id="rId3" Type="http://schemas.openxmlformats.org/officeDocument/2006/relationships/image" Target="../media/image1161.png"/><Relationship Id="rId7" Type="http://schemas.openxmlformats.org/officeDocument/2006/relationships/image" Target="../media/image118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11" Type="http://schemas.openxmlformats.org/officeDocument/2006/relationships/image" Target="../media/image1220.png"/><Relationship Id="rId5" Type="http://schemas.openxmlformats.org/officeDocument/2006/relationships/image" Target="../media/image1160.png"/><Relationship Id="rId10" Type="http://schemas.openxmlformats.org/officeDocument/2006/relationships/image" Target="../media/image1210.png"/><Relationship Id="rId4" Type="http://schemas.openxmlformats.org/officeDocument/2006/relationships/image" Target="../media/image120.png"/><Relationship Id="rId9" Type="http://schemas.openxmlformats.org/officeDocument/2006/relationships/image" Target="../media/image120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D4271-DC85-4DDE-9070-1095FF07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886D2-0C80-4A62-87B0-F83EB145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First</a:t>
            </a:r>
          </a:p>
          <a:p>
            <a:r>
              <a:rPr lang="fr-FR" dirty="0"/>
              <a:t>Second</a:t>
            </a:r>
          </a:p>
          <a:p>
            <a:r>
              <a:rPr lang="en-GB" dirty="0"/>
              <a:t>Third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127C57-F677-48C2-A717-A2C193B6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1</a:t>
            </a:fld>
            <a:endParaRPr lang="fr-FR" dirty="0"/>
          </a:p>
        </p:txBody>
      </p:sp>
      <p:pic>
        <p:nvPicPr>
          <p:cNvPr id="5" name="boucle test groovy">
            <a:hlinkClick r:id="" action="ppaction://media"/>
            <a:extLst>
              <a:ext uri="{FF2B5EF4-FFF2-40B4-BE49-F238E27FC236}">
                <a16:creationId xmlns:a16="http://schemas.microsoft.com/office/drawing/2014/main" id="{0770E834-ADA5-4E97-BC5E-D3238D537309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83640" y="1700014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395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17"/>
    </mc:Choice>
    <mc:Fallback xmlns="">
      <p:transition spd="slow" advTm="26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59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A1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39F5D-DEBB-4483-88B0-44D79B249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424" y="1658366"/>
            <a:ext cx="8876627" cy="2098226"/>
          </a:xfrm>
        </p:spPr>
        <p:txBody>
          <a:bodyPr/>
          <a:lstStyle/>
          <a:p>
            <a:r>
              <a:rPr lang="en-GB" sz="3600" b="1" dirty="0"/>
              <a:t>Unsupervised </a:t>
            </a:r>
            <a:br>
              <a:rPr lang="en-GB" sz="3600" b="1" dirty="0"/>
            </a:br>
            <a:r>
              <a:rPr lang="en-GB" sz="3600" b="1" dirty="0"/>
              <a:t>Machine Learning Paradigms </a:t>
            </a:r>
            <a:br>
              <a:rPr lang="en-GB" sz="3600" b="1" dirty="0"/>
            </a:br>
            <a:r>
              <a:rPr lang="en-GB" sz="3600" b="1" dirty="0"/>
              <a:t>for the Representation of</a:t>
            </a:r>
            <a:br>
              <a:rPr lang="en-GB" sz="3600" b="1" dirty="0"/>
            </a:br>
            <a:r>
              <a:rPr lang="en-GB" sz="3600" b="1" dirty="0"/>
              <a:t> Music Similarity and Structure</a:t>
            </a:r>
            <a:endParaRPr lang="fr-FR" sz="2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EB6103-9FDB-4F6D-8B54-3FDC28401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811" y="4065695"/>
            <a:ext cx="7596452" cy="1395991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EBE7DD"/>
                </a:solidFill>
              </a:rPr>
              <a:t>Axel Marmoret, IRISA, PhD </a:t>
            </a:r>
            <a:r>
              <a:rPr lang="en-GB" sz="2400" dirty="0" err="1">
                <a:solidFill>
                  <a:srgbClr val="EBE7DD"/>
                </a:solidFill>
              </a:rPr>
              <a:t>defense</a:t>
            </a:r>
            <a:r>
              <a:rPr lang="en-GB" sz="2400" dirty="0">
                <a:solidFill>
                  <a:srgbClr val="EBE7DD"/>
                </a:solidFill>
              </a:rPr>
              <a:t>,</a:t>
            </a:r>
          </a:p>
          <a:p>
            <a:r>
              <a:rPr lang="fr-FR" sz="2000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Under the supervision of </a:t>
            </a:r>
          </a:p>
          <a:p>
            <a:r>
              <a:rPr lang="fr-FR" sz="2000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Frédéric </a:t>
            </a:r>
            <a:r>
              <a:rPr lang="fr-FR" sz="2000" i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Bimbot</a:t>
            </a:r>
            <a:r>
              <a:rPr lang="fr-FR" sz="2000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and Jérémy E. Cohen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305C197-2326-4EA7-AC73-49E18622FA4D}"/>
              </a:ext>
            </a:extLst>
          </p:cNvPr>
          <p:cNvSpPr txBox="1">
            <a:spLocks/>
          </p:cNvSpPr>
          <p:nvPr/>
        </p:nvSpPr>
        <p:spPr>
          <a:xfrm>
            <a:off x="4452288" y="5702607"/>
            <a:ext cx="3286897" cy="3933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A2C4CB"/>
                </a:solidFill>
              </a:rPr>
              <a:t> </a:t>
            </a:r>
            <a:r>
              <a:rPr lang="fr-FR" sz="2000" i="1" dirty="0" err="1">
                <a:solidFill>
                  <a:srgbClr val="A2C4CB"/>
                </a:solidFill>
              </a:rPr>
              <a:t>December</a:t>
            </a:r>
            <a:r>
              <a:rPr lang="fr-FR" sz="2000" i="1" dirty="0">
                <a:solidFill>
                  <a:srgbClr val="A2C4CB"/>
                </a:solidFill>
              </a:rPr>
              <a:t> 2</a:t>
            </a:r>
            <a:r>
              <a:rPr lang="fr-FR" sz="2000" i="1" baseline="30000" dirty="0">
                <a:solidFill>
                  <a:srgbClr val="A2C4CB"/>
                </a:solidFill>
              </a:rPr>
              <a:t>nd</a:t>
            </a:r>
            <a:r>
              <a:rPr lang="fr-FR" sz="2000" i="1" dirty="0">
                <a:solidFill>
                  <a:srgbClr val="A2C4CB"/>
                </a:solidFill>
              </a:rPr>
              <a:t>, 2022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9EE4B3-8A65-4C16-BD60-702644C62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87" y="5620440"/>
            <a:ext cx="2327853" cy="1175566"/>
          </a:xfrm>
          <a:prstGeom prst="rect">
            <a:avLst/>
          </a:prstGeom>
        </p:spPr>
      </p:pic>
      <p:pic>
        <p:nvPicPr>
          <p:cNvPr id="9" name="Image 4" descr="logo_irisa_cmjn-fond-transp.png">
            <a:extLst>
              <a:ext uri="{FF2B5EF4-FFF2-40B4-BE49-F238E27FC236}">
                <a16:creationId xmlns:a16="http://schemas.microsoft.com/office/drawing/2014/main" id="{E9F630C6-E023-4C0C-89C2-152D09539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61" y="5286722"/>
            <a:ext cx="2018015" cy="5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7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02"/>
    </mc:Choice>
    <mc:Fallback xmlns="">
      <p:transition spd="slow" advTm="313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</a:t>
            </a:fld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2617" y="-538460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A4B3465-1C63-4157-8D80-DC2F22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36" y="1021478"/>
            <a:ext cx="3479179" cy="1485900"/>
          </a:xfrm>
        </p:spPr>
        <p:txBody>
          <a:bodyPr>
            <a:normAutofit/>
          </a:bodyPr>
          <a:lstStyle/>
          <a:p>
            <a:r>
              <a:rPr lang="fr-FR" b="1" dirty="0"/>
              <a:t>PhD, </a:t>
            </a:r>
            <a:br>
              <a:rPr lang="fr-FR" b="1" dirty="0"/>
            </a:br>
            <a:r>
              <a:rPr lang="fr-FR" b="1" dirty="0"/>
              <a:t>in a </a:t>
            </a:r>
            <a:r>
              <a:rPr lang="fr-FR" b="1" dirty="0" err="1"/>
              <a:t>nutshell</a:t>
            </a:r>
            <a:endParaRPr lang="fr-FR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D05A605E-F74A-4E6A-8B53-C5A7EA8C1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21" y="3787228"/>
            <a:ext cx="1562257" cy="219484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34EFF65C-7646-4FFD-B8FD-E402BD1A038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r="10018"/>
          <a:stretch/>
        </p:blipFill>
        <p:spPr>
          <a:xfrm>
            <a:off x="2280358" y="3787228"/>
            <a:ext cx="1562257" cy="2194840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53BA72FF-C944-41D6-B429-47FD33EF7D8F}"/>
              </a:ext>
            </a:extLst>
          </p:cNvPr>
          <p:cNvSpPr txBox="1"/>
          <p:nvPr/>
        </p:nvSpPr>
        <p:spPr>
          <a:xfrm>
            <a:off x="237741" y="3399954"/>
            <a:ext cx="2537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Bimbot</a:t>
            </a:r>
            <a:endParaRPr lang="fr-FR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7FCEC849-3631-4D41-9842-C1530D993217}"/>
              </a:ext>
            </a:extLst>
          </p:cNvPr>
          <p:cNvSpPr txBox="1"/>
          <p:nvPr/>
        </p:nvSpPr>
        <p:spPr>
          <a:xfrm>
            <a:off x="2200133" y="3399954"/>
            <a:ext cx="233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Jérémy E. Cohen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D95591-3482-41FC-BD4E-24F58DE3462D}"/>
              </a:ext>
            </a:extLst>
          </p:cNvPr>
          <p:cNvSpPr/>
          <p:nvPr/>
        </p:nvSpPr>
        <p:spPr>
          <a:xfrm>
            <a:off x="4537779" y="5616955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Verse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A64847-282E-4544-B70D-F2A6F25D3877}"/>
              </a:ext>
            </a:extLst>
          </p:cNvPr>
          <p:cNvSpPr/>
          <p:nvPr/>
        </p:nvSpPr>
        <p:spPr>
          <a:xfrm>
            <a:off x="6041746" y="5616956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Chorus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4BA243-40F6-4D1F-B3F9-B343F9C33744}"/>
              </a:ext>
            </a:extLst>
          </p:cNvPr>
          <p:cNvSpPr/>
          <p:nvPr/>
        </p:nvSpPr>
        <p:spPr>
          <a:xfrm>
            <a:off x="7545681" y="5616956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Verse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72A246-45AA-4864-8750-9DC456F8FD9D}"/>
              </a:ext>
            </a:extLst>
          </p:cNvPr>
          <p:cNvSpPr/>
          <p:nvPr/>
        </p:nvSpPr>
        <p:spPr>
          <a:xfrm>
            <a:off x="9049616" y="5616956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Solo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FFDE47-1BC7-434C-9A2E-1EEDB7316B0B}"/>
              </a:ext>
            </a:extLst>
          </p:cNvPr>
          <p:cNvSpPr/>
          <p:nvPr/>
        </p:nvSpPr>
        <p:spPr>
          <a:xfrm>
            <a:off x="10553567" y="5616956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Chorus</a:t>
            </a:r>
          </a:p>
        </p:txBody>
      </p:sp>
      <p:sp>
        <p:nvSpPr>
          <p:cNvPr id="52" name="Flèche : droite 51">
            <a:extLst>
              <a:ext uri="{FF2B5EF4-FFF2-40B4-BE49-F238E27FC236}">
                <a16:creationId xmlns:a16="http://schemas.microsoft.com/office/drawing/2014/main" id="{A6975212-7316-4FFF-ACEF-B835D20FD85C}"/>
              </a:ext>
            </a:extLst>
          </p:cNvPr>
          <p:cNvSpPr/>
          <p:nvPr/>
        </p:nvSpPr>
        <p:spPr>
          <a:xfrm rot="5400000">
            <a:off x="7587220" y="3852705"/>
            <a:ext cx="1325335" cy="522315"/>
          </a:xfrm>
          <a:prstGeom prst="rightArrow">
            <a:avLst>
              <a:gd name="adj1" fmla="val 50000"/>
              <a:gd name="adj2" fmla="val 7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6CB7E553-A0D5-49CF-9DF5-39A28542D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754" y="987566"/>
            <a:ext cx="5760392" cy="2194548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3335F66-B869-4285-8855-EF8B32AED7DC}"/>
              </a:ext>
            </a:extLst>
          </p:cNvPr>
          <p:cNvSpPr/>
          <p:nvPr/>
        </p:nvSpPr>
        <p:spPr>
          <a:xfrm>
            <a:off x="6677694" y="4861747"/>
            <a:ext cx="28911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i="1" dirty="0"/>
              <a:t>Music structure</a:t>
            </a:r>
            <a:endParaRPr lang="en-GB" sz="3200" i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A0CFFE-E1CF-4D2B-B063-AF62703E8827}"/>
              </a:ext>
            </a:extLst>
          </p:cNvPr>
          <p:cNvSpPr/>
          <p:nvPr/>
        </p:nvSpPr>
        <p:spPr>
          <a:xfrm>
            <a:off x="6536919" y="271689"/>
            <a:ext cx="34259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i="1" dirty="0"/>
              <a:t>Music audio signal</a:t>
            </a:r>
            <a:endParaRPr lang="en-GB" sz="320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6FCE348-E881-4EFB-BAE5-85929E030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045" y="2958412"/>
            <a:ext cx="538571" cy="22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7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4935"/>
    </mc:Choice>
    <mc:Fallback xmlns="">
      <p:transition advTm="249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900ED1-0FB3-4471-887C-4708DAA503D0}"/>
              </a:ext>
            </a:extLst>
          </p:cNvPr>
          <p:cNvSpPr/>
          <p:nvPr/>
        </p:nvSpPr>
        <p:spPr>
          <a:xfrm>
            <a:off x="834578" y="1336440"/>
            <a:ext cx="5541139" cy="467650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signal_nobody_speak">
            <a:hlinkClick r:id="" action="ppaction://media"/>
            <a:extLst>
              <a:ext uri="{FF2B5EF4-FFF2-40B4-BE49-F238E27FC236}">
                <a16:creationId xmlns:a16="http://schemas.microsoft.com/office/drawing/2014/main" id="{6434814E-CA0A-40CE-AF81-8AAF730CC2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01948" y="2254749"/>
            <a:ext cx="406400" cy="406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DB79A4E-47EE-43C9-A2E4-1364EC7B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fr-FR" dirty="0"/>
              <a:t>Music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EBFEE89-74CB-4F9F-9E3A-92FAAF8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</a:t>
            </a:fld>
            <a:endParaRPr lang="fr-FR"/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AB39A74A-9DB7-4A3A-9CF7-1D57D2A6AFCC}"/>
              </a:ext>
            </a:extLst>
          </p:cNvPr>
          <p:cNvSpPr txBox="1">
            <a:spLocks/>
          </p:cNvSpPr>
          <p:nvPr/>
        </p:nvSpPr>
        <p:spPr>
          <a:xfrm>
            <a:off x="904978" y="1428750"/>
            <a:ext cx="5400341" cy="415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Audio signal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02F374F-F711-47FC-A09A-16A43DEC1D09}"/>
              </a:ext>
            </a:extLst>
          </p:cNvPr>
          <p:cNvCxnSpPr>
            <a:cxnSpLocks/>
          </p:cNvCxnSpPr>
          <p:nvPr/>
        </p:nvCxnSpPr>
        <p:spPr>
          <a:xfrm>
            <a:off x="6465580" y="1428750"/>
            <a:ext cx="0" cy="4438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64D28906-9E33-4A9E-AAC5-0DC278362AC8}"/>
              </a:ext>
            </a:extLst>
          </p:cNvPr>
          <p:cNvSpPr txBox="1">
            <a:spLocks/>
          </p:cNvSpPr>
          <p:nvPr/>
        </p:nvSpPr>
        <p:spPr>
          <a:xfrm>
            <a:off x="6625842" y="1455368"/>
            <a:ext cx="5270786" cy="443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Symbolic representation</a:t>
            </a:r>
          </a:p>
          <a:p>
            <a:pPr marL="0" indent="0" algn="ctr">
              <a:buNone/>
            </a:pPr>
            <a:endParaRPr lang="en-GB" b="1" dirty="0"/>
          </a:p>
          <a:p>
            <a:r>
              <a:rPr lang="en-GB" dirty="0"/>
              <a:t>Human-intended representations </a:t>
            </a:r>
          </a:p>
          <a:p>
            <a:pPr lvl="1"/>
            <a:r>
              <a:rPr lang="en-GB" dirty="0"/>
              <a:t>Score, tablature, sheet music…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Digital Format</a:t>
            </a:r>
          </a:p>
          <a:p>
            <a:pPr lvl="1"/>
            <a:r>
              <a:rPr lang="en-GB" dirty="0"/>
              <a:t>MIDI, </a:t>
            </a:r>
            <a:r>
              <a:rPr lang="en-GB" dirty="0" err="1"/>
              <a:t>MusicXML</a:t>
            </a:r>
            <a:r>
              <a:rPr lang="en-GB" dirty="0"/>
              <a:t>, …</a:t>
            </a:r>
          </a:p>
          <a:p>
            <a:endParaRPr lang="en-GB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9F7C29AC-5828-4749-AA48-09C379864F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951" y="3429000"/>
            <a:ext cx="4918568" cy="91702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70C365E-3B53-4BB0-8113-C5AD202C1B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8" y="3071651"/>
            <a:ext cx="5191022" cy="199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58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9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641DBF-378B-4FD4-A020-1F6C4A9ABCE1}"/>
              </a:ext>
            </a:extLst>
          </p:cNvPr>
          <p:cNvSpPr/>
          <p:nvPr/>
        </p:nvSpPr>
        <p:spPr>
          <a:xfrm>
            <a:off x="1620788" y="4013137"/>
            <a:ext cx="9708628" cy="58353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EDC9B8D-EBF6-46C5-A6A3-6C730A2B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Music structure?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F4C5335-D27A-4BD8-BE03-942DA8E3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6606"/>
            <a:ext cx="9601200" cy="726208"/>
          </a:xfrm>
        </p:spPr>
        <p:txBody>
          <a:bodyPr>
            <a:normAutofit/>
          </a:bodyPr>
          <a:lstStyle/>
          <a:p>
            <a:r>
              <a:rPr lang="fr-FR" dirty="0" err="1"/>
              <a:t>Segmenting</a:t>
            </a:r>
            <a:r>
              <a:rPr lang="fr-FR" dirty="0"/>
              <a:t> a </a:t>
            </a:r>
            <a:r>
              <a:rPr lang="fr-FR" dirty="0" err="1"/>
              <a:t>song</a:t>
            </a:r>
            <a:r>
              <a:rPr lang="fr-FR" dirty="0"/>
              <a:t> in structural </a:t>
            </a:r>
            <a:r>
              <a:rPr lang="fr-FR" dirty="0" err="1"/>
              <a:t>elements</a:t>
            </a:r>
            <a:endParaRPr lang="fr-FR" dirty="0"/>
          </a:p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AC71F0-49F9-43CD-8841-F2AF97DA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7E32F-53B4-42BB-BDCA-E99D1B2CE5EE}"/>
              </a:ext>
            </a:extLst>
          </p:cNvPr>
          <p:cNvSpPr/>
          <p:nvPr/>
        </p:nvSpPr>
        <p:spPr>
          <a:xfrm>
            <a:off x="3453050" y="2606931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Verse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A1897-B0E3-4048-934B-9AFDB72A998C}"/>
              </a:ext>
            </a:extLst>
          </p:cNvPr>
          <p:cNvSpPr/>
          <p:nvPr/>
        </p:nvSpPr>
        <p:spPr>
          <a:xfrm>
            <a:off x="4957017" y="2606932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Chorus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EC9C7-00FA-4E83-A739-46641CEBC4D2}"/>
              </a:ext>
            </a:extLst>
          </p:cNvPr>
          <p:cNvSpPr/>
          <p:nvPr/>
        </p:nvSpPr>
        <p:spPr>
          <a:xfrm>
            <a:off x="6460952" y="2606932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Verse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D08FCB-B9F0-4B36-99A6-1B9AD23B559D}"/>
              </a:ext>
            </a:extLst>
          </p:cNvPr>
          <p:cNvSpPr/>
          <p:nvPr/>
        </p:nvSpPr>
        <p:spPr>
          <a:xfrm>
            <a:off x="7964887" y="2606932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Solo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3040F6-3776-4661-9F0E-D92E27E034A4}"/>
              </a:ext>
            </a:extLst>
          </p:cNvPr>
          <p:cNvSpPr/>
          <p:nvPr/>
        </p:nvSpPr>
        <p:spPr>
          <a:xfrm>
            <a:off x="9468838" y="2606932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Chorus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EFD34E-6A82-4F3E-89C5-DA33977C067A}"/>
              </a:ext>
            </a:extLst>
          </p:cNvPr>
          <p:cNvSpPr/>
          <p:nvPr/>
        </p:nvSpPr>
        <p:spPr>
          <a:xfrm>
            <a:off x="3453050" y="4086768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54C3E-EBCE-416E-9C20-6990824A05B0}"/>
              </a:ext>
            </a:extLst>
          </p:cNvPr>
          <p:cNvSpPr/>
          <p:nvPr/>
        </p:nvSpPr>
        <p:spPr>
          <a:xfrm>
            <a:off x="4957017" y="4086769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B6FB5-5104-4253-B72D-03416A218FDE}"/>
              </a:ext>
            </a:extLst>
          </p:cNvPr>
          <p:cNvSpPr/>
          <p:nvPr/>
        </p:nvSpPr>
        <p:spPr>
          <a:xfrm>
            <a:off x="6460952" y="4086769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F9CB52-2C6D-4916-B502-3A34CA9B722F}"/>
              </a:ext>
            </a:extLst>
          </p:cNvPr>
          <p:cNvSpPr/>
          <p:nvPr/>
        </p:nvSpPr>
        <p:spPr>
          <a:xfrm>
            <a:off x="7964887" y="4086769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E89D9C-89CE-4984-80A4-D8DA0876000B}"/>
              </a:ext>
            </a:extLst>
          </p:cNvPr>
          <p:cNvSpPr/>
          <p:nvPr/>
        </p:nvSpPr>
        <p:spPr>
          <a:xfrm>
            <a:off x="9468838" y="4086769"/>
            <a:ext cx="15039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B’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15E33B-242D-4E65-BBC3-B7409FC45567}"/>
              </a:ext>
            </a:extLst>
          </p:cNvPr>
          <p:cNvSpPr/>
          <p:nvPr/>
        </p:nvSpPr>
        <p:spPr>
          <a:xfrm>
            <a:off x="3453018" y="4635805"/>
            <a:ext cx="75803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3C12D3-A610-4146-8728-D3F160B00E35}"/>
              </a:ext>
            </a:extLst>
          </p:cNvPr>
          <p:cNvSpPr/>
          <p:nvPr/>
        </p:nvSpPr>
        <p:spPr>
          <a:xfrm>
            <a:off x="1462283" y="2527152"/>
            <a:ext cx="1971167" cy="583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Song organisation</a:t>
            </a:r>
          </a:p>
          <a:p>
            <a:pPr algn="ctr"/>
            <a:r>
              <a:rPr lang="fr-FR" sz="1600" dirty="0"/>
              <a:t>(</a:t>
            </a:r>
            <a:r>
              <a:rPr lang="fr-FR" sz="1600" dirty="0" err="1"/>
              <a:t>ground-truth</a:t>
            </a:r>
            <a:r>
              <a:rPr lang="fr-FR" sz="1600" dirty="0"/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6A0401-B92E-46E5-B1EF-E8CF93024EFF}"/>
              </a:ext>
            </a:extLst>
          </p:cNvPr>
          <p:cNvSpPr/>
          <p:nvPr/>
        </p:nvSpPr>
        <p:spPr>
          <a:xfrm>
            <a:off x="1620788" y="4013153"/>
            <a:ext cx="1756611" cy="583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High-</a:t>
            </a:r>
            <a:r>
              <a:rPr lang="fr-FR" sz="1600" dirty="0" err="1"/>
              <a:t>scale</a:t>
            </a:r>
            <a:r>
              <a:rPr lang="fr-FR" sz="1600" dirty="0"/>
              <a:t> (</a:t>
            </a:r>
            <a:r>
              <a:rPr lang="fr-FR" sz="1400" dirty="0"/>
              <a:t>sectional </a:t>
            </a:r>
            <a:r>
              <a:rPr lang="fr-FR" sz="1400" dirty="0" err="1"/>
              <a:t>level</a:t>
            </a:r>
            <a:r>
              <a:rPr lang="fr-FR" sz="1400" dirty="0"/>
              <a:t>)</a:t>
            </a:r>
            <a:endParaRPr lang="fr-FR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B17F01-87B5-4FA4-B9B8-F87E2E3F6C32}"/>
              </a:ext>
            </a:extLst>
          </p:cNvPr>
          <p:cNvSpPr/>
          <p:nvPr/>
        </p:nvSpPr>
        <p:spPr>
          <a:xfrm>
            <a:off x="1559708" y="5657153"/>
            <a:ext cx="1878773" cy="583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/>
              <a:t>Low-</a:t>
            </a:r>
            <a:r>
              <a:rPr lang="fr-FR" sz="1600" dirty="0" err="1"/>
              <a:t>scale</a:t>
            </a:r>
            <a:endParaRPr lang="fr-FR" sz="1400" dirty="0"/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2AEC389A-6E4F-4FAA-8203-D63E41F8CFDA}"/>
              </a:ext>
            </a:extLst>
          </p:cNvPr>
          <p:cNvCxnSpPr>
            <a:cxnSpLocks/>
          </p:cNvCxnSpPr>
          <p:nvPr/>
        </p:nvCxnSpPr>
        <p:spPr>
          <a:xfrm>
            <a:off x="2144591" y="3304763"/>
            <a:ext cx="84552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7A989FC-2246-4B8E-9746-64BAFD5B01E3}"/>
              </a:ext>
            </a:extLst>
          </p:cNvPr>
          <p:cNvSpPr/>
          <p:nvPr/>
        </p:nvSpPr>
        <p:spPr>
          <a:xfrm>
            <a:off x="4211053" y="4635801"/>
            <a:ext cx="74595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CD46D2E-2CC7-4E8C-B363-D579A0E7A4BA}"/>
              </a:ext>
            </a:extLst>
          </p:cNvPr>
          <p:cNvSpPr/>
          <p:nvPr/>
        </p:nvSpPr>
        <p:spPr>
          <a:xfrm>
            <a:off x="4956956" y="4635809"/>
            <a:ext cx="75803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69DF09-AAD6-4216-9014-989F00CAF5B3}"/>
              </a:ext>
            </a:extLst>
          </p:cNvPr>
          <p:cNvSpPr/>
          <p:nvPr/>
        </p:nvSpPr>
        <p:spPr>
          <a:xfrm>
            <a:off x="5714991" y="4635805"/>
            <a:ext cx="74595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6DB7DE5-BC53-4C59-BF8F-37B6D7C3E68A}"/>
              </a:ext>
            </a:extLst>
          </p:cNvPr>
          <p:cNvSpPr/>
          <p:nvPr/>
        </p:nvSpPr>
        <p:spPr>
          <a:xfrm>
            <a:off x="6460840" y="4635805"/>
            <a:ext cx="75803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43779B-F624-4703-93E8-ED6CC6538A98}"/>
              </a:ext>
            </a:extLst>
          </p:cNvPr>
          <p:cNvSpPr/>
          <p:nvPr/>
        </p:nvSpPr>
        <p:spPr>
          <a:xfrm>
            <a:off x="7218875" y="4635801"/>
            <a:ext cx="74595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AFD27E-492A-4BE3-9D2A-5BB20ADB71F0}"/>
              </a:ext>
            </a:extLst>
          </p:cNvPr>
          <p:cNvSpPr/>
          <p:nvPr/>
        </p:nvSpPr>
        <p:spPr>
          <a:xfrm>
            <a:off x="7964724" y="4635805"/>
            <a:ext cx="40474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9AFBA6-3935-4CF3-8BB7-3F18791AE2BC}"/>
              </a:ext>
            </a:extLst>
          </p:cNvPr>
          <p:cNvSpPr/>
          <p:nvPr/>
        </p:nvSpPr>
        <p:spPr>
          <a:xfrm>
            <a:off x="8722759" y="4635801"/>
            <a:ext cx="74595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f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4E4ED1-1268-4671-AA1E-B69D6D1840A9}"/>
              </a:ext>
            </a:extLst>
          </p:cNvPr>
          <p:cNvSpPr/>
          <p:nvPr/>
        </p:nvSpPr>
        <p:spPr>
          <a:xfrm>
            <a:off x="9468807" y="4635805"/>
            <a:ext cx="75803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E840DA2-7181-4250-8E4A-4FB6BDCAC6FD}"/>
              </a:ext>
            </a:extLst>
          </p:cNvPr>
          <p:cNvSpPr/>
          <p:nvPr/>
        </p:nvSpPr>
        <p:spPr>
          <a:xfrm>
            <a:off x="10226842" y="4635801"/>
            <a:ext cx="74595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249226-67F1-420B-80D8-08675401F94D}"/>
              </a:ext>
            </a:extLst>
          </p:cNvPr>
          <p:cNvSpPr/>
          <p:nvPr/>
        </p:nvSpPr>
        <p:spPr>
          <a:xfrm>
            <a:off x="8369563" y="4635801"/>
            <a:ext cx="355114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EF3DB7-91F0-4ED9-A501-B2DE50C33DC9}"/>
              </a:ext>
            </a:extLst>
          </p:cNvPr>
          <p:cNvSpPr/>
          <p:nvPr/>
        </p:nvSpPr>
        <p:spPr>
          <a:xfrm>
            <a:off x="4197005" y="5733874"/>
            <a:ext cx="18841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DD29113-AFDC-4552-A3A2-4C73774BD525}"/>
              </a:ext>
            </a:extLst>
          </p:cNvPr>
          <p:cNvSpPr/>
          <p:nvPr/>
        </p:nvSpPr>
        <p:spPr>
          <a:xfrm>
            <a:off x="4387576" y="5733871"/>
            <a:ext cx="18841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A0A69E-F54C-4173-B88F-7FE80E8B08AF}"/>
              </a:ext>
            </a:extLst>
          </p:cNvPr>
          <p:cNvSpPr/>
          <p:nvPr/>
        </p:nvSpPr>
        <p:spPr>
          <a:xfrm>
            <a:off x="4579848" y="5733868"/>
            <a:ext cx="19255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A53B8EA-64E2-45E9-AF5A-22ED62AF021F}"/>
              </a:ext>
            </a:extLst>
          </p:cNvPr>
          <p:cNvSpPr/>
          <p:nvPr/>
        </p:nvSpPr>
        <p:spPr>
          <a:xfrm>
            <a:off x="4776259" y="5733868"/>
            <a:ext cx="18059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7730E3-1666-4238-9C75-FFF0EB763536}"/>
              </a:ext>
            </a:extLst>
          </p:cNvPr>
          <p:cNvSpPr/>
          <p:nvPr/>
        </p:nvSpPr>
        <p:spPr>
          <a:xfrm>
            <a:off x="3432300" y="5733874"/>
            <a:ext cx="207847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B0B7B6A-FF2D-42E4-9736-29C14A919B6F}"/>
              </a:ext>
            </a:extLst>
          </p:cNvPr>
          <p:cNvSpPr/>
          <p:nvPr/>
        </p:nvSpPr>
        <p:spPr>
          <a:xfrm>
            <a:off x="3635955" y="5733871"/>
            <a:ext cx="18841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746AB7-AEF1-4E49-8C10-9B89CFBC7825}"/>
              </a:ext>
            </a:extLst>
          </p:cNvPr>
          <p:cNvSpPr/>
          <p:nvPr/>
        </p:nvSpPr>
        <p:spPr>
          <a:xfrm>
            <a:off x="3821877" y="5733868"/>
            <a:ext cx="19255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6B9F1E-F9F4-4F8B-9716-404C134EF80D}"/>
              </a:ext>
            </a:extLst>
          </p:cNvPr>
          <p:cNvSpPr/>
          <p:nvPr/>
        </p:nvSpPr>
        <p:spPr>
          <a:xfrm>
            <a:off x="4012449" y="5733868"/>
            <a:ext cx="18653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741F7B3-2DFC-4065-87F1-43D026FE4605}"/>
              </a:ext>
            </a:extLst>
          </p:cNvPr>
          <p:cNvSpPr/>
          <p:nvPr/>
        </p:nvSpPr>
        <p:spPr>
          <a:xfrm>
            <a:off x="4956956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4E74F4-DF1D-4845-84EA-875E690D6B75}"/>
              </a:ext>
            </a:extLst>
          </p:cNvPr>
          <p:cNvSpPr/>
          <p:nvPr/>
        </p:nvSpPr>
        <p:spPr>
          <a:xfrm>
            <a:off x="5363882" y="5184827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923994-5FBF-40CA-9905-161CC2292AEA}"/>
              </a:ext>
            </a:extLst>
          </p:cNvPr>
          <p:cNvSpPr/>
          <p:nvPr/>
        </p:nvSpPr>
        <p:spPr>
          <a:xfrm>
            <a:off x="5708992" y="5184827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460D526-E814-459A-994B-AA31597D3BC3}"/>
              </a:ext>
            </a:extLst>
          </p:cNvPr>
          <p:cNvSpPr/>
          <p:nvPr/>
        </p:nvSpPr>
        <p:spPr>
          <a:xfrm>
            <a:off x="6054102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149AB88-4177-408F-8C45-E99F2F2B2EEC}"/>
              </a:ext>
            </a:extLst>
          </p:cNvPr>
          <p:cNvSpPr/>
          <p:nvPr/>
        </p:nvSpPr>
        <p:spPr>
          <a:xfrm>
            <a:off x="6460840" y="5184827"/>
            <a:ext cx="40465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897D3A1-75EE-4A1E-BEC0-80ABCC5AB3DE}"/>
              </a:ext>
            </a:extLst>
          </p:cNvPr>
          <p:cNvSpPr/>
          <p:nvPr/>
        </p:nvSpPr>
        <p:spPr>
          <a:xfrm>
            <a:off x="6866041" y="5184827"/>
            <a:ext cx="34683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71C857E-691D-47A7-AB13-2FA03FB2AF52}"/>
              </a:ext>
            </a:extLst>
          </p:cNvPr>
          <p:cNvSpPr/>
          <p:nvPr/>
        </p:nvSpPr>
        <p:spPr>
          <a:xfrm>
            <a:off x="7212876" y="5184827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A9DC2B9-8B6B-48E1-B498-CD7B68269ABE}"/>
              </a:ext>
            </a:extLst>
          </p:cNvPr>
          <p:cNvSpPr/>
          <p:nvPr/>
        </p:nvSpPr>
        <p:spPr>
          <a:xfrm>
            <a:off x="7557986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E61AC82-3FD2-43DD-B74A-486C0B843492}"/>
              </a:ext>
            </a:extLst>
          </p:cNvPr>
          <p:cNvSpPr/>
          <p:nvPr/>
        </p:nvSpPr>
        <p:spPr>
          <a:xfrm>
            <a:off x="3447056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3834233-27AB-41E3-9152-5B1B5D630DC9}"/>
              </a:ext>
            </a:extLst>
          </p:cNvPr>
          <p:cNvSpPr/>
          <p:nvPr/>
        </p:nvSpPr>
        <p:spPr>
          <a:xfrm>
            <a:off x="3853982" y="5184827"/>
            <a:ext cx="350938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578FB09-7870-4652-B1D2-F120517C0780}"/>
              </a:ext>
            </a:extLst>
          </p:cNvPr>
          <p:cNvSpPr/>
          <p:nvPr/>
        </p:nvSpPr>
        <p:spPr>
          <a:xfrm>
            <a:off x="4206833" y="5184829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4DD839-3F36-4F57-A14F-5E91C5CF6D56}"/>
              </a:ext>
            </a:extLst>
          </p:cNvPr>
          <p:cNvSpPr/>
          <p:nvPr/>
        </p:nvSpPr>
        <p:spPr>
          <a:xfrm>
            <a:off x="4613759" y="5184829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8248432-41FA-4CDE-853D-C234AB110A13}"/>
              </a:ext>
            </a:extLst>
          </p:cNvPr>
          <p:cNvSpPr/>
          <p:nvPr/>
        </p:nvSpPr>
        <p:spPr>
          <a:xfrm>
            <a:off x="9474733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9F2A67E-41A8-4FBA-95FF-70A4C1ECE1E9}"/>
              </a:ext>
            </a:extLst>
          </p:cNvPr>
          <p:cNvSpPr/>
          <p:nvPr/>
        </p:nvSpPr>
        <p:spPr>
          <a:xfrm>
            <a:off x="9881659" y="5184827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DC4BAF0-7FE3-4E33-8167-059D92CAF381}"/>
              </a:ext>
            </a:extLst>
          </p:cNvPr>
          <p:cNvSpPr/>
          <p:nvPr/>
        </p:nvSpPr>
        <p:spPr>
          <a:xfrm>
            <a:off x="10226769" y="5184827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57BF3EB-B889-447B-BEDA-415C145FA003}"/>
              </a:ext>
            </a:extLst>
          </p:cNvPr>
          <p:cNvSpPr/>
          <p:nvPr/>
        </p:nvSpPr>
        <p:spPr>
          <a:xfrm>
            <a:off x="10571879" y="5184827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9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D61231-1C26-4554-AE06-0E3DE576C138}"/>
              </a:ext>
            </a:extLst>
          </p:cNvPr>
          <p:cNvSpPr/>
          <p:nvPr/>
        </p:nvSpPr>
        <p:spPr>
          <a:xfrm>
            <a:off x="8724610" y="5184829"/>
            <a:ext cx="40692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3361E45-5087-4011-A56A-F84D60AC24AD}"/>
              </a:ext>
            </a:extLst>
          </p:cNvPr>
          <p:cNvSpPr/>
          <p:nvPr/>
        </p:nvSpPr>
        <p:spPr>
          <a:xfrm>
            <a:off x="9131536" y="5184829"/>
            <a:ext cx="3451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8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6CF3A64-BC51-47E9-AD53-0A61FFA9867E}"/>
              </a:ext>
            </a:extLst>
          </p:cNvPr>
          <p:cNvSpPr/>
          <p:nvPr/>
        </p:nvSpPr>
        <p:spPr>
          <a:xfrm>
            <a:off x="7964724" y="5184827"/>
            <a:ext cx="40474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766D994-A1D7-4789-A272-60E4D7864673}"/>
              </a:ext>
            </a:extLst>
          </p:cNvPr>
          <p:cNvSpPr/>
          <p:nvPr/>
        </p:nvSpPr>
        <p:spPr>
          <a:xfrm>
            <a:off x="8369563" y="5184823"/>
            <a:ext cx="355114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9E19144-60F1-4935-9FE8-7F9A99A1CEDA}"/>
              </a:ext>
            </a:extLst>
          </p:cNvPr>
          <p:cNvSpPr/>
          <p:nvPr/>
        </p:nvSpPr>
        <p:spPr>
          <a:xfrm>
            <a:off x="5704517" y="5733851"/>
            <a:ext cx="19260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916FFAF-E5A9-47EC-864F-43FA39E542AE}"/>
              </a:ext>
            </a:extLst>
          </p:cNvPr>
          <p:cNvSpPr/>
          <p:nvPr/>
        </p:nvSpPr>
        <p:spPr>
          <a:xfrm>
            <a:off x="5901616" y="5733848"/>
            <a:ext cx="15466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4F8CCE1-843C-4FE1-95FA-FB95DBD207C0}"/>
              </a:ext>
            </a:extLst>
          </p:cNvPr>
          <p:cNvSpPr/>
          <p:nvPr/>
        </p:nvSpPr>
        <p:spPr>
          <a:xfrm>
            <a:off x="6055672" y="5733845"/>
            <a:ext cx="21640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86ECF9A-3999-4777-B37A-FD0E6B31538D}"/>
              </a:ext>
            </a:extLst>
          </p:cNvPr>
          <p:cNvSpPr/>
          <p:nvPr/>
        </p:nvSpPr>
        <p:spPr>
          <a:xfrm>
            <a:off x="6271969" y="5733845"/>
            <a:ext cx="17853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A022871-F538-446B-848F-C04A02292307}"/>
              </a:ext>
            </a:extLst>
          </p:cNvPr>
          <p:cNvSpPr/>
          <p:nvPr/>
        </p:nvSpPr>
        <p:spPr>
          <a:xfrm>
            <a:off x="4956852" y="5733851"/>
            <a:ext cx="18229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12BA80C-E770-4DCF-820A-CF311355FCA1}"/>
              </a:ext>
            </a:extLst>
          </p:cNvPr>
          <p:cNvSpPr/>
          <p:nvPr/>
        </p:nvSpPr>
        <p:spPr>
          <a:xfrm>
            <a:off x="5135294" y="5733848"/>
            <a:ext cx="23074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D517BA4-97FA-4BA4-97A1-544FC9C694B9}"/>
              </a:ext>
            </a:extLst>
          </p:cNvPr>
          <p:cNvSpPr/>
          <p:nvPr/>
        </p:nvSpPr>
        <p:spPr>
          <a:xfrm>
            <a:off x="5367387" y="5733845"/>
            <a:ext cx="15272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12F8389-2127-4247-A111-B706B6021947}"/>
              </a:ext>
            </a:extLst>
          </p:cNvPr>
          <p:cNvSpPr/>
          <p:nvPr/>
        </p:nvSpPr>
        <p:spPr>
          <a:xfrm>
            <a:off x="5517803" y="5733845"/>
            <a:ext cx="18653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77B89FA-A857-417D-A8C5-0D4C0E32C593}"/>
              </a:ext>
            </a:extLst>
          </p:cNvPr>
          <p:cNvSpPr/>
          <p:nvPr/>
        </p:nvSpPr>
        <p:spPr>
          <a:xfrm>
            <a:off x="7219841" y="5733874"/>
            <a:ext cx="176938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D1AD626-BD9E-4BD1-A738-83266DA51113}"/>
              </a:ext>
            </a:extLst>
          </p:cNvPr>
          <p:cNvSpPr/>
          <p:nvPr/>
        </p:nvSpPr>
        <p:spPr>
          <a:xfrm>
            <a:off x="7399436" y="5733871"/>
            <a:ext cx="15198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BBEDFCA-2953-459B-91CF-8C98D4A2726C}"/>
              </a:ext>
            </a:extLst>
          </p:cNvPr>
          <p:cNvSpPr/>
          <p:nvPr/>
        </p:nvSpPr>
        <p:spPr>
          <a:xfrm>
            <a:off x="7548599" y="5733845"/>
            <a:ext cx="19255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299A1A0-FEFE-468B-ABBF-016DE576DD7A}"/>
              </a:ext>
            </a:extLst>
          </p:cNvPr>
          <p:cNvSpPr/>
          <p:nvPr/>
        </p:nvSpPr>
        <p:spPr>
          <a:xfrm>
            <a:off x="7740284" y="5733868"/>
            <a:ext cx="221954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A07DC5A-9ADE-435D-939C-EE775FC0ADEF}"/>
              </a:ext>
            </a:extLst>
          </p:cNvPr>
          <p:cNvSpPr/>
          <p:nvPr/>
        </p:nvSpPr>
        <p:spPr>
          <a:xfrm>
            <a:off x="6861191" y="5733868"/>
            <a:ext cx="17178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8418C2E-FBA6-4940-B08F-DF09A2556A9F}"/>
              </a:ext>
            </a:extLst>
          </p:cNvPr>
          <p:cNvSpPr/>
          <p:nvPr/>
        </p:nvSpPr>
        <p:spPr>
          <a:xfrm>
            <a:off x="7033047" y="5733868"/>
            <a:ext cx="185828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B378FBD-AD1B-496B-B0D1-767B89E69D87}"/>
              </a:ext>
            </a:extLst>
          </p:cNvPr>
          <p:cNvSpPr/>
          <p:nvPr/>
        </p:nvSpPr>
        <p:spPr>
          <a:xfrm>
            <a:off x="8720903" y="5733851"/>
            <a:ext cx="18841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9E4C771-28DA-4EF7-B901-F33296E14945}"/>
              </a:ext>
            </a:extLst>
          </p:cNvPr>
          <p:cNvSpPr/>
          <p:nvPr/>
        </p:nvSpPr>
        <p:spPr>
          <a:xfrm>
            <a:off x="8911474" y="5733848"/>
            <a:ext cx="22006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1688BBD-08FE-429A-ACEF-5853DF83AF9F}"/>
              </a:ext>
            </a:extLst>
          </p:cNvPr>
          <p:cNvSpPr/>
          <p:nvPr/>
        </p:nvSpPr>
        <p:spPr>
          <a:xfrm>
            <a:off x="9131536" y="5733845"/>
            <a:ext cx="158746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03D0D56-BFC0-410C-A810-9AB4F5AF5AE2}"/>
              </a:ext>
            </a:extLst>
          </p:cNvPr>
          <p:cNvSpPr/>
          <p:nvPr/>
        </p:nvSpPr>
        <p:spPr>
          <a:xfrm>
            <a:off x="9290179" y="5733845"/>
            <a:ext cx="17853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F2FA477-0852-4DA0-BE3B-D16C2041710B}"/>
              </a:ext>
            </a:extLst>
          </p:cNvPr>
          <p:cNvSpPr/>
          <p:nvPr/>
        </p:nvSpPr>
        <p:spPr>
          <a:xfrm>
            <a:off x="7960618" y="5733851"/>
            <a:ext cx="190727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269F021-4551-4DB7-9AB0-081ADB0BC5B1}"/>
              </a:ext>
            </a:extLst>
          </p:cNvPr>
          <p:cNvSpPr/>
          <p:nvPr/>
        </p:nvSpPr>
        <p:spPr>
          <a:xfrm>
            <a:off x="8153505" y="5733848"/>
            <a:ext cx="215968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F00B6AC-EE7A-40B3-90DE-ED2874A13ED6}"/>
              </a:ext>
            </a:extLst>
          </p:cNvPr>
          <p:cNvSpPr/>
          <p:nvPr/>
        </p:nvSpPr>
        <p:spPr>
          <a:xfrm>
            <a:off x="8369473" y="5733845"/>
            <a:ext cx="16928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F29CA9-1DE9-4F65-8CCD-E29CFA71626C}"/>
              </a:ext>
            </a:extLst>
          </p:cNvPr>
          <p:cNvSpPr/>
          <p:nvPr/>
        </p:nvSpPr>
        <p:spPr>
          <a:xfrm>
            <a:off x="8538762" y="5733845"/>
            <a:ext cx="181962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0B50EA6-1F94-4335-9E87-ADD890C23673}"/>
              </a:ext>
            </a:extLst>
          </p:cNvPr>
          <p:cNvSpPr/>
          <p:nvPr/>
        </p:nvSpPr>
        <p:spPr>
          <a:xfrm>
            <a:off x="6451851" y="5733845"/>
            <a:ext cx="19625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56602C9-E50F-4420-AC25-47E53BEED1F4}"/>
              </a:ext>
            </a:extLst>
          </p:cNvPr>
          <p:cNvSpPr/>
          <p:nvPr/>
        </p:nvSpPr>
        <p:spPr>
          <a:xfrm>
            <a:off x="6648106" y="5733845"/>
            <a:ext cx="21364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94868E0-EC90-43E1-BF88-00E2540C261D}"/>
              </a:ext>
            </a:extLst>
          </p:cNvPr>
          <p:cNvSpPr/>
          <p:nvPr/>
        </p:nvSpPr>
        <p:spPr>
          <a:xfrm>
            <a:off x="10226157" y="5733851"/>
            <a:ext cx="16520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4234315-C9FC-490C-8F2C-61848806D2E4}"/>
              </a:ext>
            </a:extLst>
          </p:cNvPr>
          <p:cNvSpPr/>
          <p:nvPr/>
        </p:nvSpPr>
        <p:spPr>
          <a:xfrm>
            <a:off x="10391360" y="5733848"/>
            <a:ext cx="180519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709875B-D4FB-4CD8-9EA3-746225AE485E}"/>
              </a:ext>
            </a:extLst>
          </p:cNvPr>
          <p:cNvSpPr/>
          <p:nvPr/>
        </p:nvSpPr>
        <p:spPr>
          <a:xfrm>
            <a:off x="10571878" y="5733845"/>
            <a:ext cx="21566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D3090BA-B427-4134-87BA-63DCA3CC0B09}"/>
              </a:ext>
            </a:extLst>
          </p:cNvPr>
          <p:cNvSpPr/>
          <p:nvPr/>
        </p:nvSpPr>
        <p:spPr>
          <a:xfrm>
            <a:off x="10787539" y="5733845"/>
            <a:ext cx="186433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A16A4B5-0D26-4225-B37D-2F4FDA8E5054}"/>
              </a:ext>
            </a:extLst>
          </p:cNvPr>
          <p:cNvSpPr/>
          <p:nvPr/>
        </p:nvSpPr>
        <p:spPr>
          <a:xfrm>
            <a:off x="9468186" y="5733851"/>
            <a:ext cx="19641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2EB0CA2-1F7F-4FE3-8A58-236F5DC0E818}"/>
              </a:ext>
            </a:extLst>
          </p:cNvPr>
          <p:cNvSpPr/>
          <p:nvPr/>
        </p:nvSpPr>
        <p:spPr>
          <a:xfrm>
            <a:off x="9664774" y="5733848"/>
            <a:ext cx="222041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BD6702B-776A-40DD-A3C4-3E87E5FD9698}"/>
              </a:ext>
            </a:extLst>
          </p:cNvPr>
          <p:cNvSpPr/>
          <p:nvPr/>
        </p:nvSpPr>
        <p:spPr>
          <a:xfrm>
            <a:off x="9886815" y="5733845"/>
            <a:ext cx="156765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718E5F3-D1A2-4A10-A433-5B8EA24B66F7}"/>
              </a:ext>
            </a:extLst>
          </p:cNvPr>
          <p:cNvSpPr/>
          <p:nvPr/>
        </p:nvSpPr>
        <p:spPr>
          <a:xfrm>
            <a:off x="10045458" y="5733845"/>
            <a:ext cx="180520" cy="4301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142470-85B5-43CA-92B2-BADF36FB945E}"/>
              </a:ext>
            </a:extLst>
          </p:cNvPr>
          <p:cNvSpPr/>
          <p:nvPr/>
        </p:nvSpPr>
        <p:spPr>
          <a:xfrm>
            <a:off x="5512533" y="3343897"/>
            <a:ext cx="2732380" cy="583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err="1"/>
              <a:t>Boundary</a:t>
            </a:r>
            <a:r>
              <a:rPr lang="fr-FR" sz="2000" dirty="0"/>
              <a:t> </a:t>
            </a:r>
            <a:r>
              <a:rPr lang="fr-FR" sz="2000" dirty="0" err="1"/>
              <a:t>retrieval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6384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6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fill="hold">
                            <p:stCondLst>
                              <p:cond delay="500"/>
                            </p:stCondLst>
                            <p:childTnLst>
                              <p:par>
                                <p:cTn id="4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build="allAtOnce" animBg="1"/>
      <p:bldP spid="17" grpId="0" build="allAtOnce" animBg="1"/>
      <p:bldP spid="18" grpId="0" build="allAtOnce" animBg="1"/>
      <p:bldP spid="19" grpId="0" build="allAtOnce" animBg="1"/>
      <p:bldP spid="20" grpId="0" build="allAtOnce" animBg="1"/>
      <p:bldP spid="21" grpId="0" build="allAtOnce" animBg="1"/>
      <p:bldP spid="42" grpId="0"/>
      <p:bldP spid="43" grpId="0"/>
      <p:bldP spid="50" grpId="0" build="allAtOnce" animBg="1"/>
      <p:bldP spid="51" grpId="0" build="allAtOnce" animBg="1"/>
      <p:bldP spid="52" grpId="0" build="allAtOnce" animBg="1"/>
      <p:bldP spid="53" grpId="0" build="allAtOnce" animBg="1"/>
      <p:bldP spid="54" grpId="0" build="allAtOnce" animBg="1"/>
      <p:bldP spid="55" grpId="0" build="allAtOnce" animBg="1"/>
      <p:bldP spid="56" grpId="0" build="allAtOnce" animBg="1"/>
      <p:bldP spid="57" grpId="0" build="allAtOnce" animBg="1"/>
      <p:bldP spid="58" grpId="0" build="allAtOnce" animBg="1"/>
      <p:bldP spid="59" grpId="0" build="allAtOnce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84" grpId="0" build="allAtOnce" animBg="1"/>
      <p:bldP spid="85" grpId="0" build="allAtOnce" animBg="1"/>
      <p:bldP spid="86" grpId="0" build="allAtOnce" animBg="1"/>
      <p:bldP spid="87" grpId="0" build="allAtOnce" animBg="1"/>
      <p:bldP spid="88" grpId="0" build="allAtOnce" animBg="1"/>
      <p:bldP spid="89" grpId="0" build="allAtOnce" animBg="1"/>
      <p:bldP spid="90" grpId="0" build="allAtOnce" animBg="1"/>
      <p:bldP spid="91" grpId="0" build="allAtOnce" animBg="1"/>
      <p:bldP spid="93" grpId="0" build="allAtOnce" animBg="1"/>
      <p:bldP spid="94" grpId="0" build="allAtOnce" animBg="1"/>
      <p:bldP spid="96" grpId="0" build="allAtOnce" animBg="1"/>
      <p:bldP spid="97" grpId="0" build="allAtOnce" animBg="1"/>
      <p:bldP spid="98" grpId="0" build="allAtOnce" animBg="1"/>
      <p:bldP spid="99" grpId="0" build="allAtOnce" animBg="1"/>
      <p:bldP spid="100" grpId="0" build="allAtOnce" animBg="1"/>
      <p:bldP spid="101" grpId="0" build="allAtOnce" animBg="1"/>
      <p:bldP spid="104" grpId="0" build="allAtOnce" animBg="1"/>
      <p:bldP spid="105" grpId="0" build="allAtOnce" animBg="1"/>
      <p:bldP spid="106" grpId="0" build="allAtOnce" animBg="1"/>
      <p:bldP spid="107" grpId="0" build="allAtOnce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6A8E57-8AEE-4B95-97E0-BCFF598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Why</a:t>
            </a:r>
            <a:r>
              <a:rPr lang="fr-FR" dirty="0"/>
              <a:t> structural segmentation?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2BDE73-183F-42BC-8CBE-00B80D96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B0C70-7801-4B87-8F08-A13154C763B9}"/>
              </a:ext>
            </a:extLst>
          </p:cNvPr>
          <p:cNvSpPr/>
          <p:nvPr/>
        </p:nvSpPr>
        <p:spPr>
          <a:xfrm>
            <a:off x="1479550" y="1638299"/>
            <a:ext cx="3949700" cy="692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For structure </a:t>
            </a:r>
            <a:r>
              <a:rPr lang="fr-FR" dirty="0" err="1">
                <a:solidFill>
                  <a:srgbClr val="EBE7DD"/>
                </a:solidFill>
              </a:rPr>
              <a:t>analysis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6F8098-3A57-46D2-B95E-DBB599C78AAF}"/>
              </a:ext>
            </a:extLst>
          </p:cNvPr>
          <p:cNvSpPr/>
          <p:nvPr/>
        </p:nvSpPr>
        <p:spPr>
          <a:xfrm>
            <a:off x="6026150" y="1638298"/>
            <a:ext cx="3949700" cy="692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For indirect applications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2B9FD-65E0-4108-9DFD-19C3E625597D}"/>
              </a:ext>
            </a:extLst>
          </p:cNvPr>
          <p:cNvSpPr/>
          <p:nvPr/>
        </p:nvSpPr>
        <p:spPr>
          <a:xfrm>
            <a:off x="1479550" y="4340226"/>
            <a:ext cx="8496300" cy="692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As a proxy </a:t>
            </a:r>
            <a:r>
              <a:rPr lang="fr-FR" dirty="0" err="1">
                <a:solidFill>
                  <a:srgbClr val="EBE7DD"/>
                </a:solidFill>
              </a:rPr>
              <a:t>task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B9F113-273B-4E3B-9F65-F2ABFD04908D}"/>
              </a:ext>
            </a:extLst>
          </p:cNvPr>
          <p:cNvSpPr/>
          <p:nvPr/>
        </p:nvSpPr>
        <p:spPr>
          <a:xfrm>
            <a:off x="1479550" y="2330448"/>
            <a:ext cx="3949700" cy="142240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Music analysis/Musicology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Automatic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E794C-5266-4BD7-9313-654B179CB21A}"/>
              </a:ext>
            </a:extLst>
          </p:cNvPr>
          <p:cNvSpPr/>
          <p:nvPr/>
        </p:nvSpPr>
        <p:spPr>
          <a:xfrm>
            <a:off x="6026150" y="2324096"/>
            <a:ext cx="3949700" cy="142875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fr-FR" dirty="0" err="1">
                <a:solidFill>
                  <a:schemeClr val="tx1"/>
                </a:solidFill>
              </a:rPr>
              <a:t>enre</a:t>
            </a:r>
            <a:r>
              <a:rPr lang="fr-FR" dirty="0">
                <a:solidFill>
                  <a:schemeClr val="tx1"/>
                </a:solidFill>
              </a:rPr>
              <a:t>/music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Recommendation</a:t>
            </a: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Cover detection</a:t>
            </a: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B612D-D8D9-4D13-8CE9-CEB7FEAD722D}"/>
              </a:ext>
            </a:extLst>
          </p:cNvPr>
          <p:cNvSpPr/>
          <p:nvPr/>
        </p:nvSpPr>
        <p:spPr>
          <a:xfrm>
            <a:off x="1479550" y="5032376"/>
            <a:ext cx="8496300" cy="69215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Quantitatively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evaluates</a:t>
            </a:r>
            <a:r>
              <a:rPr lang="fr-FR" dirty="0">
                <a:solidFill>
                  <a:schemeClr val="tx1"/>
                </a:solidFill>
              </a:rPr>
              <a:t> the relevance of a music </a:t>
            </a:r>
            <a:r>
              <a:rPr lang="fr-FR" dirty="0" err="1">
                <a:solidFill>
                  <a:schemeClr val="tx1"/>
                </a:solidFill>
              </a:rPr>
              <a:t>analysis</a:t>
            </a:r>
            <a:r>
              <a:rPr lang="fr-FR" dirty="0">
                <a:solidFill>
                  <a:schemeClr val="tx1"/>
                </a:solidFill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9484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79A4E-47EE-43C9-A2E4-1364EC7B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9564"/>
            <a:ext cx="9601200" cy="870527"/>
          </a:xfrm>
        </p:spPr>
        <p:txBody>
          <a:bodyPr/>
          <a:lstStyle/>
          <a:p>
            <a:r>
              <a:rPr lang="fr-FR" dirty="0"/>
              <a:t>How are sections </a:t>
            </a:r>
            <a:r>
              <a:rPr lang="fr-FR" dirty="0" err="1"/>
              <a:t>estimated</a:t>
            </a:r>
            <a:r>
              <a:rPr lang="fr-FR" dirty="0"/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7C990B-6D0E-4204-B817-5F730B3E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327"/>
            <a:ext cx="9601200" cy="426709"/>
          </a:xfrm>
        </p:spPr>
        <p:txBody>
          <a:bodyPr>
            <a:normAutofit/>
          </a:bodyPr>
          <a:lstStyle/>
          <a:p>
            <a:r>
              <a:rPr lang="fr-FR" dirty="0" err="1"/>
              <a:t>Two</a:t>
            </a:r>
            <a:r>
              <a:rPr lang="fr-FR" dirty="0"/>
              <a:t> principal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sz="1400" dirty="0"/>
              <a:t>[Nie+20]</a:t>
            </a:r>
            <a:r>
              <a:rPr lang="fr-FR" dirty="0"/>
              <a:t>: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EBFEE89-74CB-4F9F-9E3A-92FAAF8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4654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7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F9E9E4-2AB6-43A9-B310-949551E5B1D4}"/>
              </a:ext>
            </a:extLst>
          </p:cNvPr>
          <p:cNvSpPr txBox="1"/>
          <p:nvPr/>
        </p:nvSpPr>
        <p:spPr>
          <a:xfrm>
            <a:off x="1319666" y="6554096"/>
            <a:ext cx="9864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[Nie+20] </a:t>
            </a:r>
            <a:r>
              <a:rPr lang="en-US" sz="900" dirty="0"/>
              <a:t>Nieto, O </a:t>
            </a:r>
            <a:r>
              <a:rPr lang="en-US" sz="900" i="1" dirty="0"/>
              <a:t>et al., </a:t>
            </a:r>
            <a:r>
              <a:rPr lang="en-US" sz="900" dirty="0"/>
              <a:t>Audio-based music structure analysis: Current trends, open challenges, and applications. 2020 </a:t>
            </a:r>
            <a:r>
              <a:rPr lang="en-US" sz="900" i="1" dirty="0"/>
              <a:t>Transactions of the International Society for Music Information Retrieval</a:t>
            </a:r>
            <a:r>
              <a:rPr lang="en-US" sz="900" dirty="0"/>
              <a:t>.</a:t>
            </a:r>
            <a:endParaRPr lang="fr-FR" sz="900" dirty="0"/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AB39A74A-9DB7-4A3A-9CF7-1D57D2A6AFCC}"/>
              </a:ext>
            </a:extLst>
          </p:cNvPr>
          <p:cNvSpPr txBox="1">
            <a:spLocks/>
          </p:cNvSpPr>
          <p:nvPr/>
        </p:nvSpPr>
        <p:spPr>
          <a:xfrm>
            <a:off x="1371600" y="2427511"/>
            <a:ext cx="4447786" cy="358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 err="1"/>
              <a:t>Homogeneity</a:t>
            </a:r>
            <a:r>
              <a:rPr lang="fr-FR" b="1" dirty="0"/>
              <a:t>/</a:t>
            </a:r>
            <a:r>
              <a:rPr lang="fr-FR" b="1" dirty="0" err="1"/>
              <a:t>Novelty</a:t>
            </a:r>
            <a:endParaRPr lang="fr-FR" b="1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Locally</a:t>
            </a:r>
            <a:r>
              <a:rPr lang="fr-FR" dirty="0"/>
              <a:t> </a:t>
            </a:r>
            <a:r>
              <a:rPr lang="fr-FR" dirty="0" err="1"/>
              <a:t>stationary</a:t>
            </a:r>
            <a:endParaRPr lang="fr-FR" strike="sngStrike" dirty="0"/>
          </a:p>
        </p:txBody>
      </p:sp>
      <p:sp>
        <p:nvSpPr>
          <p:cNvPr id="9" name="Espace réservé du contenu 6">
            <a:extLst>
              <a:ext uri="{FF2B5EF4-FFF2-40B4-BE49-F238E27FC236}">
                <a16:creationId xmlns:a16="http://schemas.microsoft.com/office/drawing/2014/main" id="{EB475E5E-C8E0-49CA-9F9E-818C1F529954}"/>
              </a:ext>
            </a:extLst>
          </p:cNvPr>
          <p:cNvSpPr txBox="1">
            <a:spLocks/>
          </p:cNvSpPr>
          <p:nvPr/>
        </p:nvSpPr>
        <p:spPr>
          <a:xfrm>
            <a:off x="6525014" y="2427511"/>
            <a:ext cx="4447786" cy="3581401"/>
          </a:xfrm>
          <a:prstGeom prst="rect">
            <a:avLst/>
          </a:prstGeom>
        </p:spPr>
        <p:txBody>
          <a:bodyPr/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 err="1"/>
              <a:t>Repetition</a:t>
            </a:r>
            <a:endParaRPr lang="fr-FR" b="1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Repeated</a:t>
            </a:r>
            <a:r>
              <a:rPr lang="fr-FR" dirty="0"/>
              <a:t> </a:t>
            </a:r>
            <a:r>
              <a:rPr lang="fr-FR" dirty="0" err="1"/>
              <a:t>accross</a:t>
            </a:r>
            <a:r>
              <a:rPr lang="fr-FR" dirty="0"/>
              <a:t> the </a:t>
            </a:r>
            <a:r>
              <a:rPr lang="fr-FR" dirty="0" err="1"/>
              <a:t>song</a:t>
            </a:r>
            <a:endParaRPr lang="fr-FR" dirty="0"/>
          </a:p>
          <a:p>
            <a:endParaRPr lang="en-GB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02F374F-F711-47FC-A09A-16A43DEC1D09}"/>
              </a:ext>
            </a:extLst>
          </p:cNvPr>
          <p:cNvCxnSpPr>
            <a:cxnSpLocks/>
          </p:cNvCxnSpPr>
          <p:nvPr/>
        </p:nvCxnSpPr>
        <p:spPr>
          <a:xfrm>
            <a:off x="6305323" y="2285999"/>
            <a:ext cx="0" cy="2818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FE754CA-23A6-4094-A7AA-0943B10E04B6}"/>
              </a:ext>
            </a:extLst>
          </p:cNvPr>
          <p:cNvSpPr txBox="1">
            <a:spLocks/>
          </p:cNvSpPr>
          <p:nvPr/>
        </p:nvSpPr>
        <p:spPr>
          <a:xfrm>
            <a:off x="1371600" y="5471137"/>
            <a:ext cx="9601200" cy="426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Notion of </a:t>
            </a:r>
            <a:r>
              <a:rPr lang="fr-FR" b="1" dirty="0" err="1"/>
              <a:t>similarity</a:t>
            </a:r>
            <a:r>
              <a:rPr lang="fr-FR" dirty="0"/>
              <a:t> and </a:t>
            </a:r>
            <a:r>
              <a:rPr lang="fr-FR" b="1" dirty="0" err="1"/>
              <a:t>dissimilarity</a:t>
            </a:r>
            <a:r>
              <a:rPr lang="fr-FR" dirty="0"/>
              <a:t> </a:t>
            </a:r>
            <a:r>
              <a:rPr lang="fr-FR" dirty="0" err="1"/>
              <a:t>accross</a:t>
            </a:r>
            <a:r>
              <a:rPr lang="fr-FR" dirty="0"/>
              <a:t> the </a:t>
            </a:r>
            <a:r>
              <a:rPr lang="fr-FR" dirty="0" err="1"/>
              <a:t>song</a:t>
            </a:r>
            <a:endParaRPr lang="fr-FR" dirty="0"/>
          </a:p>
        </p:txBody>
      </p:sp>
      <p:pic>
        <p:nvPicPr>
          <p:cNvPr id="11" name="Homogeneite Nirvana">
            <a:hlinkClick r:id="" action="ppaction://media"/>
            <a:extLst>
              <a:ext uri="{FF2B5EF4-FFF2-40B4-BE49-F238E27FC236}">
                <a16:creationId xmlns:a16="http://schemas.microsoft.com/office/drawing/2014/main" id="{E4FF8777-F88B-4EC6-8273-CB061508D0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392293" y="3225800"/>
            <a:ext cx="406400" cy="406400"/>
          </a:xfrm>
          <a:prstGeom prst="rect">
            <a:avLst/>
          </a:prstGeom>
        </p:spPr>
      </p:pic>
      <p:pic>
        <p:nvPicPr>
          <p:cNvPr id="12" name="repetition_shakira">
            <a:hlinkClick r:id="" action="ppaction://media"/>
            <a:extLst>
              <a:ext uri="{FF2B5EF4-FFF2-40B4-BE49-F238E27FC236}">
                <a16:creationId xmlns:a16="http://schemas.microsoft.com/office/drawing/2014/main" id="{E70DDAF8-7688-46F9-9C68-6404DEB7D3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545707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63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F8E8CEDC-64E3-4BB0-A9DB-8A6E2282832D}"/>
              </a:ext>
            </a:extLst>
          </p:cNvPr>
          <p:cNvSpPr txBox="1">
            <a:spLocks/>
          </p:cNvSpPr>
          <p:nvPr/>
        </p:nvSpPr>
        <p:spPr>
          <a:xfrm>
            <a:off x="1303189" y="184413"/>
            <a:ext cx="9601200" cy="1102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example</a:t>
            </a:r>
            <a:endParaRPr lang="fr-FR" dirty="0"/>
          </a:p>
          <a:p>
            <a:r>
              <a:rPr lang="fr-FR" sz="2400" dirty="0"/>
              <a:t>"Come </a:t>
            </a:r>
            <a:r>
              <a:rPr lang="fr-FR" sz="2400" dirty="0" err="1"/>
              <a:t>Together</a:t>
            </a:r>
            <a:r>
              <a:rPr lang="fr-FR" sz="2400" dirty="0"/>
              <a:t>" – </a:t>
            </a:r>
            <a:r>
              <a:rPr lang="fr-FR" sz="2400" i="1" dirty="0"/>
              <a:t>The Beatles</a:t>
            </a:r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C03D1834-37C5-457D-A154-291CE1854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30" y="1547698"/>
            <a:ext cx="10493198" cy="2911033"/>
          </a:xfr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5ED49EA-C6F1-4633-AA16-D5D6AC48B96A}"/>
              </a:ext>
            </a:extLst>
          </p:cNvPr>
          <p:cNvSpPr/>
          <p:nvPr/>
        </p:nvSpPr>
        <p:spPr>
          <a:xfrm>
            <a:off x="2267063" y="1704893"/>
            <a:ext cx="381451" cy="205394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41B3274-6133-4C24-AA55-6E85165DDBE9}"/>
              </a:ext>
            </a:extLst>
          </p:cNvPr>
          <p:cNvSpPr/>
          <p:nvPr/>
        </p:nvSpPr>
        <p:spPr>
          <a:xfrm>
            <a:off x="3465671" y="1704893"/>
            <a:ext cx="381451" cy="205394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487FAD7-CA7C-419D-98F3-267E90D039FD}"/>
              </a:ext>
            </a:extLst>
          </p:cNvPr>
          <p:cNvSpPr/>
          <p:nvPr/>
        </p:nvSpPr>
        <p:spPr>
          <a:xfrm>
            <a:off x="4843585" y="1704892"/>
            <a:ext cx="348902" cy="205394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47F649F-D3F4-4990-A87B-04D21441A59F}"/>
              </a:ext>
            </a:extLst>
          </p:cNvPr>
          <p:cNvSpPr/>
          <p:nvPr/>
        </p:nvSpPr>
        <p:spPr>
          <a:xfrm>
            <a:off x="6223893" y="1704892"/>
            <a:ext cx="163844" cy="205394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4C41E1F-1D96-4ECA-B620-FD9DF1CD14A5}"/>
              </a:ext>
            </a:extLst>
          </p:cNvPr>
          <p:cNvSpPr/>
          <p:nvPr/>
        </p:nvSpPr>
        <p:spPr>
          <a:xfrm>
            <a:off x="7277612" y="1704892"/>
            <a:ext cx="163844" cy="205394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7B573E3-A2BB-49F4-8197-57EAE9716E10}"/>
              </a:ext>
            </a:extLst>
          </p:cNvPr>
          <p:cNvSpPr/>
          <p:nvPr/>
        </p:nvSpPr>
        <p:spPr>
          <a:xfrm>
            <a:off x="8387379" y="1704892"/>
            <a:ext cx="375621" cy="205394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C202DE6-E031-4BB7-9E47-6923B9BB3BCA}"/>
              </a:ext>
            </a:extLst>
          </p:cNvPr>
          <p:cNvSpPr/>
          <p:nvPr/>
        </p:nvSpPr>
        <p:spPr>
          <a:xfrm>
            <a:off x="1515948" y="4807323"/>
            <a:ext cx="947165" cy="61183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Intro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285ED2CF-EF1A-4558-A1DB-663C74AA43E1}"/>
              </a:ext>
            </a:extLst>
          </p:cNvPr>
          <p:cNvSpPr/>
          <p:nvPr/>
        </p:nvSpPr>
        <p:spPr>
          <a:xfrm>
            <a:off x="2648514" y="1704893"/>
            <a:ext cx="407673" cy="205394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000AF0D-53F0-4427-A8BE-A8055D8781BB}"/>
              </a:ext>
            </a:extLst>
          </p:cNvPr>
          <p:cNvSpPr/>
          <p:nvPr/>
        </p:nvSpPr>
        <p:spPr>
          <a:xfrm>
            <a:off x="3847122" y="1704893"/>
            <a:ext cx="399722" cy="205394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FA9F309-704E-4852-9FF0-3A4DB50AADE9}"/>
              </a:ext>
            </a:extLst>
          </p:cNvPr>
          <p:cNvSpPr/>
          <p:nvPr/>
        </p:nvSpPr>
        <p:spPr>
          <a:xfrm>
            <a:off x="5192767" y="1704892"/>
            <a:ext cx="409484" cy="205394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A6508C8-0C3D-46E6-95F5-1CAA12C7C27B}"/>
              </a:ext>
            </a:extLst>
          </p:cNvPr>
          <p:cNvSpPr/>
          <p:nvPr/>
        </p:nvSpPr>
        <p:spPr>
          <a:xfrm>
            <a:off x="7441456" y="1704891"/>
            <a:ext cx="375621" cy="205394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98BE23A-E585-451A-8CBB-5B6AFDAF32FF}"/>
              </a:ext>
            </a:extLst>
          </p:cNvPr>
          <p:cNvSpPr/>
          <p:nvPr/>
        </p:nvSpPr>
        <p:spPr>
          <a:xfrm>
            <a:off x="3056188" y="1704891"/>
            <a:ext cx="409484" cy="20539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A78BFF7-A475-4326-9837-3CBD9A663CDD}"/>
              </a:ext>
            </a:extLst>
          </p:cNvPr>
          <p:cNvSpPr/>
          <p:nvPr/>
        </p:nvSpPr>
        <p:spPr>
          <a:xfrm>
            <a:off x="4246843" y="1704890"/>
            <a:ext cx="384583" cy="20539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A0193C3-FF60-421B-A65E-CD71C80A8DEA}"/>
              </a:ext>
            </a:extLst>
          </p:cNvPr>
          <p:cNvSpPr/>
          <p:nvPr/>
        </p:nvSpPr>
        <p:spPr>
          <a:xfrm>
            <a:off x="5596936" y="1704889"/>
            <a:ext cx="399722" cy="20539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E1B54211-4894-46F5-900A-DF62C54C7F8F}"/>
              </a:ext>
            </a:extLst>
          </p:cNvPr>
          <p:cNvSpPr/>
          <p:nvPr/>
        </p:nvSpPr>
        <p:spPr>
          <a:xfrm>
            <a:off x="7817077" y="1704888"/>
            <a:ext cx="348902" cy="20539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C5680CDC-5DA9-49BE-AFC0-73C8CC79E77B}"/>
              </a:ext>
            </a:extLst>
          </p:cNvPr>
          <p:cNvSpPr/>
          <p:nvPr/>
        </p:nvSpPr>
        <p:spPr>
          <a:xfrm>
            <a:off x="4626448" y="1696984"/>
            <a:ext cx="216858" cy="20539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191D4A85-FDF5-4E90-9866-E9257A002492}"/>
              </a:ext>
            </a:extLst>
          </p:cNvPr>
          <p:cNvSpPr/>
          <p:nvPr/>
        </p:nvSpPr>
        <p:spPr>
          <a:xfrm>
            <a:off x="5993507" y="1704886"/>
            <a:ext cx="220564" cy="20539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693CC702-4D3B-4F14-8679-6F5A2B74CEC2}"/>
              </a:ext>
            </a:extLst>
          </p:cNvPr>
          <p:cNvSpPr/>
          <p:nvPr/>
        </p:nvSpPr>
        <p:spPr>
          <a:xfrm>
            <a:off x="6391252" y="1704885"/>
            <a:ext cx="444461" cy="205394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86661E43-6BBF-42FE-96C8-6CD5C8F12705}"/>
              </a:ext>
            </a:extLst>
          </p:cNvPr>
          <p:cNvSpPr/>
          <p:nvPr/>
        </p:nvSpPr>
        <p:spPr>
          <a:xfrm>
            <a:off x="6833151" y="1696983"/>
            <a:ext cx="444461" cy="2053943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6C7C86A-54A1-4E75-9880-D5116B6460B1}"/>
              </a:ext>
            </a:extLst>
          </p:cNvPr>
          <p:cNvSpPr/>
          <p:nvPr/>
        </p:nvSpPr>
        <p:spPr>
          <a:xfrm>
            <a:off x="8165979" y="1696982"/>
            <a:ext cx="216858" cy="20539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D6B0D8FB-BAFD-4606-9326-1F121C645832}"/>
              </a:ext>
            </a:extLst>
          </p:cNvPr>
          <p:cNvSpPr/>
          <p:nvPr/>
        </p:nvSpPr>
        <p:spPr>
          <a:xfrm>
            <a:off x="8763000" y="1696981"/>
            <a:ext cx="2306028" cy="2053943"/>
          </a:xfrm>
          <a:prstGeom prst="roundRect">
            <a:avLst>
              <a:gd name="adj" fmla="val 6774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B1C68FDB-966A-4168-BF52-D1C870B7D06F}"/>
              </a:ext>
            </a:extLst>
          </p:cNvPr>
          <p:cNvSpPr/>
          <p:nvPr/>
        </p:nvSpPr>
        <p:spPr>
          <a:xfrm>
            <a:off x="1515948" y="5674036"/>
            <a:ext cx="947166" cy="61183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Verse 1</a:t>
            </a: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B6C6009B-115A-463C-8776-BF908388917E}"/>
              </a:ext>
            </a:extLst>
          </p:cNvPr>
          <p:cNvSpPr/>
          <p:nvPr/>
        </p:nvSpPr>
        <p:spPr>
          <a:xfrm>
            <a:off x="3751762" y="4807323"/>
            <a:ext cx="947165" cy="61183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Verse 2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EC0709E8-39AC-4BB9-A726-4E29178BA8FD}"/>
              </a:ext>
            </a:extLst>
          </p:cNvPr>
          <p:cNvSpPr/>
          <p:nvPr/>
        </p:nvSpPr>
        <p:spPr>
          <a:xfrm>
            <a:off x="3751761" y="5674036"/>
            <a:ext cx="947166" cy="61183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Chorus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1188FA6B-7E13-4A2D-988A-683C7508ACB0}"/>
              </a:ext>
            </a:extLst>
          </p:cNvPr>
          <p:cNvSpPr/>
          <p:nvPr/>
        </p:nvSpPr>
        <p:spPr>
          <a:xfrm>
            <a:off x="5900678" y="4801184"/>
            <a:ext cx="947165" cy="61183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Solo </a:t>
            </a:r>
          </a:p>
          <a:p>
            <a:pPr algn="ctr"/>
            <a:r>
              <a:rPr lang="en-GB" dirty="0"/>
              <a:t>1</a:t>
            </a:r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7AC7A480-A17D-4D4D-8486-54159EEAA0D6}"/>
              </a:ext>
            </a:extLst>
          </p:cNvPr>
          <p:cNvSpPr/>
          <p:nvPr/>
        </p:nvSpPr>
        <p:spPr>
          <a:xfrm>
            <a:off x="5900677" y="5674036"/>
            <a:ext cx="947165" cy="611837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Solo</a:t>
            </a:r>
          </a:p>
          <a:p>
            <a:pPr algn="ctr"/>
            <a:r>
              <a:rPr lang="en-GB" dirty="0"/>
              <a:t>2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85BBE907-BCC8-4329-8291-52298FC4BDBC}"/>
              </a:ext>
            </a:extLst>
          </p:cNvPr>
          <p:cNvSpPr/>
          <p:nvPr/>
        </p:nvSpPr>
        <p:spPr>
          <a:xfrm>
            <a:off x="7799707" y="4801183"/>
            <a:ext cx="947165" cy="61183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Outro</a:t>
            </a:r>
          </a:p>
        </p:txBody>
      </p:sp>
      <p:sp>
        <p:nvSpPr>
          <p:cNvPr id="39" name="Espace réservé du numéro de diapositive 3">
            <a:extLst>
              <a:ext uri="{FF2B5EF4-FFF2-40B4-BE49-F238E27FC236}">
                <a16:creationId xmlns:a16="http://schemas.microsoft.com/office/drawing/2014/main" id="{2BF9711F-3006-450B-AA57-D7F7722C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8</a:t>
            </a:fld>
            <a:endParaRPr lang="fr-FR" dirty="0"/>
          </a:p>
        </p:txBody>
      </p:sp>
      <p:pic>
        <p:nvPicPr>
          <p:cNvPr id="2" name="Intro ComeTogether">
            <a:hlinkClick r:id="" action="ppaction://media"/>
            <a:extLst>
              <a:ext uri="{FF2B5EF4-FFF2-40B4-BE49-F238E27FC236}">
                <a16:creationId xmlns:a16="http://schemas.microsoft.com/office/drawing/2014/main" id="{9FBD070E-56E2-44B8-A932-4C42D427DF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608576" y="4902388"/>
            <a:ext cx="406400" cy="406400"/>
          </a:xfrm>
          <a:prstGeom prst="rect">
            <a:avLst/>
          </a:prstGeom>
        </p:spPr>
      </p:pic>
      <p:pic>
        <p:nvPicPr>
          <p:cNvPr id="3" name="V1 come Together">
            <a:hlinkClick r:id="" action="ppaction://media"/>
            <a:extLst>
              <a:ext uri="{FF2B5EF4-FFF2-40B4-BE49-F238E27FC236}">
                <a16:creationId xmlns:a16="http://schemas.microsoft.com/office/drawing/2014/main" id="{74329666-EB5F-4388-B243-886D2579E4D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606117" y="5776754"/>
            <a:ext cx="406400" cy="406400"/>
          </a:xfrm>
          <a:prstGeom prst="rect">
            <a:avLst/>
          </a:prstGeom>
        </p:spPr>
      </p:pic>
      <p:pic>
        <p:nvPicPr>
          <p:cNvPr id="4" name="V2 Come Together">
            <a:hlinkClick r:id="" action="ppaction://media"/>
            <a:extLst>
              <a:ext uri="{FF2B5EF4-FFF2-40B4-BE49-F238E27FC236}">
                <a16:creationId xmlns:a16="http://schemas.microsoft.com/office/drawing/2014/main" id="{A26472C2-587D-478E-8F7B-B71C650DDB4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883349" y="4902388"/>
            <a:ext cx="406400" cy="406400"/>
          </a:xfrm>
          <a:prstGeom prst="rect">
            <a:avLst/>
          </a:prstGeom>
        </p:spPr>
      </p:pic>
      <p:pic>
        <p:nvPicPr>
          <p:cNvPr id="5" name="Chorus Come Together">
            <a:hlinkClick r:id="" action="ppaction://media"/>
            <a:extLst>
              <a:ext uri="{FF2B5EF4-FFF2-40B4-BE49-F238E27FC236}">
                <a16:creationId xmlns:a16="http://schemas.microsoft.com/office/drawing/2014/main" id="{F12BB7EC-C5E6-4382-8D13-87414C0EDBE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883349" y="5776754"/>
            <a:ext cx="406400" cy="406400"/>
          </a:xfrm>
          <a:prstGeom prst="rect">
            <a:avLst/>
          </a:prstGeom>
        </p:spPr>
      </p:pic>
      <p:pic>
        <p:nvPicPr>
          <p:cNvPr id="6" name="Solo1 Come Together">
            <a:hlinkClick r:id="" action="ppaction://media"/>
            <a:extLst>
              <a:ext uri="{FF2B5EF4-FFF2-40B4-BE49-F238E27FC236}">
                <a16:creationId xmlns:a16="http://schemas.microsoft.com/office/drawing/2014/main" id="{28F76C28-8157-4E72-B446-6F6446322F5D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008203" y="4902388"/>
            <a:ext cx="406400" cy="406400"/>
          </a:xfrm>
          <a:prstGeom prst="rect">
            <a:avLst/>
          </a:prstGeom>
        </p:spPr>
      </p:pic>
      <p:pic>
        <p:nvPicPr>
          <p:cNvPr id="7" name="Solo2 Come Together">
            <a:hlinkClick r:id="" action="ppaction://media"/>
            <a:extLst>
              <a:ext uri="{FF2B5EF4-FFF2-40B4-BE49-F238E27FC236}">
                <a16:creationId xmlns:a16="http://schemas.microsoft.com/office/drawing/2014/main" id="{8079E949-B967-4F66-B470-EC566576515F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008203" y="5776754"/>
            <a:ext cx="406400" cy="406400"/>
          </a:xfrm>
          <a:prstGeom prst="rect">
            <a:avLst/>
          </a:prstGeom>
        </p:spPr>
      </p:pic>
      <p:pic>
        <p:nvPicPr>
          <p:cNvPr id="8" name="Outro Come Together">
            <a:hlinkClick r:id="" action="ppaction://media"/>
            <a:extLst>
              <a:ext uri="{FF2B5EF4-FFF2-40B4-BE49-F238E27FC236}">
                <a16:creationId xmlns:a16="http://schemas.microsoft.com/office/drawing/2014/main" id="{2F8F1E64-7F5E-4CA1-B005-50D29DCA7CF8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928776" y="4910041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1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92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39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12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3" dur="74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9</a:t>
            </a:fld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B7761-B891-447D-AAEE-4A717B6E2DF9}"/>
              </a:ext>
            </a:extLst>
          </p:cNvPr>
          <p:cNvSpPr/>
          <p:nvPr/>
        </p:nvSpPr>
        <p:spPr>
          <a:xfrm>
            <a:off x="393697" y="916411"/>
            <a:ext cx="35910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1A2E40"/>
                </a:solidFill>
              </a:rPr>
              <a:t>Machine Learning?</a:t>
            </a:r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FE4CC7B-E0CF-4E9F-99E7-D6C0B243A69B}"/>
              </a:ext>
            </a:extLst>
          </p:cNvPr>
          <p:cNvSpPr txBox="1"/>
          <p:nvPr/>
        </p:nvSpPr>
        <p:spPr>
          <a:xfrm>
            <a:off x="6659487" y="3188093"/>
            <a:ext cx="2167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List of boundaries</a:t>
            </a:r>
          </a:p>
          <a:p>
            <a:pPr algn="ctr"/>
            <a:r>
              <a:rPr lang="en-GB" sz="1400" i="1" dirty="0"/>
              <a:t>(e.g. [0, 3.1, 4.5])</a:t>
            </a:r>
            <a:r>
              <a:rPr lang="en-GB" sz="2000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2EE487-B032-474D-AD86-101A6AB116D8}"/>
              </a:ext>
            </a:extLst>
          </p:cNvPr>
          <p:cNvSpPr/>
          <p:nvPr/>
        </p:nvSpPr>
        <p:spPr>
          <a:xfrm>
            <a:off x="5885481" y="1972091"/>
            <a:ext cx="3715724" cy="87169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Segmentation</a:t>
            </a:r>
          </a:p>
          <a:p>
            <a:pPr algn="ctr"/>
            <a:r>
              <a:rPr lang="en-GB" dirty="0"/>
              <a:t>algorithm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CA9D5EB-4AB3-402B-9D00-7A151712AC02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>
            <a:off x="7743343" y="1627783"/>
            <a:ext cx="0" cy="34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A502AA0-D39A-4911-AFCD-30419831E8D9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7743342" y="2843785"/>
            <a:ext cx="1" cy="34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C865BE55-A2CA-4D61-8B95-B798258AF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480" y="212196"/>
            <a:ext cx="3715725" cy="1415587"/>
          </a:xfrm>
          <a:prstGeom prst="rect">
            <a:avLst/>
          </a:prstGeom>
        </p:spPr>
      </p:pic>
      <p:sp>
        <p:nvSpPr>
          <p:cNvPr id="52" name="Flèche : droite 51">
            <a:extLst>
              <a:ext uri="{FF2B5EF4-FFF2-40B4-BE49-F238E27FC236}">
                <a16:creationId xmlns:a16="http://schemas.microsoft.com/office/drawing/2014/main" id="{61E14F21-BE45-44D9-9A7D-1DDF47E11F9B}"/>
              </a:ext>
            </a:extLst>
          </p:cNvPr>
          <p:cNvSpPr/>
          <p:nvPr/>
        </p:nvSpPr>
        <p:spPr>
          <a:xfrm>
            <a:off x="5041200" y="5564659"/>
            <a:ext cx="1688559" cy="888727"/>
          </a:xfrm>
          <a:prstGeom prst="rightArrow">
            <a:avLst>
              <a:gd name="adj1" fmla="val 50000"/>
              <a:gd name="adj2" fmla="val 513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Machine Learning</a:t>
            </a:r>
          </a:p>
        </p:txBody>
      </p:sp>
      <p:sp>
        <p:nvSpPr>
          <p:cNvPr id="53" name="Espace réservé du contenu 4">
            <a:extLst>
              <a:ext uri="{FF2B5EF4-FFF2-40B4-BE49-F238E27FC236}">
                <a16:creationId xmlns:a16="http://schemas.microsoft.com/office/drawing/2014/main" id="{C51F6261-4BF1-4015-9A69-8E717E28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936" y="4568808"/>
            <a:ext cx="5346064" cy="52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err="1"/>
              <a:t>Decision</a:t>
            </a:r>
            <a:r>
              <a:rPr lang="fr-FR" sz="1800" dirty="0"/>
              <a:t>: </a:t>
            </a:r>
            <a:r>
              <a:rPr lang="fr-FR" sz="1800" b="1" dirty="0" err="1"/>
              <a:t>determined</a:t>
            </a:r>
            <a:r>
              <a:rPr lang="fr-FR" sz="1800" b="1" dirty="0"/>
              <a:t> by a </a:t>
            </a:r>
            <a:r>
              <a:rPr lang="fr-FR" sz="1800" b="1" dirty="0" err="1"/>
              <a:t>human</a:t>
            </a:r>
            <a:r>
              <a:rPr lang="fr-FR" sz="1800" b="1" dirty="0"/>
              <a:t> </a:t>
            </a:r>
            <a:r>
              <a:rPr lang="fr-FR" sz="1800" dirty="0"/>
              <a:t>(</a:t>
            </a:r>
            <a:r>
              <a:rPr lang="fr-FR" sz="1800" dirty="0" err="1"/>
              <a:t>coded</a:t>
            </a:r>
            <a:r>
              <a:rPr lang="fr-FR" sz="1800" dirty="0"/>
              <a:t>)</a:t>
            </a:r>
          </a:p>
        </p:txBody>
      </p:sp>
      <p:sp>
        <p:nvSpPr>
          <p:cNvPr id="54" name="Flèche : droite 53">
            <a:extLst>
              <a:ext uri="{FF2B5EF4-FFF2-40B4-BE49-F238E27FC236}">
                <a16:creationId xmlns:a16="http://schemas.microsoft.com/office/drawing/2014/main" id="{206C57D6-9190-496D-A89B-BA1EE3B0E561}"/>
              </a:ext>
            </a:extLst>
          </p:cNvPr>
          <p:cNvSpPr/>
          <p:nvPr/>
        </p:nvSpPr>
        <p:spPr>
          <a:xfrm>
            <a:off x="5028069" y="4312734"/>
            <a:ext cx="1688559" cy="888727"/>
          </a:xfrm>
          <a:prstGeom prst="rightArrow">
            <a:avLst>
              <a:gd name="adj1" fmla="val 50000"/>
              <a:gd name="adj2" fmla="val 513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Conventional</a:t>
            </a:r>
            <a:r>
              <a:rPr lang="fr-FR" sz="1400" dirty="0"/>
              <a:t> </a:t>
            </a:r>
            <a:r>
              <a:rPr lang="fr-FR" sz="1400" dirty="0" err="1"/>
              <a:t>algorithm</a:t>
            </a:r>
            <a:endParaRPr lang="fr-FR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8C1D1F-84EE-475E-A705-E84A0DD3A9D3}"/>
              </a:ext>
            </a:extLst>
          </p:cNvPr>
          <p:cNvSpPr/>
          <p:nvPr/>
        </p:nvSpPr>
        <p:spPr>
          <a:xfrm>
            <a:off x="6845936" y="5824356"/>
            <a:ext cx="4023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Decision</a:t>
            </a:r>
            <a:r>
              <a:rPr lang="fr-FR" dirty="0"/>
              <a:t>:</a:t>
            </a:r>
            <a:r>
              <a:rPr lang="fr-FR" b="1" dirty="0"/>
              <a:t> </a:t>
            </a:r>
            <a:r>
              <a:rPr lang="fr-FR" b="1" dirty="0" err="1"/>
              <a:t>inferred</a:t>
            </a:r>
            <a:r>
              <a:rPr lang="fr-FR" b="1" dirty="0"/>
              <a:t> </a:t>
            </a:r>
            <a:r>
              <a:rPr lang="fr-FR" b="1" dirty="0" err="1"/>
              <a:t>from</a:t>
            </a:r>
            <a:r>
              <a:rPr lang="fr-FR" b="1" dirty="0"/>
              <a:t> data </a:t>
            </a:r>
            <a:r>
              <a:rPr lang="fr-FR" dirty="0"/>
              <a:t>("</a:t>
            </a:r>
            <a:r>
              <a:rPr lang="fr-FR" dirty="0" err="1"/>
              <a:t>learning</a:t>
            </a:r>
            <a:r>
              <a:rPr lang="fr-FR" dirty="0"/>
              <a:t>")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749CCCF0-65F2-4424-B24B-DE9EB7A5958C}"/>
              </a:ext>
            </a:extLst>
          </p:cNvPr>
          <p:cNvCxnSpPr>
            <a:cxnSpLocks/>
          </p:cNvCxnSpPr>
          <p:nvPr/>
        </p:nvCxnSpPr>
        <p:spPr>
          <a:xfrm>
            <a:off x="5347855" y="4110183"/>
            <a:ext cx="52462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EA858EC-95BF-48B4-99D8-AB0764E3C5C9}"/>
              </a:ext>
            </a:extLst>
          </p:cNvPr>
          <p:cNvCxnSpPr>
            <a:cxnSpLocks/>
          </p:cNvCxnSpPr>
          <p:nvPr/>
        </p:nvCxnSpPr>
        <p:spPr>
          <a:xfrm>
            <a:off x="6406772" y="233460"/>
            <a:ext cx="0" cy="1127506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B31805B3-54C0-4E31-B7B0-59CDCCAB8152}"/>
              </a:ext>
            </a:extLst>
          </p:cNvPr>
          <p:cNvCxnSpPr>
            <a:cxnSpLocks/>
          </p:cNvCxnSpPr>
          <p:nvPr/>
        </p:nvCxnSpPr>
        <p:spPr>
          <a:xfrm>
            <a:off x="7674934" y="232906"/>
            <a:ext cx="0" cy="1127506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D98CC78-9E46-43F7-98AC-6EFAC7E639E1}"/>
              </a:ext>
            </a:extLst>
          </p:cNvPr>
          <p:cNvCxnSpPr>
            <a:cxnSpLocks/>
          </p:cNvCxnSpPr>
          <p:nvPr/>
        </p:nvCxnSpPr>
        <p:spPr>
          <a:xfrm>
            <a:off x="8222511" y="233460"/>
            <a:ext cx="0" cy="1127506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70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uiExpand="1" build="p"/>
      <p:bldP spid="54" grpId="0" animBg="1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061258-80FC-4E4F-B3C6-A873CDA2EF36}"/>
              </a:ext>
            </a:extLst>
          </p:cNvPr>
          <p:cNvSpPr/>
          <p:nvPr/>
        </p:nvSpPr>
        <p:spPr>
          <a:xfrm>
            <a:off x="9325232" y="2246600"/>
            <a:ext cx="1655806" cy="2659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52DBA8-16D3-4D1F-958D-E80A4DBF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768" y="82659"/>
            <a:ext cx="9601200" cy="874336"/>
          </a:xfrm>
        </p:spPr>
        <p:txBody>
          <a:bodyPr>
            <a:normAutofit/>
          </a:bodyPr>
          <a:lstStyle/>
          <a:p>
            <a:r>
              <a:rPr lang="fr-FR" dirty="0" err="1"/>
              <a:t>Supervised</a:t>
            </a:r>
            <a:r>
              <a:rPr lang="fr-FR" dirty="0"/>
              <a:t> Machine Learning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0FCFBF-CF9E-4172-8476-65472023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453386"/>
            <a:ext cx="490500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10</a:t>
            </a:fld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A43B34-E1F6-4DF8-BA1C-EA7F7AA8ADBC}"/>
              </a:ext>
            </a:extLst>
          </p:cNvPr>
          <p:cNvSpPr/>
          <p:nvPr/>
        </p:nvSpPr>
        <p:spPr>
          <a:xfrm>
            <a:off x="5492868" y="2916091"/>
            <a:ext cx="2162897" cy="127295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Machine Learning algorithm</a:t>
            </a:r>
          </a:p>
          <a:p>
            <a:pPr algn="ctr"/>
            <a:r>
              <a:rPr lang="en-GB" dirty="0"/>
              <a:t>(learning phase)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73DEEF6-18D1-44EC-BE3E-EA791D99760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862212" y="2357653"/>
            <a:ext cx="630656" cy="119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EB574B9C-BECF-4B87-BB9F-6EB4C2AF9C9B}"/>
              </a:ext>
            </a:extLst>
          </p:cNvPr>
          <p:cNvCxnSpPr>
            <a:cxnSpLocks/>
            <a:stCxn id="36" idx="3"/>
            <a:endCxn id="20" idx="1"/>
          </p:cNvCxnSpPr>
          <p:nvPr/>
        </p:nvCxnSpPr>
        <p:spPr>
          <a:xfrm>
            <a:off x="4851258" y="3552569"/>
            <a:ext cx="641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C9E9EE6-9F22-4C53-96AC-F045565CC56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862212" y="3552569"/>
            <a:ext cx="630656" cy="113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E04E2BE8-7953-4C05-ACA8-60A62F519671}"/>
              </a:ext>
            </a:extLst>
          </p:cNvPr>
          <p:cNvSpPr txBox="1"/>
          <p:nvPr/>
        </p:nvSpPr>
        <p:spPr>
          <a:xfrm>
            <a:off x="2204039" y="5838481"/>
            <a:ext cx="377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…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1E06708-1151-47F9-8D3C-17967659DA96}"/>
              </a:ext>
            </a:extLst>
          </p:cNvPr>
          <p:cNvCxnSpPr>
            <a:cxnSpLocks/>
          </p:cNvCxnSpPr>
          <p:nvPr/>
        </p:nvCxnSpPr>
        <p:spPr>
          <a:xfrm>
            <a:off x="7866764" y="1381203"/>
            <a:ext cx="0" cy="4734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Espace réservé du contenu 4">
            <a:extLst>
              <a:ext uri="{FF2B5EF4-FFF2-40B4-BE49-F238E27FC236}">
                <a16:creationId xmlns:a16="http://schemas.microsoft.com/office/drawing/2014/main" id="{5555F1B4-19A5-4897-B762-DE63657C0685}"/>
              </a:ext>
            </a:extLst>
          </p:cNvPr>
          <p:cNvSpPr txBox="1">
            <a:spLocks/>
          </p:cNvSpPr>
          <p:nvPr/>
        </p:nvSpPr>
        <p:spPr>
          <a:xfrm>
            <a:off x="7924951" y="1548429"/>
            <a:ext cx="4267049" cy="1880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Learning: data </a:t>
            </a:r>
            <a:r>
              <a:rPr lang="fr-FR" sz="1800" dirty="0">
                <a:sym typeface="Wingdings" panose="05000000000000000000" pitchFamily="2" charset="2"/>
              </a:rPr>
              <a:t></a:t>
            </a:r>
            <a:r>
              <a:rPr lang="fr-FR" sz="1800" dirty="0"/>
              <a:t> annotation</a:t>
            </a:r>
          </a:p>
          <a:p>
            <a:pPr lvl="1"/>
            <a:r>
              <a:rPr lang="fr-FR" sz="1600" dirty="0" err="1"/>
              <a:t>Requires</a:t>
            </a:r>
            <a:r>
              <a:rPr lang="fr-FR" sz="1600" dirty="0"/>
              <a:t> an </a:t>
            </a:r>
            <a:r>
              <a:rPr lang="fr-FR" sz="1600" dirty="0" err="1"/>
              <a:t>annotated</a:t>
            </a:r>
            <a:r>
              <a:rPr lang="fr-FR" sz="1600" dirty="0"/>
              <a:t> </a:t>
            </a:r>
            <a:r>
              <a:rPr lang="fr-FR" sz="1600" dirty="0" err="1"/>
              <a:t>database</a:t>
            </a:r>
            <a:endParaRPr lang="fr-FR" sz="1600" dirty="0"/>
          </a:p>
          <a:p>
            <a:pPr lvl="2"/>
            <a:r>
              <a:rPr lang="fr-FR" sz="1600" dirty="0"/>
              <a:t>RWC Pop </a:t>
            </a:r>
            <a:r>
              <a:rPr lang="fr-FR" sz="1400" i="0" dirty="0"/>
              <a:t>[Got+02]</a:t>
            </a:r>
            <a:r>
              <a:rPr lang="fr-FR" sz="1600" dirty="0"/>
              <a:t> </a:t>
            </a:r>
          </a:p>
          <a:p>
            <a:pPr lvl="2"/>
            <a:r>
              <a:rPr lang="fr-FR" sz="1600" dirty="0"/>
              <a:t>SALAMI </a:t>
            </a:r>
            <a:r>
              <a:rPr lang="en-GB" sz="1400" i="0" dirty="0"/>
              <a:t>[Smi+11]</a:t>
            </a:r>
            <a:endParaRPr lang="fr-FR" sz="1400" i="0" dirty="0"/>
          </a:p>
          <a:p>
            <a:pPr lvl="1"/>
            <a:endParaRPr lang="fr-FR" sz="1600" dirty="0"/>
          </a:p>
          <a:p>
            <a:endParaRPr lang="fr-FR" sz="1600" dirty="0"/>
          </a:p>
        </p:txBody>
      </p:sp>
      <p:pic>
        <p:nvPicPr>
          <p:cNvPr id="28" name="Graphique 27" descr="Fermer">
            <a:extLst>
              <a:ext uri="{FF2B5EF4-FFF2-40B4-BE49-F238E27FC236}">
                <a16:creationId xmlns:a16="http://schemas.microsoft.com/office/drawing/2014/main" id="{E0B33F0D-2E0B-44C5-891B-4251DBE30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125" y="4684750"/>
            <a:ext cx="394375" cy="394375"/>
          </a:xfrm>
          <a:prstGeom prst="rect">
            <a:avLst/>
          </a:prstGeom>
        </p:spPr>
      </p:pic>
      <p:pic>
        <p:nvPicPr>
          <p:cNvPr id="29" name="Graphique 28" descr="Coche">
            <a:extLst>
              <a:ext uri="{FF2B5EF4-FFF2-40B4-BE49-F238E27FC236}">
                <a16:creationId xmlns:a16="http://schemas.microsoft.com/office/drawing/2014/main" id="{E7CC80D2-3000-43F7-A334-EAB4B4C165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1232" y="4134078"/>
            <a:ext cx="394375" cy="3943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EB95F2-9B79-424D-9B50-BA5CF25244A4}"/>
              </a:ext>
            </a:extLst>
          </p:cNvPr>
          <p:cNvSpPr/>
          <p:nvPr/>
        </p:nvSpPr>
        <p:spPr>
          <a:xfrm>
            <a:off x="8647139" y="4136637"/>
            <a:ext cx="31878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State-of-the-Art</a:t>
            </a:r>
          </a:p>
          <a:p>
            <a:endParaRPr lang="fr-FR" dirty="0"/>
          </a:p>
          <a:p>
            <a:r>
              <a:rPr lang="fr-FR" dirty="0"/>
              <a:t>Time and </a:t>
            </a:r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consuming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Annotations: </a:t>
            </a:r>
            <a:r>
              <a:rPr lang="fr-FR" b="1" i="1" dirty="0"/>
              <a:t>Hard to </a:t>
            </a:r>
            <a:r>
              <a:rPr lang="fr-FR" b="1" i="1" dirty="0" err="1"/>
              <a:t>collect</a:t>
            </a:r>
            <a:r>
              <a:rPr lang="fr-FR" b="1" i="1" dirty="0"/>
              <a:t> </a:t>
            </a:r>
            <a:r>
              <a:rPr lang="fr-FR" dirty="0"/>
              <a:t>and </a:t>
            </a:r>
            <a:r>
              <a:rPr lang="fr-FR" b="1" i="1" dirty="0"/>
              <a:t>subjective</a:t>
            </a:r>
          </a:p>
        </p:txBody>
      </p:sp>
      <p:pic>
        <p:nvPicPr>
          <p:cNvPr id="30" name="Graphique 29" descr="Fermer">
            <a:extLst>
              <a:ext uri="{FF2B5EF4-FFF2-40B4-BE49-F238E27FC236}">
                <a16:creationId xmlns:a16="http://schemas.microsoft.com/office/drawing/2014/main" id="{219AE133-B687-49FA-AEA5-46F5220D4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2334" y="5359845"/>
            <a:ext cx="394375" cy="3943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71F3D9-69A2-49B5-BA0D-5C0A921AFD33}"/>
              </a:ext>
            </a:extLst>
          </p:cNvPr>
          <p:cNvSpPr/>
          <p:nvPr/>
        </p:nvSpPr>
        <p:spPr>
          <a:xfrm>
            <a:off x="8655607" y="3603866"/>
            <a:ext cx="25850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i="1" u="sng" dirty="0" err="1"/>
              <a:t>deep</a:t>
            </a:r>
            <a:r>
              <a:rPr lang="fr-FR" sz="2400" i="1" u="sng" dirty="0"/>
              <a:t> </a:t>
            </a:r>
            <a:r>
              <a:rPr lang="fr-FR" sz="2400" i="1" u="sng" dirty="0" err="1"/>
              <a:t>learning</a:t>
            </a:r>
            <a:r>
              <a:rPr lang="fr-FR" sz="2400" i="1" dirty="0"/>
              <a:t> </a:t>
            </a:r>
            <a:r>
              <a:rPr lang="fr-FR" sz="1400" dirty="0"/>
              <a:t>[GS15]</a:t>
            </a:r>
            <a:endParaRPr lang="fr-FR" sz="24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FE37D36-6EA2-4EC6-A8B9-8A1CA263F679}"/>
              </a:ext>
            </a:extLst>
          </p:cNvPr>
          <p:cNvSpPr txBox="1"/>
          <p:nvPr/>
        </p:nvSpPr>
        <p:spPr>
          <a:xfrm>
            <a:off x="3456022" y="4809248"/>
            <a:ext cx="143545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Annotation:</a:t>
            </a:r>
          </a:p>
          <a:p>
            <a:r>
              <a:rPr lang="en-GB" b="1" dirty="0"/>
              <a:t>No boundary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A64A6E-3ACB-4B20-B381-832D50B487F9}"/>
              </a:ext>
            </a:extLst>
          </p:cNvPr>
          <p:cNvSpPr/>
          <p:nvPr/>
        </p:nvSpPr>
        <p:spPr>
          <a:xfrm>
            <a:off x="983922" y="4466502"/>
            <a:ext cx="3876861" cy="1341345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DA4ABB8-F9F7-4D7A-881C-236D3191A1DA}"/>
              </a:ext>
            </a:extLst>
          </p:cNvPr>
          <p:cNvSpPr txBox="1"/>
          <p:nvPr/>
        </p:nvSpPr>
        <p:spPr>
          <a:xfrm>
            <a:off x="3497717" y="3233740"/>
            <a:ext cx="11721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Annotation:</a:t>
            </a:r>
          </a:p>
          <a:p>
            <a:r>
              <a:rPr lang="en-GB" b="1" dirty="0"/>
              <a:t>Boundary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87906A-91DB-4FC3-BFB5-A0AD5364EF69}"/>
              </a:ext>
            </a:extLst>
          </p:cNvPr>
          <p:cNvSpPr/>
          <p:nvPr/>
        </p:nvSpPr>
        <p:spPr>
          <a:xfrm>
            <a:off x="974397" y="2857928"/>
            <a:ext cx="3876861" cy="138928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4EF3899-8CEB-423B-AE8C-5DB8C5C9F0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28" y="2892817"/>
            <a:ext cx="2314504" cy="1299537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02C5B504-17D3-4F24-AF09-CC56B335A2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26" y="4503948"/>
            <a:ext cx="2321199" cy="125693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D8524A3-E1BA-46D5-8989-8A31263ECA8B}"/>
              </a:ext>
            </a:extLst>
          </p:cNvPr>
          <p:cNvSpPr/>
          <p:nvPr/>
        </p:nvSpPr>
        <p:spPr>
          <a:xfrm>
            <a:off x="974396" y="1312123"/>
            <a:ext cx="3876861" cy="1370927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0C4F8233-79DD-488D-8A78-479989FDE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27" y="1344865"/>
            <a:ext cx="2321199" cy="1303296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D339ADFF-0F3C-46BC-928A-9F5735521453}"/>
              </a:ext>
            </a:extLst>
          </p:cNvPr>
          <p:cNvSpPr txBox="1"/>
          <p:nvPr/>
        </p:nvSpPr>
        <p:spPr>
          <a:xfrm>
            <a:off x="3401497" y="1674389"/>
            <a:ext cx="143545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Annotation:</a:t>
            </a:r>
          </a:p>
          <a:p>
            <a:r>
              <a:rPr lang="en-GB" b="1" dirty="0"/>
              <a:t>No boundary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6DBC47-4B63-49DA-992C-F9FDFE978179}"/>
              </a:ext>
            </a:extLst>
          </p:cNvPr>
          <p:cNvSpPr/>
          <p:nvPr/>
        </p:nvSpPr>
        <p:spPr>
          <a:xfrm>
            <a:off x="974396" y="6302825"/>
            <a:ext cx="1026620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dirty="0"/>
              <a:t>[GS15] </a:t>
            </a:r>
            <a:r>
              <a:rPr lang="en-US" sz="900" dirty="0"/>
              <a:t>Grill, T. and Schlüter, J., « Music Boundary Detection Using Neural Networks on Combined Features and Two-Level Annotations. », </a:t>
            </a:r>
            <a:r>
              <a:rPr lang="en-US" sz="900" i="1" dirty="0"/>
              <a:t>in</a:t>
            </a:r>
            <a:r>
              <a:rPr lang="en-US" sz="900" dirty="0"/>
              <a:t>: </a:t>
            </a:r>
            <a:r>
              <a:rPr lang="en-US" sz="900" i="1" dirty="0"/>
              <a:t>ISMIR</a:t>
            </a:r>
            <a:r>
              <a:rPr lang="en-US" sz="900" dirty="0"/>
              <a:t>, </a:t>
            </a:r>
            <a:r>
              <a:rPr lang="en-GB" sz="900" dirty="0"/>
              <a:t>2015, pp. 531–537</a:t>
            </a:r>
          </a:p>
          <a:p>
            <a:r>
              <a:rPr lang="fr-FR" sz="900" dirty="0"/>
              <a:t>[Got+02] </a:t>
            </a:r>
            <a:r>
              <a:rPr lang="en-GB" sz="900" dirty="0" err="1"/>
              <a:t>Goto</a:t>
            </a:r>
            <a:r>
              <a:rPr lang="en-GB" sz="900" dirty="0"/>
              <a:t>, M., Hashiguchi, H., Nishimura, T., and Oka, R., « RWC Music Database: </a:t>
            </a:r>
            <a:r>
              <a:rPr lang="en-US" sz="900" dirty="0"/>
              <a:t>Popular, Classical and Jazz Music Databases », </a:t>
            </a:r>
            <a:r>
              <a:rPr lang="en-US" sz="900" i="1" dirty="0"/>
              <a:t>in</a:t>
            </a:r>
            <a:r>
              <a:rPr lang="en-US" sz="900" dirty="0"/>
              <a:t>: </a:t>
            </a:r>
            <a:r>
              <a:rPr lang="en-US" sz="900" i="1" dirty="0"/>
              <a:t>ISMIR</a:t>
            </a:r>
            <a:r>
              <a:rPr lang="en-US" sz="900" dirty="0"/>
              <a:t>, vol. 2, 2002, </a:t>
            </a:r>
            <a:r>
              <a:rPr lang="en-GB" sz="900" dirty="0"/>
              <a:t>pp. 287–288.</a:t>
            </a:r>
            <a:endParaRPr lang="en-US" sz="900" dirty="0"/>
          </a:p>
          <a:p>
            <a:r>
              <a:rPr lang="en-GB" sz="900" dirty="0"/>
              <a:t>[Smi+11] Smith, J.B.L., Burgoyne, J.A., </a:t>
            </a:r>
            <a:r>
              <a:rPr lang="en-GB" sz="900" dirty="0" err="1"/>
              <a:t>Fujinaga</a:t>
            </a:r>
            <a:r>
              <a:rPr lang="en-GB" sz="900" dirty="0"/>
              <a:t>, I., De </a:t>
            </a:r>
            <a:r>
              <a:rPr lang="en-GB" sz="900" dirty="0" err="1"/>
              <a:t>Roure</a:t>
            </a:r>
            <a:r>
              <a:rPr lang="en-GB" sz="900" dirty="0"/>
              <a:t>, D., and </a:t>
            </a:r>
            <a:r>
              <a:rPr lang="en-GB" sz="900" dirty="0" err="1"/>
              <a:t>Downie</a:t>
            </a:r>
            <a:r>
              <a:rPr lang="en-GB" sz="900" dirty="0"/>
              <a:t>, J.S., </a:t>
            </a:r>
            <a:r>
              <a:rPr lang="en-US" sz="900" dirty="0"/>
              <a:t>« Design and creation of a large-scale database of structural annotations. », </a:t>
            </a:r>
            <a:r>
              <a:rPr lang="nl-NL" sz="900" i="1" dirty="0"/>
              <a:t>in</a:t>
            </a:r>
            <a:r>
              <a:rPr lang="nl-NL" sz="900" dirty="0"/>
              <a:t>: </a:t>
            </a:r>
            <a:r>
              <a:rPr lang="nl-NL" sz="900" i="1" dirty="0"/>
              <a:t>ISMIR</a:t>
            </a:r>
            <a:r>
              <a:rPr lang="nl-NL" sz="900" dirty="0"/>
              <a:t>, vol. 11, Miami, FL, 2011, pp. 555–560.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73553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2DBA8-16D3-4D1F-958D-E80A4DBF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768" y="82659"/>
            <a:ext cx="9601200" cy="874336"/>
          </a:xfrm>
        </p:spPr>
        <p:txBody>
          <a:bodyPr>
            <a:normAutofit/>
          </a:bodyPr>
          <a:lstStyle/>
          <a:p>
            <a:r>
              <a:rPr lang="fr-FR" dirty="0" err="1"/>
              <a:t>Unsupervised</a:t>
            </a:r>
            <a:r>
              <a:rPr lang="fr-FR" dirty="0"/>
              <a:t> Machine Learning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0FCFBF-CF9E-4172-8476-65472023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11</a:t>
            </a:fld>
            <a:endParaRPr lang="fr-FR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F6589A23-139D-4969-BB55-0DC904D6B14A}"/>
              </a:ext>
            </a:extLst>
          </p:cNvPr>
          <p:cNvSpPr txBox="1">
            <a:spLocks/>
          </p:cNvSpPr>
          <p:nvPr/>
        </p:nvSpPr>
        <p:spPr>
          <a:xfrm>
            <a:off x="1127415" y="1697302"/>
            <a:ext cx="5787735" cy="3603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Based</a:t>
            </a:r>
            <a:r>
              <a:rPr lang="fr-FR" dirty="0"/>
              <a:t> on the </a:t>
            </a:r>
            <a:r>
              <a:rPr lang="fr-FR" dirty="0" err="1"/>
              <a:t>similarity</a:t>
            </a:r>
            <a:r>
              <a:rPr lang="fr-FR" dirty="0"/>
              <a:t> of the data</a:t>
            </a:r>
          </a:p>
          <a:p>
            <a:pPr lvl="1"/>
            <a:r>
              <a:rPr lang="fr-FR" sz="1600" dirty="0" err="1"/>
              <a:t>Does</a:t>
            </a:r>
            <a:r>
              <a:rPr lang="fr-FR" sz="1600" dirty="0"/>
              <a:t> not </a:t>
            </a:r>
            <a:r>
              <a:rPr lang="fr-FR" sz="1600" dirty="0" err="1"/>
              <a:t>depend</a:t>
            </a:r>
            <a:r>
              <a:rPr lang="fr-FR" sz="1600" dirty="0"/>
              <a:t> on annotation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Autosimilarity matrix:</a:t>
            </a:r>
          </a:p>
          <a:p>
            <a:pPr lvl="1"/>
            <a:r>
              <a:rPr lang="fr-FR" sz="1600" dirty="0" err="1"/>
              <a:t>similarity</a:t>
            </a:r>
            <a:r>
              <a:rPr lang="fr-FR" sz="1600" dirty="0"/>
              <a:t> </a:t>
            </a:r>
            <a:r>
              <a:rPr lang="fr-FR" sz="1600" dirty="0" err="1"/>
              <a:t>accross</a:t>
            </a:r>
            <a:r>
              <a:rPr lang="fr-FR" sz="1600" dirty="0"/>
              <a:t> time</a:t>
            </a:r>
          </a:p>
          <a:p>
            <a:pPr lvl="1"/>
            <a:r>
              <a:rPr lang="fr-FR" sz="1600" dirty="0"/>
              <a:t>Most of </a:t>
            </a:r>
            <a:r>
              <a:rPr lang="fr-FR" sz="1600" dirty="0" err="1"/>
              <a:t>unsupervised</a:t>
            </a:r>
            <a:r>
              <a:rPr lang="fr-FR" sz="1600" dirty="0"/>
              <a:t> state-of-the-art techniques </a:t>
            </a:r>
            <a:r>
              <a:rPr lang="fr-FR" sz="1300" dirty="0"/>
              <a:t>[Foo00, </a:t>
            </a:r>
            <a:r>
              <a:rPr lang="en-US" sz="1300" dirty="0"/>
              <a:t>ME14, Ser+14] </a:t>
            </a:r>
            <a:endParaRPr lang="fr-FR" sz="1300" dirty="0"/>
          </a:p>
          <a:p>
            <a:pPr lvl="1"/>
            <a:endParaRPr lang="fr-FR" dirty="0"/>
          </a:p>
          <a:p>
            <a:endParaRPr lang="fr-FR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EEF53F9-A63C-4E0B-A5E0-E7BEB2EAD7A9}"/>
              </a:ext>
            </a:extLst>
          </p:cNvPr>
          <p:cNvGrpSpPr>
            <a:grpSpLocks noChangeAspect="1"/>
          </p:cNvGrpSpPr>
          <p:nvPr/>
        </p:nvGrpSpPr>
        <p:grpSpPr>
          <a:xfrm>
            <a:off x="7220594" y="1127651"/>
            <a:ext cx="4025374" cy="4025374"/>
            <a:chOff x="6908014" y="2408806"/>
            <a:chExt cx="3725084" cy="3610466"/>
          </a:xfrm>
        </p:grpSpPr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592E2953-DD2B-4D12-AFD1-1D276BEA6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8014" y="2408806"/>
              <a:ext cx="3725084" cy="3610466"/>
            </a:xfrm>
            <a:prstGeom prst="rect">
              <a:avLst/>
            </a:prstGeom>
          </p:spPr>
        </p:pic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8D8E1F4D-1EDD-4903-BB2C-D0FA0D4A6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05" t="19571" r="513" b="556"/>
            <a:stretch/>
          </p:blipFill>
          <p:spPr>
            <a:xfrm>
              <a:off x="7678939" y="3070330"/>
              <a:ext cx="2946059" cy="2947294"/>
            </a:xfrm>
            <a:prstGeom prst="rect">
              <a:avLst/>
            </a:prstGeom>
          </p:spPr>
        </p:pic>
      </p:grp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7CCDB89A-E4D7-4630-AF67-6526EECD757B}"/>
              </a:ext>
            </a:extLst>
          </p:cNvPr>
          <p:cNvSpPr txBox="1">
            <a:spLocks/>
          </p:cNvSpPr>
          <p:nvPr/>
        </p:nvSpPr>
        <p:spPr>
          <a:xfrm>
            <a:off x="1166012" y="5354024"/>
            <a:ext cx="5278366" cy="85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4DC8B3-D68D-4F61-8C46-B14D1E701159}"/>
              </a:ext>
            </a:extLst>
          </p:cNvPr>
          <p:cNvSpPr/>
          <p:nvPr/>
        </p:nvSpPr>
        <p:spPr>
          <a:xfrm>
            <a:off x="946031" y="6150507"/>
            <a:ext cx="96933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dirty="0"/>
              <a:t>[Foo00] </a:t>
            </a:r>
            <a:r>
              <a:rPr lang="en-US" sz="900" dirty="0"/>
              <a:t>Foote, J. Automatic Audio Segmentation using a Measure of Audio Novelty. In 2000 </a:t>
            </a:r>
            <a:r>
              <a:rPr lang="en-US" sz="900" i="1" dirty="0"/>
              <a:t>Proc. IEEE International Conference on Multimedia and Expo.</a:t>
            </a:r>
          </a:p>
          <a:p>
            <a:r>
              <a:rPr lang="en-US" sz="900" dirty="0"/>
              <a:t>[ME14] McFee, B., &amp; Ellis, D. Analyzing Song Structure with Spectral Clustering. In 2014 </a:t>
            </a:r>
            <a:r>
              <a:rPr lang="en-US" sz="900" i="1" dirty="0"/>
              <a:t>ISMIR</a:t>
            </a:r>
            <a:r>
              <a:rPr lang="en-US" sz="900" dirty="0"/>
              <a:t>.</a:t>
            </a:r>
          </a:p>
          <a:p>
            <a:r>
              <a:rPr lang="en-US" sz="900" dirty="0"/>
              <a:t>[Ser+14] </a:t>
            </a:r>
            <a:r>
              <a:rPr lang="en-GB" sz="900" dirty="0"/>
              <a:t>Serra, J., Müller, M., </a:t>
            </a:r>
            <a:r>
              <a:rPr lang="en-GB" sz="900" dirty="0" err="1"/>
              <a:t>Grosche</a:t>
            </a:r>
            <a:r>
              <a:rPr lang="en-GB" sz="900" dirty="0"/>
              <a:t>, P., and Arcos, </a:t>
            </a:r>
            <a:r>
              <a:rPr lang="en-GB" sz="900" dirty="0" err="1"/>
              <a:t>J.Ll</a:t>
            </a:r>
            <a:r>
              <a:rPr lang="en-GB" sz="900" dirty="0"/>
              <a:t>., « Unsupervised </a:t>
            </a:r>
            <a:r>
              <a:rPr lang="en-US" sz="900" dirty="0"/>
              <a:t>music structure annotation by time series structure features and segment similarity », </a:t>
            </a:r>
            <a:r>
              <a:rPr lang="en-US" sz="900" i="1" dirty="0"/>
              <a:t>in</a:t>
            </a:r>
            <a:r>
              <a:rPr lang="en-US" sz="900" dirty="0"/>
              <a:t>: </a:t>
            </a:r>
            <a:r>
              <a:rPr lang="en-US" sz="900" i="1" dirty="0"/>
              <a:t>IEEE Transactions on Multimedia </a:t>
            </a:r>
            <a:r>
              <a:rPr lang="en-US" sz="900" dirty="0"/>
              <a:t>16.</a:t>
            </a:r>
            <a:r>
              <a:rPr lang="en-US" sz="900" i="1" dirty="0"/>
              <a:t>5 </a:t>
            </a:r>
            <a:r>
              <a:rPr lang="en-US" sz="900" dirty="0"/>
              <a:t>(2014), </a:t>
            </a:r>
            <a:r>
              <a:rPr lang="en-GB" sz="900" dirty="0"/>
              <a:t>pp. 1229–1240.</a:t>
            </a:r>
          </a:p>
        </p:txBody>
      </p:sp>
    </p:spTree>
    <p:extLst>
      <p:ext uri="{BB962C8B-B14F-4D97-AF65-F5344CB8AC3E}">
        <p14:creationId xmlns:p14="http://schemas.microsoft.com/office/powerpoint/2010/main" val="1414466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Espace réservé du contenu 2">
                <a:extLst>
                  <a:ext uri="{FF2B5EF4-FFF2-40B4-BE49-F238E27FC236}">
                    <a16:creationId xmlns:a16="http://schemas.microsoft.com/office/drawing/2014/main" id="{798092C5-CC7C-47C7-B096-8BECB5C531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077" y="4537168"/>
                <a:ext cx="11252923" cy="22286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dirty="0"/>
                  <a:t>Metrics: </a:t>
                </a:r>
                <a:r>
                  <a:rPr lang="fr-FR" sz="1800" dirty="0"/>
                  <a:t>(</a:t>
                </a:r>
                <a14:m>
                  <m:oMath xmlns:m="http://schemas.openxmlformats.org/officeDocument/2006/math">
                    <m:r>
                      <a:rPr lang="fr-FR" sz="1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800" dirty="0"/>
                  <a:t> 0.5s and </a:t>
                </a:r>
                <a14:m>
                  <m:oMath xmlns:m="http://schemas.openxmlformats.org/officeDocument/2006/math">
                    <m:r>
                      <a:rPr lang="fr-FR" sz="1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800" dirty="0"/>
                  <a:t> 3s)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fr-FR" dirty="0" err="1"/>
                  <a:t>Precision</a:t>
                </a:r>
                <a:r>
                  <a:rPr lang="fr-F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/>
                  <a:t>) =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fr-FR" dirty="0" err="1"/>
                  <a:t>Recall</a:t>
                </a:r>
                <a:r>
                  <a:rPr lang="fr-F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/>
                  <a:t>) =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fr-FR" dirty="0"/>
                  <a:t>F-</a:t>
                </a:r>
                <a:r>
                  <a:rPr lang="fr-FR" dirty="0" err="1"/>
                  <a:t>measure</a:t>
                </a:r>
                <a:r>
                  <a:rPr lang="fr-F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32" name="Espace réservé du contenu 2">
                <a:extLst>
                  <a:ext uri="{FF2B5EF4-FFF2-40B4-BE49-F238E27FC236}">
                    <a16:creationId xmlns:a16="http://schemas.microsoft.com/office/drawing/2014/main" id="{798092C5-CC7C-47C7-B096-8BECB5C53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77" y="4537168"/>
                <a:ext cx="11252923" cy="2228642"/>
              </a:xfrm>
              <a:prstGeom prst="rect">
                <a:avLst/>
              </a:prstGeom>
              <a:blipFill>
                <a:blip r:embed="rId3"/>
                <a:stretch>
                  <a:fillRect l="-488" t="-21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9C11E01-64FC-429B-BB42-5AF2A71C9E29}"/>
              </a:ext>
            </a:extLst>
          </p:cNvPr>
          <p:cNvSpPr/>
          <p:nvPr/>
        </p:nvSpPr>
        <p:spPr>
          <a:xfrm>
            <a:off x="4181321" y="3588148"/>
            <a:ext cx="1033059" cy="128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2E1F29-BB84-4A9B-8BC9-00CC991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45374"/>
            <a:ext cx="9601200" cy="896354"/>
          </a:xfrm>
        </p:spPr>
        <p:txBody>
          <a:bodyPr>
            <a:normAutofit/>
          </a:bodyPr>
          <a:lstStyle/>
          <a:p>
            <a:r>
              <a:rPr lang="fr-FR" dirty="0"/>
              <a:t>How </a:t>
            </a:r>
            <a:r>
              <a:rPr lang="fr-FR" dirty="0" err="1"/>
              <a:t>is</a:t>
            </a:r>
            <a:r>
              <a:rPr lang="fr-FR" dirty="0"/>
              <a:t> structure </a:t>
            </a:r>
            <a:r>
              <a:rPr lang="fr-FR" dirty="0" err="1"/>
              <a:t>evaluated</a:t>
            </a:r>
            <a:r>
              <a:rPr lang="fr-F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6AA88D3-00CE-4022-B661-2BE789351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9077" y="944046"/>
                <a:ext cx="11252923" cy="2228642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Accordance of </a:t>
                </a:r>
                <a:r>
                  <a:rPr lang="fr-FR" dirty="0" err="1"/>
                  <a:t>two</a:t>
                </a:r>
                <a:r>
                  <a:rPr lang="fr-FR" dirty="0"/>
                  <a:t> sets of </a:t>
                </a:r>
                <a:r>
                  <a:rPr lang="fr-FR" dirty="0" err="1"/>
                  <a:t>boundaries</a:t>
                </a:r>
                <a:r>
                  <a:rPr lang="fr-FR" dirty="0"/>
                  <a:t> (in </a:t>
                </a:r>
                <a:r>
                  <a:rPr lang="fr-FR" b="1" dirty="0"/>
                  <a:t>seconds</a:t>
                </a:r>
                <a:r>
                  <a:rPr lang="fr-FR" dirty="0"/>
                  <a:t>)</a:t>
                </a:r>
              </a:p>
              <a:p>
                <a:pPr lvl="1"/>
                <a:r>
                  <a:rPr lang="fr-FR" dirty="0" err="1"/>
                  <a:t>Estimated</a:t>
                </a:r>
                <a:r>
                  <a:rPr lang="fr-FR" dirty="0"/>
                  <a:t> </a:t>
                </a:r>
                <a:r>
                  <a:rPr lang="fr-FR" dirty="0" err="1"/>
                  <a:t>boundaries</a:t>
                </a:r>
                <a:r>
                  <a:rPr lang="fr-FR" dirty="0"/>
                  <a:t> </a:t>
                </a:r>
                <a:r>
                  <a:rPr lang="fr-FR" sz="1600" dirty="0"/>
                  <a:t>(e.g. [0, 3.1, 4.5])</a:t>
                </a:r>
                <a:endParaRPr lang="fr-FR" dirty="0"/>
              </a:p>
              <a:p>
                <a:pPr lvl="1"/>
                <a:r>
                  <a:rPr lang="fr-FR" dirty="0" err="1"/>
                  <a:t>Annotated</a:t>
                </a:r>
                <a:r>
                  <a:rPr lang="fr-FR" dirty="0"/>
                  <a:t> </a:t>
                </a:r>
                <a:r>
                  <a:rPr lang="fr-FR" dirty="0" err="1"/>
                  <a:t>boundaries</a:t>
                </a:r>
                <a:r>
                  <a:rPr lang="fr-FR" dirty="0"/>
                  <a:t> </a:t>
                </a:r>
                <a:r>
                  <a:rPr lang="fr-FR" sz="1600" dirty="0"/>
                  <a:t>(e.g. [0, 4.7, 5.2])</a:t>
                </a:r>
                <a:endParaRPr lang="fr-FR" dirty="0"/>
              </a:p>
              <a:p>
                <a:endParaRPr lang="fr-FR" dirty="0"/>
              </a:p>
              <a:p>
                <a:r>
                  <a:rPr lang="fr-FR" dirty="0" err="1"/>
                  <a:t>Boundary</a:t>
                </a:r>
                <a:r>
                  <a:rPr lang="fr-FR" dirty="0"/>
                  <a:t>: </a:t>
                </a:r>
                <a:r>
                  <a:rPr lang="fr-FR" dirty="0" err="1"/>
                  <a:t>valid</a:t>
                </a:r>
                <a:r>
                  <a:rPr lang="fr-FR" dirty="0"/>
                  <a:t> if close to annotation, </a:t>
                </a:r>
                <a:r>
                  <a:rPr lang="fr-FR" dirty="0" err="1"/>
                  <a:t>with</a:t>
                </a:r>
                <a:r>
                  <a:rPr lang="fr-FR" dirty="0"/>
                  <a:t> a </a:t>
                </a:r>
                <a:r>
                  <a:rPr lang="fr-FR" dirty="0" err="1"/>
                  <a:t>tolerance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6AA88D3-00CE-4022-B661-2BE789351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9077" y="944046"/>
                <a:ext cx="11252923" cy="2228642"/>
              </a:xfrm>
              <a:blipFill>
                <a:blip r:embed="rId4"/>
                <a:stretch>
                  <a:fillRect l="-488" t="-24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DCAA1A-CCD9-4B76-8E7A-9B0F3189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12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A290DB-8DE5-4D60-A77F-D086E364FCCA}"/>
              </a:ext>
            </a:extLst>
          </p:cNvPr>
          <p:cNvSpPr txBox="1"/>
          <p:nvPr/>
        </p:nvSpPr>
        <p:spPr>
          <a:xfrm>
            <a:off x="2852234" y="3947467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296F822-3F82-430B-BD12-822D2FC5A5D7}"/>
              </a:ext>
            </a:extLst>
          </p:cNvPr>
          <p:cNvCxnSpPr/>
          <p:nvPr/>
        </p:nvCxnSpPr>
        <p:spPr>
          <a:xfrm>
            <a:off x="2667969" y="3947467"/>
            <a:ext cx="1026082" cy="0"/>
          </a:xfrm>
          <a:prstGeom prst="straightConnector1">
            <a:avLst/>
          </a:prstGeom>
          <a:ln>
            <a:prstDash val="sysDot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4338C2A-2D6D-4DA0-8024-5617215A663F}"/>
              </a:ext>
            </a:extLst>
          </p:cNvPr>
          <p:cNvCxnSpPr>
            <a:cxnSpLocks/>
          </p:cNvCxnSpPr>
          <p:nvPr/>
        </p:nvCxnSpPr>
        <p:spPr>
          <a:xfrm flipV="1">
            <a:off x="5630621" y="3455902"/>
            <a:ext cx="0" cy="236537"/>
          </a:xfrm>
          <a:prstGeom prst="line">
            <a:avLst/>
          </a:prstGeom>
          <a:ln w="76200">
            <a:solidFill>
              <a:srgbClr val="B4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A54C712-2DEE-4C1C-A898-0ABE4D3E2727}"/>
              </a:ext>
            </a:extLst>
          </p:cNvPr>
          <p:cNvCxnSpPr>
            <a:cxnSpLocks/>
          </p:cNvCxnSpPr>
          <p:nvPr/>
        </p:nvCxnSpPr>
        <p:spPr>
          <a:xfrm flipV="1">
            <a:off x="4710170" y="3455902"/>
            <a:ext cx="0" cy="247323"/>
          </a:xfrm>
          <a:prstGeom prst="line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36E6F0B-E186-41E2-A1BB-F10BB49E2ADE}"/>
              </a:ext>
            </a:extLst>
          </p:cNvPr>
          <p:cNvCxnSpPr>
            <a:cxnSpLocks/>
          </p:cNvCxnSpPr>
          <p:nvPr/>
        </p:nvCxnSpPr>
        <p:spPr>
          <a:xfrm flipV="1">
            <a:off x="4490403" y="3455902"/>
            <a:ext cx="0" cy="249335"/>
          </a:xfrm>
          <a:prstGeom prst="line">
            <a:avLst/>
          </a:prstGeom>
          <a:ln w="76200">
            <a:solidFill>
              <a:srgbClr val="93E159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6EB6B91-D41E-42DC-A802-C4E164F74F0D}"/>
              </a:ext>
            </a:extLst>
          </p:cNvPr>
          <p:cNvCxnSpPr>
            <a:cxnSpLocks/>
          </p:cNvCxnSpPr>
          <p:nvPr/>
        </p:nvCxnSpPr>
        <p:spPr>
          <a:xfrm>
            <a:off x="2328007" y="3692438"/>
            <a:ext cx="45154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C348F41C-8A3C-4507-9EB8-C2C8FFB5BDF7}"/>
                  </a:ext>
                </a:extLst>
              </p:cNvPr>
              <p:cNvSpPr txBox="1"/>
              <p:nvPr/>
            </p:nvSpPr>
            <p:spPr>
              <a:xfrm>
                <a:off x="4785361" y="3769905"/>
                <a:ext cx="339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C348F41C-8A3C-4507-9EB8-C2C8FFB5B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61" y="3769905"/>
                <a:ext cx="3393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FA0514B-FFF3-4F12-87C9-7AB21EE1E3BD}"/>
              </a:ext>
            </a:extLst>
          </p:cNvPr>
          <p:cNvCxnSpPr>
            <a:cxnSpLocks/>
          </p:cNvCxnSpPr>
          <p:nvPr/>
        </p:nvCxnSpPr>
        <p:spPr>
          <a:xfrm>
            <a:off x="4710170" y="3767795"/>
            <a:ext cx="48977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D13D7E1-3040-49BB-8260-710BA529143E}"/>
              </a:ext>
            </a:extLst>
          </p:cNvPr>
          <p:cNvCxnSpPr>
            <a:cxnSpLocks/>
          </p:cNvCxnSpPr>
          <p:nvPr/>
        </p:nvCxnSpPr>
        <p:spPr>
          <a:xfrm flipV="1">
            <a:off x="7734099" y="3647890"/>
            <a:ext cx="0" cy="249335"/>
          </a:xfrm>
          <a:prstGeom prst="line">
            <a:avLst/>
          </a:prstGeom>
          <a:ln w="76200">
            <a:solidFill>
              <a:srgbClr val="93E159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1DDDF63F-C3BF-4A26-A134-96EC460567E5}"/>
              </a:ext>
            </a:extLst>
          </p:cNvPr>
          <p:cNvCxnSpPr>
            <a:cxnSpLocks/>
          </p:cNvCxnSpPr>
          <p:nvPr/>
        </p:nvCxnSpPr>
        <p:spPr>
          <a:xfrm flipV="1">
            <a:off x="7734099" y="3999533"/>
            <a:ext cx="0" cy="236537"/>
          </a:xfrm>
          <a:prstGeom prst="line">
            <a:avLst/>
          </a:prstGeom>
          <a:ln w="76200">
            <a:solidFill>
              <a:srgbClr val="B4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B3B5D3C9-6BDE-4855-9023-55A61378F1BF}"/>
              </a:ext>
            </a:extLst>
          </p:cNvPr>
          <p:cNvCxnSpPr>
            <a:cxnSpLocks/>
          </p:cNvCxnSpPr>
          <p:nvPr/>
        </p:nvCxnSpPr>
        <p:spPr>
          <a:xfrm flipV="1">
            <a:off x="7734099" y="3305412"/>
            <a:ext cx="0" cy="247323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05297AC-1816-4D42-9C3B-79CE00D3AF66}"/>
              </a:ext>
            </a:extLst>
          </p:cNvPr>
          <p:cNvSpPr/>
          <p:nvPr/>
        </p:nvSpPr>
        <p:spPr>
          <a:xfrm>
            <a:off x="7877664" y="3232118"/>
            <a:ext cx="1237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Annotation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69136E-CC1A-46E9-A9A2-69DBE0A28364}"/>
              </a:ext>
            </a:extLst>
          </p:cNvPr>
          <p:cNvSpPr/>
          <p:nvPr/>
        </p:nvSpPr>
        <p:spPr>
          <a:xfrm>
            <a:off x="7877664" y="3587891"/>
            <a:ext cx="1739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Valid estimation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862353-EB2A-4C88-8812-A7D0C43EF4C8}"/>
              </a:ext>
            </a:extLst>
          </p:cNvPr>
          <p:cNvSpPr/>
          <p:nvPr/>
        </p:nvSpPr>
        <p:spPr>
          <a:xfrm>
            <a:off x="7877664" y="3943664"/>
            <a:ext cx="1903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Invalid estimation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447151A-72E5-490B-9914-33B8F5CD5D65}"/>
              </a:ext>
            </a:extLst>
          </p:cNvPr>
          <p:cNvCxnSpPr>
            <a:cxnSpLocks/>
          </p:cNvCxnSpPr>
          <p:nvPr/>
        </p:nvCxnSpPr>
        <p:spPr>
          <a:xfrm flipV="1">
            <a:off x="3844279" y="4912318"/>
            <a:ext cx="0" cy="247323"/>
          </a:xfrm>
          <a:prstGeom prst="line">
            <a:avLst/>
          </a:prstGeom>
          <a:ln w="76200">
            <a:solidFill>
              <a:srgbClr val="93E159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E38686C3-AAFE-4B1B-A677-2B496445FB1F}"/>
              </a:ext>
            </a:extLst>
          </p:cNvPr>
          <p:cNvCxnSpPr>
            <a:cxnSpLocks/>
          </p:cNvCxnSpPr>
          <p:nvPr/>
        </p:nvCxnSpPr>
        <p:spPr>
          <a:xfrm flipV="1">
            <a:off x="3646082" y="5219386"/>
            <a:ext cx="33651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783BCE27-E178-4D7F-B6DF-4A4A905A9F0E}"/>
              </a:ext>
            </a:extLst>
          </p:cNvPr>
          <p:cNvCxnSpPr>
            <a:cxnSpLocks/>
          </p:cNvCxnSpPr>
          <p:nvPr/>
        </p:nvCxnSpPr>
        <p:spPr>
          <a:xfrm flipV="1">
            <a:off x="3708867" y="5290627"/>
            <a:ext cx="0" cy="236537"/>
          </a:xfrm>
          <a:prstGeom prst="line">
            <a:avLst/>
          </a:prstGeom>
          <a:ln w="76200">
            <a:solidFill>
              <a:srgbClr val="B4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69917B4D-0CE2-434E-BE9F-94D180C288A3}"/>
              </a:ext>
            </a:extLst>
          </p:cNvPr>
          <p:cNvSpPr txBox="1"/>
          <p:nvPr/>
        </p:nvSpPr>
        <p:spPr>
          <a:xfrm>
            <a:off x="3764056" y="5249795"/>
            <a:ext cx="131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+</a:t>
            </a:r>
            <a:endParaRPr lang="en-GB" dirty="0"/>
          </a:p>
        </p:txBody>
      </p: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C2D84350-8308-40B1-8502-DF7D368AEC29}"/>
              </a:ext>
            </a:extLst>
          </p:cNvPr>
          <p:cNvCxnSpPr>
            <a:cxnSpLocks/>
          </p:cNvCxnSpPr>
          <p:nvPr/>
        </p:nvCxnSpPr>
        <p:spPr>
          <a:xfrm flipV="1">
            <a:off x="3387131" y="5475162"/>
            <a:ext cx="0" cy="247323"/>
          </a:xfrm>
          <a:prstGeom prst="line">
            <a:avLst/>
          </a:prstGeom>
          <a:ln w="76200">
            <a:solidFill>
              <a:srgbClr val="93E159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CC19D2D-2702-4DE5-B16C-94E40BC1A60B}"/>
              </a:ext>
            </a:extLst>
          </p:cNvPr>
          <p:cNvCxnSpPr>
            <a:cxnSpLocks/>
          </p:cNvCxnSpPr>
          <p:nvPr/>
        </p:nvCxnSpPr>
        <p:spPr>
          <a:xfrm flipV="1">
            <a:off x="3289578" y="5772862"/>
            <a:ext cx="16947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905C1977-8131-46CB-BFE0-26F61F380937}"/>
              </a:ext>
            </a:extLst>
          </p:cNvPr>
          <p:cNvCxnSpPr>
            <a:cxnSpLocks/>
          </p:cNvCxnSpPr>
          <p:nvPr/>
        </p:nvCxnSpPr>
        <p:spPr>
          <a:xfrm flipV="1">
            <a:off x="3394085" y="5844102"/>
            <a:ext cx="0" cy="23653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CDF7F675-8D2A-4422-885C-4BCEC8E2E8F4}"/>
              </a:ext>
            </a:extLst>
          </p:cNvPr>
          <p:cNvCxnSpPr>
            <a:cxnSpLocks/>
          </p:cNvCxnSpPr>
          <p:nvPr/>
        </p:nvCxnSpPr>
        <p:spPr>
          <a:xfrm flipV="1">
            <a:off x="3982598" y="5279841"/>
            <a:ext cx="0" cy="247323"/>
          </a:xfrm>
          <a:prstGeom prst="line">
            <a:avLst/>
          </a:prstGeom>
          <a:ln w="76200">
            <a:solidFill>
              <a:srgbClr val="93E159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1D51FF4-09E3-4A20-97F2-3C6258D0CD5B}"/>
              </a:ext>
            </a:extLst>
          </p:cNvPr>
          <p:cNvCxnSpPr>
            <a:cxnSpLocks/>
          </p:cNvCxnSpPr>
          <p:nvPr/>
        </p:nvCxnSpPr>
        <p:spPr>
          <a:xfrm flipV="1">
            <a:off x="4376057" y="5527165"/>
            <a:ext cx="2127380" cy="854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7B70E77-63AB-46A2-BA1F-AC712C12CE83}"/>
              </a:ext>
            </a:extLst>
          </p:cNvPr>
          <p:cNvCxnSpPr>
            <a:cxnSpLocks/>
          </p:cNvCxnSpPr>
          <p:nvPr/>
        </p:nvCxnSpPr>
        <p:spPr>
          <a:xfrm>
            <a:off x="4528457" y="4777273"/>
            <a:ext cx="1974980" cy="697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ADA36D-FC71-4BED-9867-EA1B269A0050}"/>
                  </a:ext>
                </a:extLst>
              </p:cNvPr>
              <p:cNvSpPr/>
              <p:nvPr/>
            </p:nvSpPr>
            <p:spPr>
              <a:xfrm>
                <a:off x="6488888" y="5157832"/>
                <a:ext cx="5985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ADA36D-FC71-4BED-9867-EA1B269A0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88" y="5157832"/>
                <a:ext cx="598562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B5388C7-032F-4FCD-B8FC-EDDC1804652E}"/>
                  </a:ext>
                </a:extLst>
              </p:cNvPr>
              <p:cNvSpPr/>
              <p:nvPr/>
            </p:nvSpPr>
            <p:spPr>
              <a:xfrm>
                <a:off x="6478658" y="5505974"/>
                <a:ext cx="4655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B5388C7-032F-4FCD-B8FC-EDDC18046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658" y="5505974"/>
                <a:ext cx="4655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BE46FE07-FBFA-4593-B70D-5E9F85410333}"/>
              </a:ext>
            </a:extLst>
          </p:cNvPr>
          <p:cNvCxnSpPr>
            <a:cxnSpLocks/>
          </p:cNvCxnSpPr>
          <p:nvPr/>
        </p:nvCxnSpPr>
        <p:spPr>
          <a:xfrm flipV="1">
            <a:off x="6567438" y="5250426"/>
            <a:ext cx="0" cy="55347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DB926BB-C0EC-4081-9469-3042E482D465}"/>
              </a:ext>
            </a:extLst>
          </p:cNvPr>
          <p:cNvSpPr/>
          <p:nvPr/>
        </p:nvSpPr>
        <p:spPr>
          <a:xfrm>
            <a:off x="8103816" y="5401814"/>
            <a:ext cx="1501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(MIREX standard)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820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3" grpId="0"/>
      <p:bldP spid="1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5CE395F-7794-4E9E-BF49-57D447E4556A}"/>
              </a:ext>
            </a:extLst>
          </p:cNvPr>
          <p:cNvSpPr/>
          <p:nvPr/>
        </p:nvSpPr>
        <p:spPr>
          <a:xfrm>
            <a:off x="4582085" y="1605516"/>
            <a:ext cx="2859242" cy="10194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D3D2ADC-422A-4BAB-A083-C48C634BF093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C05FEC5-324F-4B4A-958A-2897C7732CF2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02012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4" grpId="0" animBg="1"/>
      <p:bldP spid="25" grpId="0" animBg="1"/>
      <p:bldP spid="31" grpId="0" animBg="1"/>
      <p:bldP spid="65" grpId="0" animBg="1"/>
      <p:bldP spid="98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15" name="Titre 3">
            <a:extLst>
              <a:ext uri="{FF2B5EF4-FFF2-40B4-BE49-F238E27FC236}">
                <a16:creationId xmlns:a16="http://schemas.microsoft.com/office/drawing/2014/main" id="{7D5E2DE6-C853-46EF-87FD-3C74432A66DE}"/>
              </a:ext>
            </a:extLst>
          </p:cNvPr>
          <p:cNvSpPr txBox="1">
            <a:spLocks/>
          </p:cNvSpPr>
          <p:nvPr/>
        </p:nvSpPr>
        <p:spPr>
          <a:xfrm>
            <a:off x="4224336" y="2306200"/>
            <a:ext cx="3743325" cy="905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>
                <a:solidFill>
                  <a:srgbClr val="1A2E40"/>
                </a:solidFill>
              </a:rPr>
              <a:t>Barwise </a:t>
            </a:r>
            <a:r>
              <a:rPr lang="fr-FR" b="1" dirty="0" err="1">
                <a:solidFill>
                  <a:srgbClr val="1A2E40"/>
                </a:solidFill>
              </a:rPr>
              <a:t>spectrograms</a:t>
            </a:r>
            <a:endParaRPr lang="en-GB" sz="1800" dirty="0">
              <a:solidFill>
                <a:srgbClr val="1A2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63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15</a:t>
            </a:fld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B7761-B891-447D-AAEE-4A717B6E2DF9}"/>
              </a:ext>
            </a:extLst>
          </p:cNvPr>
          <p:cNvSpPr/>
          <p:nvPr/>
        </p:nvSpPr>
        <p:spPr>
          <a:xfrm>
            <a:off x="393697" y="916411"/>
            <a:ext cx="35910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1A2E40"/>
                </a:solidFill>
              </a:rPr>
              <a:t>Barwise </a:t>
            </a:r>
            <a:r>
              <a:rPr lang="fr-FR" sz="4000" b="1" dirty="0" err="1">
                <a:solidFill>
                  <a:srgbClr val="1A2E40"/>
                </a:solidFill>
              </a:rPr>
              <a:t>spectrograms</a:t>
            </a:r>
            <a:endParaRPr lang="en-GB" dirty="0">
              <a:solidFill>
                <a:srgbClr val="1A2E40"/>
              </a:solidFill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0FB50C88-D96A-455F-BAAA-A099B007E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7588"/>
            <a:ext cx="3510366" cy="1347001"/>
          </a:xfrm>
          <a:prstGeom prst="rect">
            <a:avLst/>
          </a:prstGeom>
        </p:spPr>
      </p:pic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C3F18D3F-5B3B-43D6-B999-56E7F3699506}"/>
              </a:ext>
            </a:extLst>
          </p:cNvPr>
          <p:cNvSpPr/>
          <p:nvPr/>
        </p:nvSpPr>
        <p:spPr>
          <a:xfrm rot="5400000">
            <a:off x="7204525" y="2917155"/>
            <a:ext cx="1293316" cy="386694"/>
          </a:xfrm>
          <a:prstGeom prst="rightArrow">
            <a:avLst>
              <a:gd name="adj1" fmla="val 50000"/>
              <a:gd name="adj2" fmla="val 7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10B730-AC26-4EDD-B91F-9B76750455D4}"/>
              </a:ext>
            </a:extLst>
          </p:cNvPr>
          <p:cNvSpPr/>
          <p:nvPr/>
        </p:nvSpPr>
        <p:spPr>
          <a:xfrm>
            <a:off x="7850823" y="4333032"/>
            <a:ext cx="632688" cy="119149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F5161B-F790-4219-B687-9C6CEEF6943E}"/>
              </a:ext>
            </a:extLst>
          </p:cNvPr>
          <p:cNvSpPr/>
          <p:nvPr/>
        </p:nvSpPr>
        <p:spPr>
          <a:xfrm>
            <a:off x="7684553" y="4461772"/>
            <a:ext cx="632688" cy="11914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3924C5-685C-40FB-A49B-0601B42D848A}"/>
              </a:ext>
            </a:extLst>
          </p:cNvPr>
          <p:cNvSpPr/>
          <p:nvPr/>
        </p:nvSpPr>
        <p:spPr>
          <a:xfrm>
            <a:off x="7552899" y="4605820"/>
            <a:ext cx="632688" cy="11914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2C1AD9-4FC7-40D2-9FB9-EC17022276CB}"/>
              </a:ext>
            </a:extLst>
          </p:cNvPr>
          <p:cNvSpPr/>
          <p:nvPr/>
        </p:nvSpPr>
        <p:spPr>
          <a:xfrm>
            <a:off x="7402825" y="4695910"/>
            <a:ext cx="632688" cy="11914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6C2174-71F8-406D-AB7E-586B4A55FF44}"/>
              </a:ext>
            </a:extLst>
          </p:cNvPr>
          <p:cNvSpPr/>
          <p:nvPr/>
        </p:nvSpPr>
        <p:spPr>
          <a:xfrm>
            <a:off x="7252751" y="4828482"/>
            <a:ext cx="632688" cy="1191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428EA2-3E0C-484E-AA3A-CB8DAD17F0BD}"/>
              </a:ext>
            </a:extLst>
          </p:cNvPr>
          <p:cNvSpPr/>
          <p:nvPr/>
        </p:nvSpPr>
        <p:spPr>
          <a:xfrm>
            <a:off x="7087189" y="4972496"/>
            <a:ext cx="632688" cy="11914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1393F2E-0196-4765-A018-10435D5A560C}"/>
              </a:ext>
            </a:extLst>
          </p:cNvPr>
          <p:cNvCxnSpPr>
            <a:cxnSpLocks/>
          </p:cNvCxnSpPr>
          <p:nvPr/>
        </p:nvCxnSpPr>
        <p:spPr>
          <a:xfrm>
            <a:off x="7092806" y="6263714"/>
            <a:ext cx="607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F582344E-C65C-4E40-BDDB-D96BCE174FAA}"/>
                  </a:ext>
                </a:extLst>
              </p:cNvPr>
              <p:cNvSpPr txBox="1"/>
              <p:nvPr/>
            </p:nvSpPr>
            <p:spPr>
              <a:xfrm>
                <a:off x="6945607" y="6270634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F582344E-C65C-4E40-BDDB-D96BCE174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607" y="6270634"/>
                <a:ext cx="9236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5C211CB-D40B-4E91-BF7F-9A24923C2B2A}"/>
                  </a:ext>
                </a:extLst>
              </p:cNvPr>
              <p:cNvSpPr txBox="1"/>
              <p:nvPr/>
            </p:nvSpPr>
            <p:spPr>
              <a:xfrm>
                <a:off x="6329115" y="5409412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5C211CB-D40B-4E91-BF7F-9A24923C2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115" y="5409412"/>
                <a:ext cx="92363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4D379FEF-D3EA-4E50-922D-0BD263C577CB}"/>
              </a:ext>
            </a:extLst>
          </p:cNvPr>
          <p:cNvCxnSpPr>
            <a:cxnSpLocks/>
          </p:cNvCxnSpPr>
          <p:nvPr/>
        </p:nvCxnSpPr>
        <p:spPr>
          <a:xfrm flipV="1">
            <a:off x="6981376" y="5047544"/>
            <a:ext cx="0" cy="1041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592C9E8D-EB4D-4A65-8060-FB68DF50184C}"/>
                  </a:ext>
                </a:extLst>
              </p:cNvPr>
              <p:cNvSpPr txBox="1"/>
              <p:nvPr/>
            </p:nvSpPr>
            <p:spPr>
              <a:xfrm>
                <a:off x="6750213" y="4323119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592C9E8D-EB4D-4A65-8060-FB68DF501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213" y="4323119"/>
                <a:ext cx="9236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7FD279BD-83E2-43F4-BC8C-3F11BDB57614}"/>
              </a:ext>
            </a:extLst>
          </p:cNvPr>
          <p:cNvCxnSpPr>
            <a:cxnSpLocks/>
          </p:cNvCxnSpPr>
          <p:nvPr/>
        </p:nvCxnSpPr>
        <p:spPr>
          <a:xfrm flipV="1">
            <a:off x="6968102" y="4274099"/>
            <a:ext cx="737793" cy="60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54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94" y="305333"/>
            <a:ext cx="9601200" cy="1173075"/>
          </a:xfrm>
        </p:spPr>
        <p:txBody>
          <a:bodyPr>
            <a:normAutofit/>
          </a:bodyPr>
          <a:lstStyle/>
          <a:p>
            <a:r>
              <a:rPr lang="fr-FR" dirty="0" err="1"/>
              <a:t>Spectrogram</a:t>
            </a:r>
            <a:r>
              <a:rPr lang="fr-FR" dirty="0"/>
              <a:t>?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377E5FF-1B85-4BCF-B256-141C5BD53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406" y="3398765"/>
            <a:ext cx="10681855" cy="504368"/>
          </a:xfrm>
        </p:spPr>
        <p:txBody>
          <a:bodyPr>
            <a:normAutofit/>
          </a:bodyPr>
          <a:lstStyle/>
          <a:p>
            <a:r>
              <a:rPr lang="fr-FR" dirty="0" err="1"/>
              <a:t>Features</a:t>
            </a:r>
            <a:r>
              <a:rPr lang="fr-FR" dirty="0"/>
              <a:t>: </a:t>
            </a:r>
            <a:r>
              <a:rPr lang="fr-FR" dirty="0" err="1"/>
              <a:t>frequency</a:t>
            </a:r>
            <a:r>
              <a:rPr lang="fr-FR" dirty="0"/>
              <a:t> content </a:t>
            </a:r>
            <a:r>
              <a:rPr lang="fr-FR" sz="1600" dirty="0"/>
              <a:t>(</a:t>
            </a:r>
            <a:r>
              <a:rPr lang="fr-FR" sz="1600" b="1" i="1" dirty="0"/>
              <a:t>Fourier </a:t>
            </a:r>
            <a:r>
              <a:rPr lang="fr-FR" sz="1600" b="1" i="1" dirty="0" err="1"/>
              <a:t>Analysis</a:t>
            </a:r>
            <a:r>
              <a:rPr lang="fr-FR" sz="1600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1448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16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9FA76-F380-44F9-845D-778F8A128346}"/>
              </a:ext>
            </a:extLst>
          </p:cNvPr>
          <p:cNvSpPr/>
          <p:nvPr/>
        </p:nvSpPr>
        <p:spPr>
          <a:xfrm>
            <a:off x="7803679" y="1612709"/>
            <a:ext cx="3151530" cy="98936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Spectrogram</a:t>
            </a:r>
            <a:endParaRPr lang="fr-FR" dirty="0"/>
          </a:p>
          <a:p>
            <a:pPr algn="ctr"/>
            <a:r>
              <a:rPr lang="fr-FR" dirty="0"/>
              <a:t>(</a:t>
            </a:r>
            <a:r>
              <a:rPr lang="fr-FR" dirty="0" err="1"/>
              <a:t>feature</a:t>
            </a:r>
            <a:r>
              <a:rPr lang="fr-FR" dirty="0"/>
              <a:t> description)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F63727D-675D-4931-A9E5-3E31B830BF70}"/>
              </a:ext>
            </a:extLst>
          </p:cNvPr>
          <p:cNvCxnSpPr>
            <a:cxnSpLocks/>
          </p:cNvCxnSpPr>
          <p:nvPr/>
        </p:nvCxnSpPr>
        <p:spPr>
          <a:xfrm>
            <a:off x="7848225" y="2738791"/>
            <a:ext cx="3031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DE7EB5F-6E82-4C31-B040-422BCDE59184}"/>
                  </a:ext>
                </a:extLst>
              </p:cNvPr>
              <p:cNvSpPr txBox="1"/>
              <p:nvPr/>
            </p:nvSpPr>
            <p:spPr>
              <a:xfrm>
                <a:off x="9132358" y="2766735"/>
                <a:ext cx="1267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fr-FR" dirty="0"/>
                  <a:t> (time)</a:t>
                </a: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DE7EB5F-6E82-4C31-B040-422BCDE59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358" y="2766735"/>
                <a:ext cx="1267774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EE9AB56-7D1A-48ED-A450-2823693157F9}"/>
              </a:ext>
            </a:extLst>
          </p:cNvPr>
          <p:cNvCxnSpPr>
            <a:cxnSpLocks/>
          </p:cNvCxnSpPr>
          <p:nvPr/>
        </p:nvCxnSpPr>
        <p:spPr>
          <a:xfrm flipV="1">
            <a:off x="7695513" y="1629333"/>
            <a:ext cx="0" cy="97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F67AC29-7081-4378-9595-F8593C598DB0}"/>
                  </a:ext>
                </a:extLst>
              </p:cNvPr>
              <p:cNvSpPr txBox="1"/>
              <p:nvPr/>
            </p:nvSpPr>
            <p:spPr>
              <a:xfrm>
                <a:off x="7267344" y="1890803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F67AC29-7081-4378-9595-F8593C59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344" y="1890803"/>
                <a:ext cx="337118" cy="369332"/>
              </a:xfrm>
              <a:prstGeom prst="rect">
                <a:avLst/>
              </a:prstGeom>
              <a:blipFill>
                <a:blip r:embed="rId6"/>
                <a:stretch>
                  <a:fillRect l="-1818" r="-1818"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402F7B74-BB2E-4DD9-B6A2-44014EAF24FA}"/>
              </a:ext>
            </a:extLst>
          </p:cNvPr>
          <p:cNvSpPr/>
          <p:nvPr/>
        </p:nvSpPr>
        <p:spPr>
          <a:xfrm>
            <a:off x="5571985" y="1925535"/>
            <a:ext cx="1293316" cy="386694"/>
          </a:xfrm>
          <a:prstGeom prst="rightArrow">
            <a:avLst>
              <a:gd name="adj1" fmla="val 50000"/>
              <a:gd name="adj2" fmla="val 7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88D2F-3EFD-40B1-A37A-E3000850E19E}"/>
              </a:ext>
            </a:extLst>
          </p:cNvPr>
          <p:cNvSpPr/>
          <p:nvPr/>
        </p:nvSpPr>
        <p:spPr>
          <a:xfrm>
            <a:off x="2197361" y="3885570"/>
            <a:ext cx="42928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Frequency </a:t>
            </a:r>
            <a:r>
              <a:rPr lang="fr-FR" sz="1400" b="1" dirty="0" err="1"/>
              <a:t>scale</a:t>
            </a:r>
            <a:endParaRPr lang="fr-FR" sz="1400" b="1" dirty="0"/>
          </a:p>
          <a:p>
            <a:pPr algn="ctr"/>
            <a:r>
              <a:rPr lang="fr-FR" sz="1400" dirty="0"/>
              <a:t>(Log Mel </a:t>
            </a:r>
            <a:r>
              <a:rPr lang="fr-FR" sz="1400" dirty="0" err="1"/>
              <a:t>Spectrogram</a:t>
            </a:r>
            <a:r>
              <a:rPr lang="fr-FR" sz="1400" dirty="0"/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FB7C7-6917-4D07-B954-0953EC295359}"/>
              </a:ext>
            </a:extLst>
          </p:cNvPr>
          <p:cNvSpPr/>
          <p:nvPr/>
        </p:nvSpPr>
        <p:spPr>
          <a:xfrm>
            <a:off x="7848225" y="3885570"/>
            <a:ext cx="24226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Musical </a:t>
            </a:r>
            <a:r>
              <a:rPr lang="fr-FR" sz="1400" b="1" dirty="0" err="1"/>
              <a:t>scale</a:t>
            </a:r>
            <a:endParaRPr lang="fr-FR" sz="1400" b="1" dirty="0"/>
          </a:p>
          <a:p>
            <a:pPr algn="ctr"/>
            <a:r>
              <a:rPr lang="fr-FR" sz="1400" dirty="0"/>
              <a:t>(Chromagram)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743F490-3D49-48C6-A36A-5B6963E14E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10" y="4391227"/>
            <a:ext cx="3114275" cy="217837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E214124-6D14-478B-837A-2A36492FDC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868" y="1483715"/>
            <a:ext cx="3510366" cy="13470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22BCEF9-A36E-4FA7-BC0F-46A24F2EC5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107" y="4391227"/>
            <a:ext cx="3120160" cy="2178380"/>
          </a:xfrm>
          <a:prstGeom prst="rect">
            <a:avLst/>
          </a:prstGeom>
        </p:spPr>
      </p:pic>
      <p:pic>
        <p:nvPicPr>
          <p:cNvPr id="19" name="signal_nobody_speak">
            <a:hlinkClick r:id="" action="ppaction://media"/>
            <a:extLst>
              <a:ext uri="{FF2B5EF4-FFF2-40B4-BE49-F238E27FC236}">
                <a16:creationId xmlns:a16="http://schemas.microsoft.com/office/drawing/2014/main" id="{F092E5D4-7947-4E86-9124-F985DDD851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09206" y="186870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22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89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8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784" y="108705"/>
            <a:ext cx="9601200" cy="1485900"/>
          </a:xfrm>
        </p:spPr>
        <p:txBody>
          <a:bodyPr/>
          <a:lstStyle/>
          <a:p>
            <a:r>
              <a:rPr lang="fr-FR" dirty="0"/>
              <a:t>Barwise </a:t>
            </a:r>
            <a:r>
              <a:rPr lang="fr-FR" dirty="0" err="1"/>
              <a:t>scale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854DC62-33E7-4E68-A75C-43F2F8439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311" y="851655"/>
            <a:ext cx="4329870" cy="5670639"/>
          </a:xfrm>
          <a:prstGeom prst="rect">
            <a:avLst/>
          </a:prstGeom>
        </p:spPr>
      </p:pic>
      <p:pic>
        <p:nvPicPr>
          <p:cNvPr id="10" name="Google Shape;100;p20">
            <a:extLst>
              <a:ext uri="{FF2B5EF4-FFF2-40B4-BE49-F238E27FC236}">
                <a16:creationId xmlns:a16="http://schemas.microsoft.com/office/drawing/2014/main" id="{2E52E28B-AFF1-4BB6-9D09-5266602E127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244839" y="1023394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0;p20">
            <a:extLst>
              <a:ext uri="{FF2B5EF4-FFF2-40B4-BE49-F238E27FC236}">
                <a16:creationId xmlns:a16="http://schemas.microsoft.com/office/drawing/2014/main" id="{B214DB10-9C9B-4659-B348-7CB893EB1D5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883213" y="1022333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9ABB26D-51DD-4AA0-8FF4-02B50EEEF9A9}"/>
              </a:ext>
            </a:extLst>
          </p:cNvPr>
          <p:cNvCxnSpPr>
            <a:cxnSpLocks/>
          </p:cNvCxnSpPr>
          <p:nvPr/>
        </p:nvCxnSpPr>
        <p:spPr>
          <a:xfrm>
            <a:off x="4010104" y="1343210"/>
            <a:ext cx="0" cy="720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oogle Shape;100;p20">
            <a:extLst>
              <a:ext uri="{FF2B5EF4-FFF2-40B4-BE49-F238E27FC236}">
                <a16:creationId xmlns:a16="http://schemas.microsoft.com/office/drawing/2014/main" id="{8A2BC144-E616-47E3-8D2B-A7D10D4B4EE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515189" y="1014875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C220DD7-6CA2-487F-90DC-FD1B9903F735}"/>
              </a:ext>
            </a:extLst>
          </p:cNvPr>
          <p:cNvCxnSpPr>
            <a:cxnSpLocks/>
          </p:cNvCxnSpPr>
          <p:nvPr/>
        </p:nvCxnSpPr>
        <p:spPr>
          <a:xfrm>
            <a:off x="4642080" y="1335752"/>
            <a:ext cx="0" cy="720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oogle Shape;100;p20">
            <a:extLst>
              <a:ext uri="{FF2B5EF4-FFF2-40B4-BE49-F238E27FC236}">
                <a16:creationId xmlns:a16="http://schemas.microsoft.com/office/drawing/2014/main" id="{C74A39F2-6B08-4EEC-92F2-5972F6C2814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198322" y="1020207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0;p20">
            <a:extLst>
              <a:ext uri="{FF2B5EF4-FFF2-40B4-BE49-F238E27FC236}">
                <a16:creationId xmlns:a16="http://schemas.microsoft.com/office/drawing/2014/main" id="{86813ED9-8E85-4614-B0C0-131B70A1C7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855876" y="1019148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00;p20">
            <a:extLst>
              <a:ext uri="{FF2B5EF4-FFF2-40B4-BE49-F238E27FC236}">
                <a16:creationId xmlns:a16="http://schemas.microsoft.com/office/drawing/2014/main" id="{614C9DBD-7DF2-4D72-8F07-EF8D142B025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257626" y="2123147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0;p20">
            <a:extLst>
              <a:ext uri="{FF2B5EF4-FFF2-40B4-BE49-F238E27FC236}">
                <a16:creationId xmlns:a16="http://schemas.microsoft.com/office/drawing/2014/main" id="{A71F13A7-AEC0-438B-9C84-86CBFC40B99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940759" y="2151540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00;p20">
            <a:extLst>
              <a:ext uri="{FF2B5EF4-FFF2-40B4-BE49-F238E27FC236}">
                <a16:creationId xmlns:a16="http://schemas.microsoft.com/office/drawing/2014/main" id="{191504AA-4DFC-48C5-99E4-CEBF946E144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439451" y="2151540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00;p20">
            <a:extLst>
              <a:ext uri="{FF2B5EF4-FFF2-40B4-BE49-F238E27FC236}">
                <a16:creationId xmlns:a16="http://schemas.microsoft.com/office/drawing/2014/main" id="{FEAEFD74-1BC2-459F-A7C1-C7F6390F398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116187" y="2151058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00;p20">
            <a:extLst>
              <a:ext uri="{FF2B5EF4-FFF2-40B4-BE49-F238E27FC236}">
                <a16:creationId xmlns:a16="http://schemas.microsoft.com/office/drawing/2014/main" id="{0C3BE157-5C24-49E2-8F00-8C9FC206536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812105" y="2151540"/>
            <a:ext cx="228207" cy="37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00;p20">
            <a:extLst>
              <a:ext uri="{FF2B5EF4-FFF2-40B4-BE49-F238E27FC236}">
                <a16:creationId xmlns:a16="http://schemas.microsoft.com/office/drawing/2014/main" id="{91A42BD7-CD66-4E2C-AF42-DEBCF2760D5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213345" y="2979406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D7BFFAA-2DAC-426D-8761-55C77A281CC1}"/>
              </a:ext>
            </a:extLst>
          </p:cNvPr>
          <p:cNvCxnSpPr>
            <a:cxnSpLocks/>
          </p:cNvCxnSpPr>
          <p:nvPr/>
        </p:nvCxnSpPr>
        <p:spPr>
          <a:xfrm>
            <a:off x="3346631" y="3274702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oogle Shape;100;p20">
            <a:extLst>
              <a:ext uri="{FF2B5EF4-FFF2-40B4-BE49-F238E27FC236}">
                <a16:creationId xmlns:a16="http://schemas.microsoft.com/office/drawing/2014/main" id="{3E3AFAEC-B894-453C-BAFE-BDD1F91A435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915656" y="2974509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A9AE557-2E79-4F2A-B316-D1D3A6B5F11D}"/>
              </a:ext>
            </a:extLst>
          </p:cNvPr>
          <p:cNvCxnSpPr>
            <a:cxnSpLocks/>
          </p:cNvCxnSpPr>
          <p:nvPr/>
        </p:nvCxnSpPr>
        <p:spPr>
          <a:xfrm>
            <a:off x="4048942" y="3276199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oogle Shape;100;p20">
            <a:extLst>
              <a:ext uri="{FF2B5EF4-FFF2-40B4-BE49-F238E27FC236}">
                <a16:creationId xmlns:a16="http://schemas.microsoft.com/office/drawing/2014/main" id="{01DEEEFD-382E-4D28-AD6E-313BC0D254D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554545" y="2974510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62AB7830-A383-41D0-8805-C479D310CF11}"/>
              </a:ext>
            </a:extLst>
          </p:cNvPr>
          <p:cNvCxnSpPr>
            <a:cxnSpLocks/>
          </p:cNvCxnSpPr>
          <p:nvPr/>
        </p:nvCxnSpPr>
        <p:spPr>
          <a:xfrm>
            <a:off x="4687831" y="3276200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oogle Shape;100;p20">
            <a:extLst>
              <a:ext uri="{FF2B5EF4-FFF2-40B4-BE49-F238E27FC236}">
                <a16:creationId xmlns:a16="http://schemas.microsoft.com/office/drawing/2014/main" id="{C94D8F39-4453-411C-8E36-ACFAA74B89E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195654" y="2974510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556F417F-D4E9-4BC2-BBF4-C853DEE839C4}"/>
              </a:ext>
            </a:extLst>
          </p:cNvPr>
          <p:cNvCxnSpPr>
            <a:cxnSpLocks/>
          </p:cNvCxnSpPr>
          <p:nvPr/>
        </p:nvCxnSpPr>
        <p:spPr>
          <a:xfrm>
            <a:off x="5328940" y="3276200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Google Shape;100;p20">
            <a:extLst>
              <a:ext uri="{FF2B5EF4-FFF2-40B4-BE49-F238E27FC236}">
                <a16:creationId xmlns:a16="http://schemas.microsoft.com/office/drawing/2014/main" id="{98FE32C0-4C68-4075-9BA0-7E9869EE5A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848011" y="2976774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08A0A149-E9E8-4FFD-80D7-5F1D22A396C2}"/>
              </a:ext>
            </a:extLst>
          </p:cNvPr>
          <p:cNvCxnSpPr>
            <a:cxnSpLocks/>
          </p:cNvCxnSpPr>
          <p:nvPr/>
        </p:nvCxnSpPr>
        <p:spPr>
          <a:xfrm>
            <a:off x="5981297" y="3272070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Google Shape;100;p20">
            <a:extLst>
              <a:ext uri="{FF2B5EF4-FFF2-40B4-BE49-F238E27FC236}">
                <a16:creationId xmlns:a16="http://schemas.microsoft.com/office/drawing/2014/main" id="{401F994E-C844-470F-8E8A-25425966035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262678" y="382202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C80286BC-DE71-48BD-ACA2-57753168F1E5}"/>
              </a:ext>
            </a:extLst>
          </p:cNvPr>
          <p:cNvCxnSpPr>
            <a:cxnSpLocks/>
          </p:cNvCxnSpPr>
          <p:nvPr/>
        </p:nvCxnSpPr>
        <p:spPr>
          <a:xfrm>
            <a:off x="3395964" y="4110924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oogle Shape;100;p20">
            <a:extLst>
              <a:ext uri="{FF2B5EF4-FFF2-40B4-BE49-F238E27FC236}">
                <a16:creationId xmlns:a16="http://schemas.microsoft.com/office/drawing/2014/main" id="{0AEDDFB1-03B5-4CBA-9B76-DFBB7DED41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920749" y="382202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BE684FD-A6ED-4548-A20D-FCBEE2B8F9B9}"/>
              </a:ext>
            </a:extLst>
          </p:cNvPr>
          <p:cNvCxnSpPr>
            <a:cxnSpLocks/>
          </p:cNvCxnSpPr>
          <p:nvPr/>
        </p:nvCxnSpPr>
        <p:spPr>
          <a:xfrm>
            <a:off x="4047641" y="4110924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Google Shape;100;p20">
            <a:extLst>
              <a:ext uri="{FF2B5EF4-FFF2-40B4-BE49-F238E27FC236}">
                <a16:creationId xmlns:a16="http://schemas.microsoft.com/office/drawing/2014/main" id="{25FF9D03-FCD0-4689-82F0-928073E63F2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542229" y="382202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9A62C038-5E9D-4101-AAD0-FFDD63D48663}"/>
              </a:ext>
            </a:extLst>
          </p:cNvPr>
          <p:cNvCxnSpPr>
            <a:cxnSpLocks/>
          </p:cNvCxnSpPr>
          <p:nvPr/>
        </p:nvCxnSpPr>
        <p:spPr>
          <a:xfrm>
            <a:off x="4669121" y="4110924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oogle Shape;100;p20">
            <a:extLst>
              <a:ext uri="{FF2B5EF4-FFF2-40B4-BE49-F238E27FC236}">
                <a16:creationId xmlns:a16="http://schemas.microsoft.com/office/drawing/2014/main" id="{835F112C-9877-4BBF-B263-6E25800CC56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170102" y="382202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578966D8-89A5-46DD-8E48-CD7FA78851BC}"/>
              </a:ext>
            </a:extLst>
          </p:cNvPr>
          <p:cNvCxnSpPr>
            <a:cxnSpLocks/>
          </p:cNvCxnSpPr>
          <p:nvPr/>
        </p:nvCxnSpPr>
        <p:spPr>
          <a:xfrm>
            <a:off x="5303388" y="4110924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oogle Shape;100;p20">
            <a:extLst>
              <a:ext uri="{FF2B5EF4-FFF2-40B4-BE49-F238E27FC236}">
                <a16:creationId xmlns:a16="http://schemas.microsoft.com/office/drawing/2014/main" id="{3BB8F451-EA40-4984-8B7B-087A890A942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812105" y="3814796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8068C01-2254-4BF1-913E-7DBB462F72D1}"/>
              </a:ext>
            </a:extLst>
          </p:cNvPr>
          <p:cNvCxnSpPr>
            <a:cxnSpLocks/>
          </p:cNvCxnSpPr>
          <p:nvPr/>
        </p:nvCxnSpPr>
        <p:spPr>
          <a:xfrm>
            <a:off x="5938997" y="4103698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Google Shape;100;p20">
            <a:extLst>
              <a:ext uri="{FF2B5EF4-FFF2-40B4-BE49-F238E27FC236}">
                <a16:creationId xmlns:a16="http://schemas.microsoft.com/office/drawing/2014/main" id="{D7863446-5C0A-4601-AF9E-55EA76CC1D0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272089" y="472831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867C992A-9759-4E35-B5E5-9EB0C30F4684}"/>
              </a:ext>
            </a:extLst>
          </p:cNvPr>
          <p:cNvCxnSpPr>
            <a:cxnSpLocks/>
          </p:cNvCxnSpPr>
          <p:nvPr/>
        </p:nvCxnSpPr>
        <p:spPr>
          <a:xfrm>
            <a:off x="3398981" y="5030002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Google Shape;100;p20">
            <a:extLst>
              <a:ext uri="{FF2B5EF4-FFF2-40B4-BE49-F238E27FC236}">
                <a16:creationId xmlns:a16="http://schemas.microsoft.com/office/drawing/2014/main" id="{88478A6D-4F25-41F2-8890-6DF7CC0745F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947153" y="4734707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48794045-9CAE-411A-B4D3-A7348418F38C}"/>
              </a:ext>
            </a:extLst>
          </p:cNvPr>
          <p:cNvCxnSpPr>
            <a:cxnSpLocks/>
          </p:cNvCxnSpPr>
          <p:nvPr/>
        </p:nvCxnSpPr>
        <p:spPr>
          <a:xfrm>
            <a:off x="4074045" y="5036397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oogle Shape;100;p20">
            <a:extLst>
              <a:ext uri="{FF2B5EF4-FFF2-40B4-BE49-F238E27FC236}">
                <a16:creationId xmlns:a16="http://schemas.microsoft.com/office/drawing/2014/main" id="{FDE5119F-E319-4EB5-9785-D248E295912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547160" y="4725558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9A3315E3-9B68-4AB5-A10E-D207E3AC77CB}"/>
              </a:ext>
            </a:extLst>
          </p:cNvPr>
          <p:cNvCxnSpPr>
            <a:cxnSpLocks/>
          </p:cNvCxnSpPr>
          <p:nvPr/>
        </p:nvCxnSpPr>
        <p:spPr>
          <a:xfrm>
            <a:off x="4674052" y="5027248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oogle Shape;100;p20">
            <a:extLst>
              <a:ext uri="{FF2B5EF4-FFF2-40B4-BE49-F238E27FC236}">
                <a16:creationId xmlns:a16="http://schemas.microsoft.com/office/drawing/2014/main" id="{A8FCC904-843D-476C-ADF5-DB502B70C4D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142364" y="4734707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96DC50B6-FB0B-4E8F-BA07-A4AAB2BFFC24}"/>
              </a:ext>
            </a:extLst>
          </p:cNvPr>
          <p:cNvCxnSpPr>
            <a:cxnSpLocks/>
          </p:cNvCxnSpPr>
          <p:nvPr/>
        </p:nvCxnSpPr>
        <p:spPr>
          <a:xfrm>
            <a:off x="5269256" y="5036397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oogle Shape;100;p20">
            <a:extLst>
              <a:ext uri="{FF2B5EF4-FFF2-40B4-BE49-F238E27FC236}">
                <a16:creationId xmlns:a16="http://schemas.microsoft.com/office/drawing/2014/main" id="{367ABD93-89D9-4A80-A500-A3CE9EB6BD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879537" y="4737021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E1AA59A1-0C27-4DDD-85FC-177B628B3D49}"/>
              </a:ext>
            </a:extLst>
          </p:cNvPr>
          <p:cNvCxnSpPr>
            <a:cxnSpLocks/>
          </p:cNvCxnSpPr>
          <p:nvPr/>
        </p:nvCxnSpPr>
        <p:spPr>
          <a:xfrm>
            <a:off x="6006429" y="5038711"/>
            <a:ext cx="0" cy="468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oogle Shape;100;p20">
            <a:extLst>
              <a:ext uri="{FF2B5EF4-FFF2-40B4-BE49-F238E27FC236}">
                <a16:creationId xmlns:a16="http://schemas.microsoft.com/office/drawing/2014/main" id="{659CCF29-D95D-4E76-9AEE-1CA40B04FE0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169310" y="5514502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50EAA8D9-05A7-4BE3-B712-B2EBFFE8728D}"/>
              </a:ext>
            </a:extLst>
          </p:cNvPr>
          <p:cNvCxnSpPr>
            <a:cxnSpLocks/>
          </p:cNvCxnSpPr>
          <p:nvPr/>
        </p:nvCxnSpPr>
        <p:spPr>
          <a:xfrm>
            <a:off x="3296202" y="5803404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Google Shape;100;p20">
            <a:extLst>
              <a:ext uri="{FF2B5EF4-FFF2-40B4-BE49-F238E27FC236}">
                <a16:creationId xmlns:a16="http://schemas.microsoft.com/office/drawing/2014/main" id="{262C9EB1-D7A1-47A9-812E-B5A4BC30B8F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3820261" y="5514503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AEAFAAF5-C427-482D-BAAC-142A4AE92728}"/>
              </a:ext>
            </a:extLst>
          </p:cNvPr>
          <p:cNvCxnSpPr>
            <a:cxnSpLocks/>
          </p:cNvCxnSpPr>
          <p:nvPr/>
        </p:nvCxnSpPr>
        <p:spPr>
          <a:xfrm>
            <a:off x="3947153" y="5803405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oogle Shape;100;p20">
            <a:extLst>
              <a:ext uri="{FF2B5EF4-FFF2-40B4-BE49-F238E27FC236}">
                <a16:creationId xmlns:a16="http://schemas.microsoft.com/office/drawing/2014/main" id="{45D4AE50-0A38-4D41-A7D7-7C2762DF3B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680446" y="5509459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3311CB35-3D5B-4A28-AC79-3E94BC869CE9}"/>
              </a:ext>
            </a:extLst>
          </p:cNvPr>
          <p:cNvCxnSpPr>
            <a:cxnSpLocks/>
          </p:cNvCxnSpPr>
          <p:nvPr/>
        </p:nvCxnSpPr>
        <p:spPr>
          <a:xfrm>
            <a:off x="4807338" y="5804755"/>
            <a:ext cx="0" cy="504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Google Shape;100;p20">
            <a:extLst>
              <a:ext uri="{FF2B5EF4-FFF2-40B4-BE49-F238E27FC236}">
                <a16:creationId xmlns:a16="http://schemas.microsoft.com/office/drawing/2014/main" id="{6D64F126-30CC-46D9-BD95-69DCD8FA5BE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614972" y="5509460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F0A5962D-7D98-4FE4-9CEF-1FC146C52999}"/>
              </a:ext>
            </a:extLst>
          </p:cNvPr>
          <p:cNvCxnSpPr>
            <a:cxnSpLocks/>
          </p:cNvCxnSpPr>
          <p:nvPr/>
        </p:nvCxnSpPr>
        <p:spPr>
          <a:xfrm>
            <a:off x="3388261" y="1345750"/>
            <a:ext cx="0" cy="720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7DC73734-35AC-4747-98C2-78C39ADA67C7}"/>
              </a:ext>
            </a:extLst>
          </p:cNvPr>
          <p:cNvCxnSpPr>
            <a:cxnSpLocks/>
          </p:cNvCxnSpPr>
          <p:nvPr/>
        </p:nvCxnSpPr>
        <p:spPr>
          <a:xfrm>
            <a:off x="3384518" y="2437629"/>
            <a:ext cx="0" cy="52174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B46F61A5-5018-4B76-9BFC-3F954FA42F8F}"/>
              </a:ext>
            </a:extLst>
          </p:cNvPr>
          <p:cNvCxnSpPr>
            <a:cxnSpLocks/>
          </p:cNvCxnSpPr>
          <p:nvPr/>
        </p:nvCxnSpPr>
        <p:spPr>
          <a:xfrm>
            <a:off x="4074045" y="2434130"/>
            <a:ext cx="0" cy="522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5D769993-050D-45D2-A95B-19F8C3125DD4}"/>
              </a:ext>
            </a:extLst>
          </p:cNvPr>
          <p:cNvCxnSpPr>
            <a:cxnSpLocks/>
          </p:cNvCxnSpPr>
          <p:nvPr/>
        </p:nvCxnSpPr>
        <p:spPr>
          <a:xfrm>
            <a:off x="4569605" y="2437369"/>
            <a:ext cx="0" cy="522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EABFCE4B-152B-4EB9-A875-C031FCB4A775}"/>
              </a:ext>
            </a:extLst>
          </p:cNvPr>
          <p:cNvCxnSpPr>
            <a:cxnSpLocks/>
          </p:cNvCxnSpPr>
          <p:nvPr/>
        </p:nvCxnSpPr>
        <p:spPr>
          <a:xfrm>
            <a:off x="5245841" y="2437369"/>
            <a:ext cx="0" cy="522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83E1FD33-C72F-40D1-902F-3A37B9EA2ADD}"/>
              </a:ext>
            </a:extLst>
          </p:cNvPr>
          <p:cNvCxnSpPr>
            <a:cxnSpLocks/>
          </p:cNvCxnSpPr>
          <p:nvPr/>
        </p:nvCxnSpPr>
        <p:spPr>
          <a:xfrm>
            <a:off x="5952588" y="2453312"/>
            <a:ext cx="0" cy="522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967C4C20-C830-4BC7-B977-2B5C79857226}"/>
              </a:ext>
            </a:extLst>
          </p:cNvPr>
          <p:cNvCxnSpPr>
            <a:cxnSpLocks/>
          </p:cNvCxnSpPr>
          <p:nvPr/>
        </p:nvCxnSpPr>
        <p:spPr>
          <a:xfrm>
            <a:off x="5750109" y="5822002"/>
            <a:ext cx="0" cy="522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0F7CBFE5-9AA5-4343-AFCC-29931E4F4EF3}"/>
              </a:ext>
            </a:extLst>
          </p:cNvPr>
          <p:cNvCxnSpPr>
            <a:cxnSpLocks/>
          </p:cNvCxnSpPr>
          <p:nvPr/>
        </p:nvCxnSpPr>
        <p:spPr>
          <a:xfrm>
            <a:off x="5328940" y="1335752"/>
            <a:ext cx="0" cy="720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D267B62A-D3AB-401A-BD60-D3D410BD4551}"/>
              </a:ext>
            </a:extLst>
          </p:cNvPr>
          <p:cNvCxnSpPr>
            <a:cxnSpLocks/>
          </p:cNvCxnSpPr>
          <p:nvPr/>
        </p:nvCxnSpPr>
        <p:spPr>
          <a:xfrm>
            <a:off x="5981297" y="1343210"/>
            <a:ext cx="0" cy="720000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834F2910-66A4-45A0-AEDA-A3CBBF888B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1"/>
          <a:stretch/>
        </p:blipFill>
        <p:spPr>
          <a:xfrm>
            <a:off x="10093776" y="2719292"/>
            <a:ext cx="1069477" cy="865901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0140FE9-48E4-4261-B0FA-8F76200D74B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360"/>
          <a:stretch/>
        </p:blipFill>
        <p:spPr>
          <a:xfrm>
            <a:off x="9947199" y="2826768"/>
            <a:ext cx="1017799" cy="94638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1BD8599-6697-46CD-96A6-F1D6A747A10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5"/>
          <a:stretch/>
        </p:blipFill>
        <p:spPr>
          <a:xfrm>
            <a:off x="9797128" y="2996812"/>
            <a:ext cx="1022631" cy="93631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4DBA28C-CBB4-4D83-BA1B-2D399D6BC8F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0"/>
          <a:stretch/>
        </p:blipFill>
        <p:spPr>
          <a:xfrm>
            <a:off x="9611301" y="3150903"/>
            <a:ext cx="1049140" cy="9363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2DC416A-6130-47BD-B864-7DF31F5889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010" y="3347715"/>
            <a:ext cx="1016810" cy="9363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7D942ED-E068-414A-B0C5-092F8706F2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493" y="3585193"/>
            <a:ext cx="964912" cy="89457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4CA92DA-1EF1-4C28-B119-057D4B1741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299" y="3815871"/>
            <a:ext cx="1000485" cy="860712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F2740C4-2488-4873-921D-FDE0EEF169EB}"/>
              </a:ext>
            </a:extLst>
          </p:cNvPr>
          <p:cNvCxnSpPr>
            <a:cxnSpLocks/>
          </p:cNvCxnSpPr>
          <p:nvPr/>
        </p:nvCxnSpPr>
        <p:spPr>
          <a:xfrm flipV="1">
            <a:off x="8961967" y="2240653"/>
            <a:ext cx="1447800" cy="1455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584B33AF-83E4-459C-ADA9-F38AFC19B935}"/>
              </a:ext>
            </a:extLst>
          </p:cNvPr>
          <p:cNvSpPr txBox="1"/>
          <p:nvPr/>
        </p:nvSpPr>
        <p:spPr>
          <a:xfrm rot="18853016">
            <a:off x="10777140" y="2334715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84" name="Flèche : droite 83">
            <a:extLst>
              <a:ext uri="{FF2B5EF4-FFF2-40B4-BE49-F238E27FC236}">
                <a16:creationId xmlns:a16="http://schemas.microsoft.com/office/drawing/2014/main" id="{7DD8F711-0CE9-447F-84C6-52C2E4FA88D1}"/>
              </a:ext>
            </a:extLst>
          </p:cNvPr>
          <p:cNvSpPr/>
          <p:nvPr/>
        </p:nvSpPr>
        <p:spPr>
          <a:xfrm>
            <a:off x="7102847" y="3619060"/>
            <a:ext cx="1325335" cy="522315"/>
          </a:xfrm>
          <a:prstGeom prst="rightArrow">
            <a:avLst>
              <a:gd name="adj1" fmla="val 50000"/>
              <a:gd name="adj2" fmla="val 7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800F2D5A-AE1C-4635-B824-823F90017E9F}"/>
              </a:ext>
            </a:extLst>
          </p:cNvPr>
          <p:cNvSpPr/>
          <p:nvPr/>
        </p:nvSpPr>
        <p:spPr>
          <a:xfrm>
            <a:off x="9016299" y="2275083"/>
            <a:ext cx="2544976" cy="2414199"/>
          </a:xfrm>
          <a:prstGeom prst="cube">
            <a:avLst>
              <a:gd name="adj" fmla="val 63022"/>
            </a:avLst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2CEA82BC-913B-4964-84AC-C293DEE54745}"/>
              </a:ext>
            </a:extLst>
          </p:cNvPr>
          <p:cNvCxnSpPr>
            <a:cxnSpLocks/>
          </p:cNvCxnSpPr>
          <p:nvPr/>
        </p:nvCxnSpPr>
        <p:spPr>
          <a:xfrm flipV="1">
            <a:off x="8887401" y="3835839"/>
            <a:ext cx="0" cy="881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80C8DC9-3266-43B1-8C63-06F72CC35D3F}"/>
              </a:ext>
            </a:extLst>
          </p:cNvPr>
          <p:cNvCxnSpPr>
            <a:cxnSpLocks/>
          </p:cNvCxnSpPr>
          <p:nvPr/>
        </p:nvCxnSpPr>
        <p:spPr>
          <a:xfrm>
            <a:off x="9039801" y="4812159"/>
            <a:ext cx="938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85006B7B-21FD-44EF-9D4B-1F5D279A1950}"/>
                  </a:ext>
                </a:extLst>
              </p:cNvPr>
              <p:cNvSpPr txBox="1"/>
              <p:nvPr/>
            </p:nvSpPr>
            <p:spPr>
              <a:xfrm>
                <a:off x="9236666" y="4789273"/>
                <a:ext cx="501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85006B7B-21FD-44EF-9D4B-1F5D279A1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666" y="4789273"/>
                <a:ext cx="50128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679BE18B-EB4D-40C6-B659-AC6B457A7FED}"/>
                  </a:ext>
                </a:extLst>
              </p:cNvPr>
              <p:cNvSpPr txBox="1"/>
              <p:nvPr/>
            </p:nvSpPr>
            <p:spPr>
              <a:xfrm>
                <a:off x="8527208" y="4103698"/>
                <a:ext cx="405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679BE18B-EB4D-40C6-B659-AC6B457A7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208" y="4103698"/>
                <a:ext cx="405792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29B8842-1961-47E3-BD56-34394D9F6D6D}"/>
                  </a:ext>
                </a:extLst>
              </p:cNvPr>
              <p:cNvSpPr txBox="1"/>
              <p:nvPr/>
            </p:nvSpPr>
            <p:spPr>
              <a:xfrm>
                <a:off x="9189530" y="2840025"/>
                <a:ext cx="386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29B8842-1961-47E3-BD56-34394D9F6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530" y="2840025"/>
                <a:ext cx="38695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Espace réservé du numéro de diapositive 3">
            <a:extLst>
              <a:ext uri="{FF2B5EF4-FFF2-40B4-BE49-F238E27FC236}">
                <a16:creationId xmlns:a16="http://schemas.microsoft.com/office/drawing/2014/main" id="{B07A8C52-EB8C-45F4-931D-03F7FEA4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340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84" grpId="0" animBg="1"/>
      <p:bldP spid="3" grpId="0" animBg="1"/>
      <p:bldP spid="82" grpId="0"/>
      <p:bldP spid="83" grpId="0"/>
      <p:bldP spid="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4189"/>
            <a:ext cx="9601200" cy="1485900"/>
          </a:xfrm>
        </p:spPr>
        <p:txBody>
          <a:bodyPr/>
          <a:lstStyle/>
          <a:p>
            <a:r>
              <a:rPr lang="fr-FR" dirty="0" err="1"/>
              <a:t>Hypotheses</a:t>
            </a:r>
            <a:r>
              <a:rPr lang="fr-FR" dirty="0"/>
              <a:t> for barwise </a:t>
            </a:r>
            <a:r>
              <a:rPr lang="fr-FR" dirty="0" err="1"/>
              <a:t>processing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61738-353E-432E-854C-371FEEC38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394" y="1502903"/>
            <a:ext cx="10681855" cy="4030632"/>
          </a:xfrm>
        </p:spPr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dirty="0" err="1"/>
              <a:t>Hypothesis</a:t>
            </a:r>
            <a:r>
              <a:rPr lang="fr-FR" dirty="0"/>
              <a:t> 1: </a:t>
            </a:r>
            <a:r>
              <a:rPr lang="fr-FR" b="1" dirty="0"/>
              <a:t>patterns tend to </a:t>
            </a:r>
            <a:r>
              <a:rPr lang="fr-FR" b="1" dirty="0" err="1"/>
              <a:t>develop</a:t>
            </a:r>
            <a:r>
              <a:rPr lang="fr-FR" b="1" dirty="0"/>
              <a:t> at the bar </a:t>
            </a:r>
            <a:r>
              <a:rPr lang="fr-FR" b="1" dirty="0" err="1"/>
              <a:t>scale</a:t>
            </a:r>
            <a:endParaRPr lang="fr-FR" b="1" dirty="0"/>
          </a:p>
          <a:p>
            <a:pPr lvl="1"/>
            <a:endParaRPr lang="fr-FR" dirty="0"/>
          </a:p>
          <a:p>
            <a:r>
              <a:rPr lang="fr-FR" dirty="0" err="1"/>
              <a:t>Hypothesis</a:t>
            </a:r>
            <a:r>
              <a:rPr lang="fr-FR" dirty="0"/>
              <a:t> 2: </a:t>
            </a:r>
            <a:r>
              <a:rPr lang="fr-FR" b="1" dirty="0" err="1"/>
              <a:t>boundaries</a:t>
            </a:r>
            <a:r>
              <a:rPr lang="fr-FR" b="1" dirty="0"/>
              <a:t> are </a:t>
            </a:r>
            <a:r>
              <a:rPr lang="fr-FR" b="1" dirty="0" err="1"/>
              <a:t>located</a:t>
            </a:r>
            <a:r>
              <a:rPr lang="fr-FR" b="1" dirty="0"/>
              <a:t> on bars</a:t>
            </a:r>
          </a:p>
          <a:p>
            <a:pPr marL="0" indent="0">
              <a:buNone/>
            </a:pPr>
            <a:endParaRPr lang="fr-FR" i="1" dirty="0"/>
          </a:p>
          <a:p>
            <a:pPr marL="0" indent="0">
              <a:buNone/>
            </a:pPr>
            <a:endParaRPr lang="fr-FR" i="1" dirty="0"/>
          </a:p>
          <a:p>
            <a:pPr marL="0" indent="0">
              <a:buNone/>
            </a:pPr>
            <a:r>
              <a:rPr lang="fr-FR" i="1" dirty="0"/>
              <a:t>Bars are </a:t>
            </a:r>
            <a:r>
              <a:rPr lang="fr-FR" i="1" dirty="0" err="1"/>
              <a:t>estimated</a:t>
            </a:r>
            <a:r>
              <a:rPr lang="fr-FR" i="1" dirty="0"/>
              <a:t> via an </a:t>
            </a:r>
            <a:r>
              <a:rPr lang="fr-FR" i="1" dirty="0" err="1"/>
              <a:t>external</a:t>
            </a:r>
            <a:r>
              <a:rPr lang="fr-FR" i="1" dirty="0"/>
              <a:t> </a:t>
            </a:r>
            <a:r>
              <a:rPr lang="fr-FR" i="1" dirty="0" err="1"/>
              <a:t>toolbox</a:t>
            </a:r>
            <a:r>
              <a:rPr lang="fr-FR" i="1" dirty="0"/>
              <a:t> (</a:t>
            </a:r>
            <a:r>
              <a:rPr lang="fr-FR" i="1" dirty="0" err="1"/>
              <a:t>madmom</a:t>
            </a:r>
            <a:r>
              <a:rPr lang="fr-FR" i="1" dirty="0"/>
              <a:t> </a:t>
            </a:r>
            <a:r>
              <a:rPr lang="en-US" sz="1400" dirty="0"/>
              <a:t>[Böc+16]</a:t>
            </a:r>
            <a:r>
              <a:rPr lang="fr-FR" i="1" dirty="0"/>
              <a:t>)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F3871-3A67-47D6-B72B-EAE6222F2A3F}"/>
              </a:ext>
            </a:extLst>
          </p:cNvPr>
          <p:cNvSpPr/>
          <p:nvPr/>
        </p:nvSpPr>
        <p:spPr>
          <a:xfrm>
            <a:off x="1371600" y="6352249"/>
            <a:ext cx="1054545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[Böc+16] </a:t>
            </a:r>
            <a:r>
              <a:rPr lang="en-US" sz="900" dirty="0" err="1"/>
              <a:t>Böck</a:t>
            </a:r>
            <a:r>
              <a:rPr lang="en-US" sz="900" dirty="0"/>
              <a:t>, S et al. </a:t>
            </a:r>
            <a:r>
              <a:rPr lang="en-US" sz="900" dirty="0" err="1"/>
              <a:t>Madmom</a:t>
            </a:r>
            <a:r>
              <a:rPr lang="en-US" sz="900" dirty="0"/>
              <a:t>: A new python audio and music signal processing library. In 2016 Proc. of the 24th ACM international conference on Multimedia.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F870E016-C74F-4B1C-BF38-5DECAA5F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758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732" y="873641"/>
            <a:ext cx="6117366" cy="1030963"/>
          </a:xfrm>
        </p:spPr>
        <p:txBody>
          <a:bodyPr/>
          <a:lstStyle/>
          <a:p>
            <a:pPr algn="ctr"/>
            <a:r>
              <a:rPr lang="fr-FR" dirty="0"/>
              <a:t>Barwise </a:t>
            </a:r>
            <a:r>
              <a:rPr lang="fr-FR" dirty="0" err="1"/>
              <a:t>spectrograms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19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9FA76-F380-44F9-845D-778F8A128346}"/>
              </a:ext>
            </a:extLst>
          </p:cNvPr>
          <p:cNvSpPr/>
          <p:nvPr/>
        </p:nvSpPr>
        <p:spPr>
          <a:xfrm>
            <a:off x="4239727" y="2777335"/>
            <a:ext cx="3771418" cy="1190401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Original</a:t>
            </a:r>
          </a:p>
          <a:p>
            <a:pPr algn="ctr"/>
            <a:r>
              <a:rPr lang="fr-FR" dirty="0" err="1"/>
              <a:t>spectrogram</a:t>
            </a:r>
            <a:endParaRPr lang="fr-FR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F63727D-675D-4931-A9E5-3E31B830BF70}"/>
              </a:ext>
            </a:extLst>
          </p:cNvPr>
          <p:cNvCxnSpPr>
            <a:cxnSpLocks/>
          </p:cNvCxnSpPr>
          <p:nvPr/>
        </p:nvCxnSpPr>
        <p:spPr>
          <a:xfrm>
            <a:off x="4317739" y="4128660"/>
            <a:ext cx="36668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DE7EB5F-6E82-4C31-B040-422BCDE59184}"/>
                  </a:ext>
                </a:extLst>
              </p:cNvPr>
              <p:cNvSpPr txBox="1"/>
              <p:nvPr/>
            </p:nvSpPr>
            <p:spPr>
              <a:xfrm>
                <a:off x="5647776" y="4128660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DE7EB5F-6E82-4C31-B040-422BCDE59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76" y="4128660"/>
                <a:ext cx="9236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EE9AB56-7D1A-48ED-A450-2823693157F9}"/>
              </a:ext>
            </a:extLst>
          </p:cNvPr>
          <p:cNvCxnSpPr/>
          <p:nvPr/>
        </p:nvCxnSpPr>
        <p:spPr>
          <a:xfrm flipV="1">
            <a:off x="4099397" y="2833254"/>
            <a:ext cx="0" cy="1191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F67AC29-7081-4378-9595-F8593C598DB0}"/>
                  </a:ext>
                </a:extLst>
              </p:cNvPr>
              <p:cNvSpPr txBox="1"/>
              <p:nvPr/>
            </p:nvSpPr>
            <p:spPr>
              <a:xfrm>
                <a:off x="3677989" y="3195848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F67AC29-7081-4378-9595-F8593C59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989" y="3195848"/>
                <a:ext cx="337118" cy="369332"/>
              </a:xfrm>
              <a:prstGeom prst="rect">
                <a:avLst/>
              </a:prstGeom>
              <a:blipFill>
                <a:blip r:embed="rId4"/>
                <a:stretch>
                  <a:fillRect l="-1786"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291C2ACC-00F9-4018-BF32-8517E725820B}"/>
                  </a:ext>
                </a:extLst>
              </p:cNvPr>
              <p:cNvSpPr txBox="1"/>
              <p:nvPr/>
            </p:nvSpPr>
            <p:spPr>
              <a:xfrm>
                <a:off x="4099397" y="4083971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291C2ACC-00F9-4018-BF32-8517E7258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397" y="4083971"/>
                <a:ext cx="9236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F9C80C0F-3F4C-4718-9C40-DD33CD916CC6}"/>
              </a:ext>
            </a:extLst>
          </p:cNvPr>
          <p:cNvCxnSpPr>
            <a:cxnSpLocks/>
          </p:cNvCxnSpPr>
          <p:nvPr/>
        </p:nvCxnSpPr>
        <p:spPr>
          <a:xfrm flipV="1">
            <a:off x="4282237" y="4131964"/>
            <a:ext cx="5579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2AF5A8D-5755-4805-BE28-D04B9D626C1A}"/>
              </a:ext>
            </a:extLst>
          </p:cNvPr>
          <p:cNvCxnSpPr/>
          <p:nvPr/>
        </p:nvCxnSpPr>
        <p:spPr>
          <a:xfrm>
            <a:off x="4282237" y="4492242"/>
            <a:ext cx="3759955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D8755A1-E700-4B05-80C6-5B22002945D6}"/>
                  </a:ext>
                </a:extLst>
              </p:cNvPr>
              <p:cNvSpPr txBox="1"/>
              <p:nvPr/>
            </p:nvSpPr>
            <p:spPr>
              <a:xfrm>
                <a:off x="5685653" y="4492242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fr-FR" dirty="0"/>
                  <a:t> bars</a:t>
                </a:r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D8755A1-E700-4B05-80C6-5B2200294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53" y="4492242"/>
                <a:ext cx="923636" cy="369332"/>
              </a:xfrm>
              <a:prstGeom prst="rect">
                <a:avLst/>
              </a:prstGeom>
              <a:blipFill>
                <a:blip r:embed="rId6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E9471A49-10B0-4E59-9A7B-CB3B2CA132E4}"/>
              </a:ext>
            </a:extLst>
          </p:cNvPr>
          <p:cNvSpPr/>
          <p:nvPr/>
        </p:nvSpPr>
        <p:spPr>
          <a:xfrm>
            <a:off x="7386103" y="2777141"/>
            <a:ext cx="632688" cy="119149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08439A-D24C-4FB6-A3AA-327E70380827}"/>
              </a:ext>
            </a:extLst>
          </p:cNvPr>
          <p:cNvSpPr/>
          <p:nvPr/>
        </p:nvSpPr>
        <p:spPr>
          <a:xfrm>
            <a:off x="6751635" y="2776429"/>
            <a:ext cx="632688" cy="11914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2A95D9-C6CB-4CB7-ABE0-384984E01EFB}"/>
              </a:ext>
            </a:extLst>
          </p:cNvPr>
          <p:cNvSpPr/>
          <p:nvPr/>
        </p:nvSpPr>
        <p:spPr>
          <a:xfrm>
            <a:off x="6120364" y="2777092"/>
            <a:ext cx="632688" cy="11914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23C1EE-0D35-4AD8-BF7F-3A88E2FB0C7B}"/>
              </a:ext>
            </a:extLst>
          </p:cNvPr>
          <p:cNvSpPr/>
          <p:nvPr/>
        </p:nvSpPr>
        <p:spPr>
          <a:xfrm>
            <a:off x="5489071" y="2776669"/>
            <a:ext cx="632688" cy="11914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07E88F-0555-43B2-B173-70339A474138}"/>
              </a:ext>
            </a:extLst>
          </p:cNvPr>
          <p:cNvSpPr/>
          <p:nvPr/>
        </p:nvSpPr>
        <p:spPr>
          <a:xfrm>
            <a:off x="4855939" y="2777149"/>
            <a:ext cx="632688" cy="1191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6B7851-44D5-4417-A4B3-BA39D5EDCE47}"/>
              </a:ext>
            </a:extLst>
          </p:cNvPr>
          <p:cNvSpPr/>
          <p:nvPr/>
        </p:nvSpPr>
        <p:spPr>
          <a:xfrm>
            <a:off x="4224646" y="2776726"/>
            <a:ext cx="632688" cy="11914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6" name="Google Shape;100;p20">
            <a:extLst>
              <a:ext uri="{FF2B5EF4-FFF2-40B4-BE49-F238E27FC236}">
                <a16:creationId xmlns:a16="http://schemas.microsoft.com/office/drawing/2014/main" id="{BCEE34CA-6998-4A0D-9594-68B41ACC2B0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4748102" y="2446327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4EE7D2C8-B44F-4BA9-AB34-8C02FDF2313C}"/>
              </a:ext>
            </a:extLst>
          </p:cNvPr>
          <p:cNvCxnSpPr>
            <a:cxnSpLocks/>
          </p:cNvCxnSpPr>
          <p:nvPr/>
        </p:nvCxnSpPr>
        <p:spPr>
          <a:xfrm flipH="1">
            <a:off x="4837771" y="2768683"/>
            <a:ext cx="11361" cy="1199237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oogle Shape;100;p20">
            <a:extLst>
              <a:ext uri="{FF2B5EF4-FFF2-40B4-BE49-F238E27FC236}">
                <a16:creationId xmlns:a16="http://schemas.microsoft.com/office/drawing/2014/main" id="{95428414-8908-4AB7-B183-0D6DB98DA62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5360524" y="2447541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CCC0A238-42DA-4C90-A2B0-1F3BF67AAD7F}"/>
              </a:ext>
            </a:extLst>
          </p:cNvPr>
          <p:cNvCxnSpPr>
            <a:cxnSpLocks/>
          </p:cNvCxnSpPr>
          <p:nvPr/>
        </p:nvCxnSpPr>
        <p:spPr>
          <a:xfrm flipH="1">
            <a:off x="5450193" y="2769897"/>
            <a:ext cx="11361" cy="1199237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oogle Shape;100;p20">
            <a:extLst>
              <a:ext uri="{FF2B5EF4-FFF2-40B4-BE49-F238E27FC236}">
                <a16:creationId xmlns:a16="http://schemas.microsoft.com/office/drawing/2014/main" id="{E0E3D91C-5128-49D0-9661-C7109ABED90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6004746" y="2446327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92483D4A-E115-4726-B9D7-337092CA76C1}"/>
              </a:ext>
            </a:extLst>
          </p:cNvPr>
          <p:cNvCxnSpPr>
            <a:cxnSpLocks/>
          </p:cNvCxnSpPr>
          <p:nvPr/>
        </p:nvCxnSpPr>
        <p:spPr>
          <a:xfrm flipH="1">
            <a:off x="6094415" y="2768683"/>
            <a:ext cx="11361" cy="1199237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oogle Shape;100;p20">
            <a:extLst>
              <a:ext uri="{FF2B5EF4-FFF2-40B4-BE49-F238E27FC236}">
                <a16:creationId xmlns:a16="http://schemas.microsoft.com/office/drawing/2014/main" id="{39E48E90-50E3-4BC8-AF68-FFE636590D7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6629472" y="2462413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3EC3DDA-0BF1-4C33-9848-7C614906CC29}"/>
              </a:ext>
            </a:extLst>
          </p:cNvPr>
          <p:cNvCxnSpPr>
            <a:cxnSpLocks/>
          </p:cNvCxnSpPr>
          <p:nvPr/>
        </p:nvCxnSpPr>
        <p:spPr>
          <a:xfrm flipH="1">
            <a:off x="6719141" y="2784769"/>
            <a:ext cx="11361" cy="1199237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oogle Shape;100;p20">
            <a:extLst>
              <a:ext uri="{FF2B5EF4-FFF2-40B4-BE49-F238E27FC236}">
                <a16:creationId xmlns:a16="http://schemas.microsoft.com/office/drawing/2014/main" id="{1E76E266-7C23-420F-B537-799C341BD2F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 r="49117"/>
          <a:stretch/>
        </p:blipFill>
        <p:spPr>
          <a:xfrm rot="10800000" flipH="1">
            <a:off x="7260765" y="2454667"/>
            <a:ext cx="228207" cy="372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8CB9FD69-57E8-4FE4-A79B-D84AF28A0B77}"/>
              </a:ext>
            </a:extLst>
          </p:cNvPr>
          <p:cNvCxnSpPr>
            <a:cxnSpLocks/>
          </p:cNvCxnSpPr>
          <p:nvPr/>
        </p:nvCxnSpPr>
        <p:spPr>
          <a:xfrm flipH="1">
            <a:off x="7350434" y="2777023"/>
            <a:ext cx="11361" cy="1199237"/>
          </a:xfrm>
          <a:prstGeom prst="line">
            <a:avLst/>
          </a:prstGeom>
          <a:ln w="76200">
            <a:solidFill>
              <a:srgbClr val="00FF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3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allAtOnce" animBg="1"/>
      <p:bldP spid="11" grpId="0"/>
      <p:bldP spid="19" grpId="0"/>
      <p:bldP spid="35" grpId="0"/>
      <p:bldP spid="43" grpId="0" animBg="1"/>
      <p:bldP spid="36" grpId="0" animBg="1"/>
      <p:bldP spid="45" grpId="0" animBg="1"/>
      <p:bldP spid="44" grpId="0" animBg="1"/>
      <p:bldP spid="34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20</a:t>
            </a:fld>
            <a:endParaRPr lang="fr-FR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F2DD465-7C6F-406F-8FF0-26C6233EEE65}"/>
              </a:ext>
            </a:extLst>
          </p:cNvPr>
          <p:cNvSpPr/>
          <p:nvPr/>
        </p:nvSpPr>
        <p:spPr>
          <a:xfrm>
            <a:off x="6618371" y="2689760"/>
            <a:ext cx="632688" cy="119149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5F8E6F5-0C07-4008-AC4C-1FA705360A14}"/>
              </a:ext>
            </a:extLst>
          </p:cNvPr>
          <p:cNvSpPr/>
          <p:nvPr/>
        </p:nvSpPr>
        <p:spPr>
          <a:xfrm>
            <a:off x="6452101" y="2818500"/>
            <a:ext cx="632688" cy="11914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D6C1E57-E16A-49D9-ABE5-4C0A27121BCF}"/>
              </a:ext>
            </a:extLst>
          </p:cNvPr>
          <p:cNvSpPr/>
          <p:nvPr/>
        </p:nvSpPr>
        <p:spPr>
          <a:xfrm>
            <a:off x="6320447" y="2962548"/>
            <a:ext cx="632688" cy="11914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D9B1500-B5AE-4DE4-93C4-FB39EDB7DE0B}"/>
              </a:ext>
            </a:extLst>
          </p:cNvPr>
          <p:cNvSpPr/>
          <p:nvPr/>
        </p:nvSpPr>
        <p:spPr>
          <a:xfrm>
            <a:off x="6170373" y="3052638"/>
            <a:ext cx="632688" cy="11914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4605230-CF81-42FC-8DB3-29BEB7CF5536}"/>
              </a:ext>
            </a:extLst>
          </p:cNvPr>
          <p:cNvSpPr/>
          <p:nvPr/>
        </p:nvSpPr>
        <p:spPr>
          <a:xfrm>
            <a:off x="6020299" y="3185210"/>
            <a:ext cx="632688" cy="1191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33EE54D-D5C5-4F20-80C7-DA86D9AD63D0}"/>
              </a:ext>
            </a:extLst>
          </p:cNvPr>
          <p:cNvSpPr/>
          <p:nvPr/>
        </p:nvSpPr>
        <p:spPr>
          <a:xfrm>
            <a:off x="5854737" y="3329224"/>
            <a:ext cx="632688" cy="11914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B608E91A-E90C-42AE-ADE4-E2D442BFC076}"/>
              </a:ext>
            </a:extLst>
          </p:cNvPr>
          <p:cNvCxnSpPr>
            <a:cxnSpLocks/>
          </p:cNvCxnSpPr>
          <p:nvPr/>
        </p:nvCxnSpPr>
        <p:spPr>
          <a:xfrm>
            <a:off x="5860354" y="4620442"/>
            <a:ext cx="607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43152D1-ECF2-44E3-8125-AC62956E6A57}"/>
                  </a:ext>
                </a:extLst>
              </p:cNvPr>
              <p:cNvSpPr txBox="1"/>
              <p:nvPr/>
            </p:nvSpPr>
            <p:spPr>
              <a:xfrm>
                <a:off x="5713155" y="4627362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43152D1-ECF2-44E3-8125-AC62956E6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155" y="4627362"/>
                <a:ext cx="9236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39CCC9A2-8621-40BA-9A9B-6F48AF35CF4D}"/>
                  </a:ext>
                </a:extLst>
              </p:cNvPr>
              <p:cNvSpPr txBox="1"/>
              <p:nvPr/>
            </p:nvSpPr>
            <p:spPr>
              <a:xfrm>
                <a:off x="5096663" y="3766140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39CCC9A2-8621-40BA-9A9B-6F48AF35C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663" y="3766140"/>
                <a:ext cx="923636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5D8555F9-DE58-4D09-B13E-01C8FA1FF75D}"/>
              </a:ext>
            </a:extLst>
          </p:cNvPr>
          <p:cNvCxnSpPr>
            <a:cxnSpLocks/>
          </p:cNvCxnSpPr>
          <p:nvPr/>
        </p:nvCxnSpPr>
        <p:spPr>
          <a:xfrm flipV="1">
            <a:off x="5748924" y="3404272"/>
            <a:ext cx="0" cy="1041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A85E0A38-9A04-4F07-A975-099140C2948B}"/>
                  </a:ext>
                </a:extLst>
              </p:cNvPr>
              <p:cNvSpPr txBox="1"/>
              <p:nvPr/>
            </p:nvSpPr>
            <p:spPr>
              <a:xfrm>
                <a:off x="5517761" y="2679847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A85E0A38-9A04-4F07-A975-099140C2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761" y="2679847"/>
                <a:ext cx="9236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39FD7170-F114-4533-98C1-DD3E8F3DF737}"/>
              </a:ext>
            </a:extLst>
          </p:cNvPr>
          <p:cNvCxnSpPr>
            <a:cxnSpLocks/>
          </p:cNvCxnSpPr>
          <p:nvPr/>
        </p:nvCxnSpPr>
        <p:spPr>
          <a:xfrm flipV="1">
            <a:off x="5735650" y="2630827"/>
            <a:ext cx="737793" cy="60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itre 1">
            <a:extLst>
              <a:ext uri="{FF2B5EF4-FFF2-40B4-BE49-F238E27FC236}">
                <a16:creationId xmlns:a16="http://schemas.microsoft.com/office/drawing/2014/main" id="{94FD8A70-3E93-4D0B-9C24-515A61C9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821" y="784835"/>
            <a:ext cx="7158357" cy="10309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Time-Frequency-Bar </a:t>
            </a:r>
            <a:r>
              <a:rPr lang="fr-FR" dirty="0" err="1"/>
              <a:t>Tensor</a:t>
            </a:r>
            <a:r>
              <a:rPr lang="fr-FR" dirty="0"/>
              <a:t> (TFB)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A6B97F9-269E-42F6-93CA-60ABF54B9E89}"/>
              </a:ext>
            </a:extLst>
          </p:cNvPr>
          <p:cNvSpPr/>
          <p:nvPr/>
        </p:nvSpPr>
        <p:spPr>
          <a:xfrm>
            <a:off x="7860465" y="3115368"/>
            <a:ext cx="3972339" cy="18005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0B486D4-DEE0-4D0D-AE68-4BCEE2056F91}"/>
              </a:ext>
            </a:extLst>
          </p:cNvPr>
          <p:cNvSpPr/>
          <p:nvPr/>
        </p:nvSpPr>
        <p:spPr>
          <a:xfrm>
            <a:off x="7860465" y="3295448"/>
            <a:ext cx="3972339" cy="1800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D1F9ACB-C5C2-430F-A543-5EE616C83898}"/>
              </a:ext>
            </a:extLst>
          </p:cNvPr>
          <p:cNvSpPr/>
          <p:nvPr/>
        </p:nvSpPr>
        <p:spPr>
          <a:xfrm>
            <a:off x="7860465" y="3469165"/>
            <a:ext cx="3972339" cy="1800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1C62412-494E-4E52-84E2-82DAC3BF34BD}"/>
              </a:ext>
            </a:extLst>
          </p:cNvPr>
          <p:cNvSpPr/>
          <p:nvPr/>
        </p:nvSpPr>
        <p:spPr>
          <a:xfrm>
            <a:off x="7861091" y="3649216"/>
            <a:ext cx="3972339" cy="1800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16BE1B8-DFD9-4FCA-A2B4-052B06468FA4}"/>
              </a:ext>
            </a:extLst>
          </p:cNvPr>
          <p:cNvSpPr/>
          <p:nvPr/>
        </p:nvSpPr>
        <p:spPr>
          <a:xfrm>
            <a:off x="7861261" y="3829296"/>
            <a:ext cx="3972339" cy="1800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F0C507-2BE3-42FA-AF2F-DD524AFB5E64}"/>
              </a:ext>
            </a:extLst>
          </p:cNvPr>
          <p:cNvSpPr/>
          <p:nvPr/>
        </p:nvSpPr>
        <p:spPr>
          <a:xfrm>
            <a:off x="7860465" y="4003013"/>
            <a:ext cx="3972339" cy="180051"/>
          </a:xfrm>
          <a:prstGeom prst="rect">
            <a:avLst/>
          </a:prstGeom>
          <a:solidFill>
            <a:srgbClr val="F2F2F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5" name="Connecteur droit avec flèche 144">
            <a:extLst>
              <a:ext uri="{FF2B5EF4-FFF2-40B4-BE49-F238E27FC236}">
                <a16:creationId xmlns:a16="http://schemas.microsoft.com/office/drawing/2014/main" id="{5B28CC0E-82DB-4AAF-AF75-A85C963E53DE}"/>
              </a:ext>
            </a:extLst>
          </p:cNvPr>
          <p:cNvCxnSpPr>
            <a:cxnSpLocks/>
          </p:cNvCxnSpPr>
          <p:nvPr/>
        </p:nvCxnSpPr>
        <p:spPr>
          <a:xfrm flipV="1">
            <a:off x="7766638" y="3115368"/>
            <a:ext cx="0" cy="101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3E0F5D23-4D8D-4A66-8F40-70DD445F3B42}"/>
                  </a:ext>
                </a:extLst>
              </p:cNvPr>
              <p:cNvSpPr txBox="1"/>
              <p:nvPr/>
            </p:nvSpPr>
            <p:spPr>
              <a:xfrm>
                <a:off x="9384816" y="4374154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3E0F5D23-4D8D-4A66-8F40-70DD445F3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16" y="4374154"/>
                <a:ext cx="923636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5D9DFCD7-F8D9-494C-AFF5-AAF23250CE5B}"/>
              </a:ext>
            </a:extLst>
          </p:cNvPr>
          <p:cNvCxnSpPr>
            <a:cxnSpLocks/>
          </p:cNvCxnSpPr>
          <p:nvPr/>
        </p:nvCxnSpPr>
        <p:spPr>
          <a:xfrm>
            <a:off x="7897577" y="4310627"/>
            <a:ext cx="3898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FBC03C5-2173-4038-8221-A593EE723477}"/>
              </a:ext>
            </a:extLst>
          </p:cNvPr>
          <p:cNvSpPr/>
          <p:nvPr/>
        </p:nvSpPr>
        <p:spPr>
          <a:xfrm>
            <a:off x="8248788" y="743748"/>
            <a:ext cx="31956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000" dirty="0"/>
              <a:t>Barwise TF matrix</a:t>
            </a:r>
          </a:p>
        </p:txBody>
      </p:sp>
      <p:sp>
        <p:nvSpPr>
          <p:cNvPr id="149" name="Flèche : droite 148">
            <a:extLst>
              <a:ext uri="{FF2B5EF4-FFF2-40B4-BE49-F238E27FC236}">
                <a16:creationId xmlns:a16="http://schemas.microsoft.com/office/drawing/2014/main" id="{CD936DCD-5671-4D5C-B3FB-F9F89983209D}"/>
              </a:ext>
            </a:extLst>
          </p:cNvPr>
          <p:cNvSpPr/>
          <p:nvPr/>
        </p:nvSpPr>
        <p:spPr>
          <a:xfrm>
            <a:off x="5898299" y="3619550"/>
            <a:ext cx="589620" cy="364684"/>
          </a:xfrm>
          <a:prstGeom prst="rightArrow">
            <a:avLst>
              <a:gd name="adj1" fmla="val 35013"/>
              <a:gd name="adj2" fmla="val 7082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43454FC-C1F8-4E50-94C4-37048A12750A}"/>
              </a:ext>
            </a:extLst>
          </p:cNvPr>
          <p:cNvSpPr/>
          <p:nvPr/>
        </p:nvSpPr>
        <p:spPr>
          <a:xfrm>
            <a:off x="5357021" y="3137400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"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Matricisation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"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ZoneTexte 162">
                <a:extLst>
                  <a:ext uri="{FF2B5EF4-FFF2-40B4-BE49-F238E27FC236}">
                    <a16:creationId xmlns:a16="http://schemas.microsoft.com/office/drawing/2014/main" id="{92D9A7A5-5C38-4FD6-8B4F-5E78A920F102}"/>
                  </a:ext>
                </a:extLst>
              </p:cNvPr>
              <p:cNvSpPr txBox="1"/>
              <p:nvPr/>
            </p:nvSpPr>
            <p:spPr>
              <a:xfrm>
                <a:off x="7119535" y="341424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3" name="ZoneTexte 162">
                <a:extLst>
                  <a:ext uri="{FF2B5EF4-FFF2-40B4-BE49-F238E27FC236}">
                    <a16:creationId xmlns:a16="http://schemas.microsoft.com/office/drawing/2014/main" id="{92D9A7A5-5C38-4FD6-8B4F-5E78A920F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535" y="3414245"/>
                <a:ext cx="9236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260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6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8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0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19232 0.0013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2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29" grpId="0"/>
      <p:bldP spid="130" grpId="0"/>
      <p:bldP spid="132" grpId="0"/>
      <p:bldP spid="138" grpId="0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6" grpId="0"/>
      <p:bldP spid="148" grpId="0"/>
      <p:bldP spid="149" grpId="0" animBg="1"/>
      <p:bldP spid="150" grpId="0"/>
      <p:bldP spid="1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CB98845-6987-47E7-8DD4-1EAB37667423}"/>
              </a:ext>
            </a:extLst>
          </p:cNvPr>
          <p:cNvSpPr/>
          <p:nvPr/>
        </p:nvSpPr>
        <p:spPr>
          <a:xfrm>
            <a:off x="1780204" y="3682950"/>
            <a:ext cx="2859242" cy="10194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D3D2ADC-422A-4BAB-A083-C48C634BF093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C05FEC5-324F-4B4A-958A-2897C7732CF2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1881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56F131-7475-425E-A1ED-D65289A089E6}"/>
              </a:ext>
            </a:extLst>
          </p:cNvPr>
          <p:cNvSpPr/>
          <p:nvPr/>
        </p:nvSpPr>
        <p:spPr>
          <a:xfrm>
            <a:off x="4793169" y="4393777"/>
            <a:ext cx="2605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1A2E40"/>
                </a:solidFill>
              </a:rPr>
              <a:t>(</a:t>
            </a:r>
            <a:r>
              <a:rPr lang="fr-FR" dirty="0" err="1">
                <a:solidFill>
                  <a:srgbClr val="1A2E40"/>
                </a:solidFill>
              </a:rPr>
              <a:t>with</a:t>
            </a:r>
            <a:r>
              <a:rPr lang="fr-FR" dirty="0">
                <a:solidFill>
                  <a:srgbClr val="1A2E40"/>
                </a:solidFill>
              </a:rPr>
              <a:t> open-source code)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EE1B5FEE-B504-469E-8514-B64FB41882EA}"/>
              </a:ext>
            </a:extLst>
          </p:cNvPr>
          <p:cNvSpPr txBox="1">
            <a:spLocks/>
          </p:cNvSpPr>
          <p:nvPr/>
        </p:nvSpPr>
        <p:spPr>
          <a:xfrm>
            <a:off x="4224332" y="3454437"/>
            <a:ext cx="3743325" cy="6633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err="1"/>
              <a:t>algorithm</a:t>
            </a:r>
            <a:endParaRPr lang="fr-FR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F37B8-3EA6-4EC9-B9D3-BF0250F4424F}"/>
              </a:ext>
            </a:extLst>
          </p:cNvPr>
          <p:cNvSpPr/>
          <p:nvPr/>
        </p:nvSpPr>
        <p:spPr>
          <a:xfrm>
            <a:off x="5509136" y="4073601"/>
            <a:ext cx="117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u="sng" dirty="0">
                <a:solidFill>
                  <a:srgbClr val="1A2E40"/>
                </a:solidFill>
              </a:rPr>
              <a:t>[MCB22a]</a:t>
            </a:r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5681B5-8F01-4065-B9E3-78A8BC2565C0}"/>
              </a:ext>
            </a:extLst>
          </p:cNvPr>
          <p:cNvSpPr/>
          <p:nvPr/>
        </p:nvSpPr>
        <p:spPr>
          <a:xfrm>
            <a:off x="747132" y="5858530"/>
            <a:ext cx="1121812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b="1" u="sng" dirty="0"/>
              <a:t>[MCB22a]</a:t>
            </a:r>
            <a:r>
              <a:rPr lang="fr-FR" sz="1050" dirty="0"/>
              <a:t> </a:t>
            </a:r>
            <a:r>
              <a:rPr lang="en-US" sz="1050" b="1" dirty="0"/>
              <a:t>Marmoret, A</a:t>
            </a:r>
            <a:r>
              <a:rPr lang="en-US" sz="1050" dirty="0"/>
              <a:t>., Cohen, J. E., &amp; </a:t>
            </a:r>
            <a:r>
              <a:rPr lang="en-US" sz="1050" dirty="0" err="1"/>
              <a:t>Bimbot</a:t>
            </a:r>
            <a:r>
              <a:rPr lang="en-US" sz="1050" dirty="0"/>
              <a:t>, F. (2022). Convolutive Block-Matching Segmentation Algorithm with Application to Music Structure Analysis. </a:t>
            </a:r>
            <a:r>
              <a:rPr lang="en-US" sz="1050" i="1" dirty="0" err="1"/>
              <a:t>arXiv</a:t>
            </a:r>
            <a:r>
              <a:rPr lang="en-US" sz="1050" i="1" dirty="0"/>
              <a:t> preprint arXiv:2210.15356</a:t>
            </a:r>
            <a:r>
              <a:rPr lang="en-US" sz="1050" dirty="0"/>
              <a:t>.</a:t>
            </a:r>
          </a:p>
          <a:p>
            <a:r>
              <a:rPr lang="en-US" sz="1050" dirty="0"/>
              <a:t>(Submitted to ICASSP 2023)</a:t>
            </a:r>
            <a:endParaRPr lang="en-GB" sz="10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C15E7C-A56D-40C4-A845-C28D129771FC}"/>
              </a:ext>
            </a:extLst>
          </p:cNvPr>
          <p:cNvSpPr/>
          <p:nvPr/>
        </p:nvSpPr>
        <p:spPr>
          <a:xfrm>
            <a:off x="3987311" y="1531519"/>
            <a:ext cx="423383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1A2E40"/>
                </a:solidFill>
              </a:rPr>
              <a:t>Convolutive Block-Matching</a:t>
            </a:r>
            <a:endParaRPr lang="en-GB" sz="4400" b="1" dirty="0">
              <a:solidFill>
                <a:srgbClr val="1A2E40"/>
              </a:solidFill>
            </a:endParaRPr>
          </a:p>
        </p:txBody>
      </p:sp>
      <p:sp>
        <p:nvSpPr>
          <p:cNvPr id="9" name="Titre 3">
            <a:extLst>
              <a:ext uri="{FF2B5EF4-FFF2-40B4-BE49-F238E27FC236}">
                <a16:creationId xmlns:a16="http://schemas.microsoft.com/office/drawing/2014/main" id="{79AB4F1E-28E2-4C8C-8866-686272212609}"/>
              </a:ext>
            </a:extLst>
          </p:cNvPr>
          <p:cNvSpPr txBox="1">
            <a:spLocks/>
          </p:cNvSpPr>
          <p:nvPr/>
        </p:nvSpPr>
        <p:spPr>
          <a:xfrm>
            <a:off x="4232568" y="2879956"/>
            <a:ext cx="3743325" cy="905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(       )</a:t>
            </a:r>
          </a:p>
        </p:txBody>
      </p:sp>
      <p:sp>
        <p:nvSpPr>
          <p:cNvPr id="15" name="Titre 3">
            <a:extLst>
              <a:ext uri="{FF2B5EF4-FFF2-40B4-BE49-F238E27FC236}">
                <a16:creationId xmlns:a16="http://schemas.microsoft.com/office/drawing/2014/main" id="{7D5E2DE6-C853-46EF-87FD-3C74432A66DE}"/>
              </a:ext>
            </a:extLst>
          </p:cNvPr>
          <p:cNvSpPr txBox="1">
            <a:spLocks/>
          </p:cNvSpPr>
          <p:nvPr/>
        </p:nvSpPr>
        <p:spPr>
          <a:xfrm>
            <a:off x="4224331" y="2943771"/>
            <a:ext cx="3743325" cy="905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/>
              <a:t>CBM</a:t>
            </a: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1737886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56F131-7475-425E-A1ED-D65289A089E6}"/>
              </a:ext>
            </a:extLst>
          </p:cNvPr>
          <p:cNvSpPr/>
          <p:nvPr/>
        </p:nvSpPr>
        <p:spPr>
          <a:xfrm>
            <a:off x="511615" y="2554824"/>
            <a:ext cx="2605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>
                <a:solidFill>
                  <a:srgbClr val="1A2E40"/>
                </a:solidFill>
              </a:rPr>
              <a:t>(</a:t>
            </a:r>
            <a:r>
              <a:rPr lang="fr-FR" i="1" dirty="0" err="1">
                <a:solidFill>
                  <a:srgbClr val="1A2E40"/>
                </a:solidFill>
              </a:rPr>
              <a:t>with</a:t>
            </a:r>
            <a:r>
              <a:rPr lang="fr-FR" i="1" dirty="0">
                <a:solidFill>
                  <a:srgbClr val="1A2E40"/>
                </a:solidFill>
              </a:rPr>
              <a:t> open-source code)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2DB344E4-ACE4-4CB3-BC49-1D4BD761FDB4}"/>
              </a:ext>
            </a:extLst>
          </p:cNvPr>
          <p:cNvSpPr/>
          <p:nvPr/>
        </p:nvSpPr>
        <p:spPr>
          <a:xfrm>
            <a:off x="8270150" y="2680980"/>
            <a:ext cx="866772" cy="377058"/>
          </a:xfrm>
          <a:prstGeom prst="rightArrow">
            <a:avLst>
              <a:gd name="adj1" fmla="val 45968"/>
              <a:gd name="adj2" fmla="val 554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AD38D4D-6A68-4085-BC1E-B12967F9147C}"/>
              </a:ext>
            </a:extLst>
          </p:cNvPr>
          <p:cNvSpPr txBox="1"/>
          <p:nvPr/>
        </p:nvSpPr>
        <p:spPr>
          <a:xfrm>
            <a:off x="9534114" y="2690086"/>
            <a:ext cx="1717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[0,4,8,16,20,25]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B822DCE-C1B5-4FD5-9986-6C15B8F4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1448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23</a:t>
            </a:fld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091CE0-782D-40EF-977E-F2258F2E997C}"/>
              </a:ext>
            </a:extLst>
          </p:cNvPr>
          <p:cNvSpPr/>
          <p:nvPr/>
        </p:nvSpPr>
        <p:spPr>
          <a:xfrm>
            <a:off x="514012" y="5863018"/>
            <a:ext cx="31780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b="1" u="sng" dirty="0"/>
              <a:t>[MCB22a]</a:t>
            </a:r>
            <a:r>
              <a:rPr lang="fr-FR" sz="900" dirty="0"/>
              <a:t> </a:t>
            </a:r>
            <a:r>
              <a:rPr lang="en-US" sz="900" b="1" dirty="0"/>
              <a:t>Marmoret, A</a:t>
            </a:r>
            <a:r>
              <a:rPr lang="en-US" sz="900" dirty="0"/>
              <a:t>., Cohen, J. E., &amp; </a:t>
            </a:r>
            <a:r>
              <a:rPr lang="en-US" sz="900" dirty="0" err="1"/>
              <a:t>Bimbot</a:t>
            </a:r>
            <a:r>
              <a:rPr lang="en-US" sz="900" dirty="0"/>
              <a:t>, F. (2022). Convolutive Block-Matching Segmentation Algorithm with Application to Music Structure Analysis. </a:t>
            </a:r>
            <a:r>
              <a:rPr lang="en-US" sz="900" i="1" dirty="0" err="1"/>
              <a:t>arXiv</a:t>
            </a:r>
            <a:r>
              <a:rPr lang="en-US" sz="900" i="1" dirty="0"/>
              <a:t> preprint arXiv:2210.15356</a:t>
            </a:r>
            <a:r>
              <a:rPr lang="en-US" sz="900" dirty="0"/>
              <a:t>.</a:t>
            </a:r>
          </a:p>
          <a:p>
            <a:r>
              <a:rPr lang="en-US" sz="900" dirty="0"/>
              <a:t>(Submitted to ICASSP 2023)</a:t>
            </a:r>
            <a:endParaRPr lang="en-GB" sz="900" dirty="0"/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D3B1E53B-AAD7-4B86-92C1-C07FB0A7CA97}"/>
              </a:ext>
            </a:extLst>
          </p:cNvPr>
          <p:cNvSpPr txBox="1">
            <a:spLocks/>
          </p:cNvSpPr>
          <p:nvPr/>
        </p:nvSpPr>
        <p:spPr>
          <a:xfrm>
            <a:off x="477397" y="1042318"/>
            <a:ext cx="3743325" cy="905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CBM</a:t>
            </a:r>
            <a:endParaRPr lang="fr-FR" b="1" u="sng" dirty="0"/>
          </a:p>
        </p:txBody>
      </p:sp>
      <p:sp>
        <p:nvSpPr>
          <p:cNvPr id="15" name="Titre 3">
            <a:extLst>
              <a:ext uri="{FF2B5EF4-FFF2-40B4-BE49-F238E27FC236}">
                <a16:creationId xmlns:a16="http://schemas.microsoft.com/office/drawing/2014/main" id="{D5BED1A7-2053-4322-A291-2E904D988A93}"/>
              </a:ext>
            </a:extLst>
          </p:cNvPr>
          <p:cNvSpPr txBox="1">
            <a:spLocks/>
          </p:cNvSpPr>
          <p:nvPr/>
        </p:nvSpPr>
        <p:spPr>
          <a:xfrm>
            <a:off x="511615" y="1604466"/>
            <a:ext cx="2605675" cy="6633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 err="1"/>
              <a:t>algorithm</a:t>
            </a:r>
            <a:endParaRPr lang="fr-FR" b="1" u="s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BED09C-A06F-4926-96E8-D1D14CDA07CF}"/>
              </a:ext>
            </a:extLst>
          </p:cNvPr>
          <p:cNvSpPr/>
          <p:nvPr/>
        </p:nvSpPr>
        <p:spPr>
          <a:xfrm>
            <a:off x="511615" y="2185492"/>
            <a:ext cx="1173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u="sng" dirty="0">
                <a:solidFill>
                  <a:srgbClr val="1A2E40"/>
                </a:solidFill>
              </a:rPr>
              <a:t>[MCB22a]</a:t>
            </a:r>
            <a:endParaRPr lang="en-GB" dirty="0">
              <a:solidFill>
                <a:srgbClr val="1A2E40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B20158D-F9F3-41A5-A595-FC755032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002" y="911948"/>
            <a:ext cx="3352896" cy="389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9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24</a:t>
            </a:fld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8E8CEDC-64E3-4BB0-A9DB-8A6E2282832D}"/>
              </a:ext>
            </a:extLst>
          </p:cNvPr>
          <p:cNvSpPr txBox="1">
            <a:spLocks/>
          </p:cNvSpPr>
          <p:nvPr/>
        </p:nvSpPr>
        <p:spPr>
          <a:xfrm>
            <a:off x="1358900" y="603085"/>
            <a:ext cx="9601200" cy="8433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Barwise autosimilarity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1F2124-9FC8-49A9-BC01-10497F195A6C}"/>
              </a:ext>
            </a:extLst>
          </p:cNvPr>
          <p:cNvSpPr/>
          <p:nvPr/>
        </p:nvSpPr>
        <p:spPr>
          <a:xfrm>
            <a:off x="1913169" y="3927103"/>
            <a:ext cx="3549419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D00036-A409-4887-8705-C91910768D73}"/>
              </a:ext>
            </a:extLst>
          </p:cNvPr>
          <p:cNvSpPr/>
          <p:nvPr/>
        </p:nvSpPr>
        <p:spPr>
          <a:xfrm>
            <a:off x="1913169" y="4107183"/>
            <a:ext cx="3549418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34E8CD-6146-4545-BCB1-8A8820ADA21A}"/>
              </a:ext>
            </a:extLst>
          </p:cNvPr>
          <p:cNvSpPr/>
          <p:nvPr/>
        </p:nvSpPr>
        <p:spPr>
          <a:xfrm>
            <a:off x="1913169" y="4285275"/>
            <a:ext cx="3549416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264C0FD-DBAF-4BEE-B072-F5E88EDEA41B}"/>
              </a:ext>
            </a:extLst>
          </p:cNvPr>
          <p:cNvSpPr/>
          <p:nvPr/>
        </p:nvSpPr>
        <p:spPr>
          <a:xfrm>
            <a:off x="8983916" y="3963022"/>
            <a:ext cx="1080000" cy="108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39E0E2DF-E5BD-4715-9ED5-8EEDAE695654}"/>
              </a:ext>
            </a:extLst>
          </p:cNvPr>
          <p:cNvCxnSpPr>
            <a:cxnSpLocks/>
          </p:cNvCxnSpPr>
          <p:nvPr/>
        </p:nvCxnSpPr>
        <p:spPr>
          <a:xfrm flipV="1">
            <a:off x="1785408" y="3938735"/>
            <a:ext cx="0" cy="103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C65DC87-BDF3-4B1A-9EE8-6F2812222EAD}"/>
                  </a:ext>
                </a:extLst>
              </p:cNvPr>
              <p:cNvSpPr txBox="1"/>
              <p:nvPr/>
            </p:nvSpPr>
            <p:spPr>
              <a:xfrm>
                <a:off x="1438603" y="4270275"/>
                <a:ext cx="298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C65DC87-BDF3-4B1A-9EE8-6F2812222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603" y="4270275"/>
                <a:ext cx="29846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C136F458-CB1D-48B1-B25C-2883D159476E}"/>
              </a:ext>
            </a:extLst>
          </p:cNvPr>
          <p:cNvCxnSpPr>
            <a:cxnSpLocks/>
          </p:cNvCxnSpPr>
          <p:nvPr/>
        </p:nvCxnSpPr>
        <p:spPr>
          <a:xfrm>
            <a:off x="9087429" y="5184963"/>
            <a:ext cx="990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84C7820-05B3-478E-8FF4-D7F6D0069F67}"/>
                  </a:ext>
                </a:extLst>
              </p:cNvPr>
              <p:cNvSpPr txBox="1"/>
              <p:nvPr/>
            </p:nvSpPr>
            <p:spPr>
              <a:xfrm>
                <a:off x="9412699" y="5141173"/>
                <a:ext cx="210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84C7820-05B3-478E-8FF4-D7F6D006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699" y="5141173"/>
                <a:ext cx="210254" cy="369332"/>
              </a:xfrm>
              <a:prstGeom prst="rect">
                <a:avLst/>
              </a:prstGeom>
              <a:blipFill>
                <a:blip r:embed="rId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5D56739E-9485-4D6E-86AE-823A669F9C5D}"/>
              </a:ext>
            </a:extLst>
          </p:cNvPr>
          <p:cNvCxnSpPr>
            <a:cxnSpLocks/>
          </p:cNvCxnSpPr>
          <p:nvPr/>
        </p:nvCxnSpPr>
        <p:spPr>
          <a:xfrm flipV="1">
            <a:off x="10185295" y="4000260"/>
            <a:ext cx="0" cy="103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65132914-E3B0-4841-8117-ADF032606456}"/>
                  </a:ext>
                </a:extLst>
              </p:cNvPr>
              <p:cNvSpPr txBox="1"/>
              <p:nvPr/>
            </p:nvSpPr>
            <p:spPr>
              <a:xfrm>
                <a:off x="10196338" y="4335397"/>
                <a:ext cx="210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65132914-E3B0-4841-8117-ADF032606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338" y="4335397"/>
                <a:ext cx="210254" cy="369332"/>
              </a:xfrm>
              <a:prstGeom prst="rect">
                <a:avLst/>
              </a:prstGeom>
              <a:blipFill>
                <a:blip r:embed="rId5"/>
                <a:stretch>
                  <a:fillRect r="-44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F653DA55-8684-4C85-8B06-6D47BDED9442}"/>
              </a:ext>
            </a:extLst>
          </p:cNvPr>
          <p:cNvSpPr/>
          <p:nvPr/>
        </p:nvSpPr>
        <p:spPr>
          <a:xfrm rot="5400000">
            <a:off x="8983916" y="3967607"/>
            <a:ext cx="180000" cy="180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0ECECA6-0277-419A-A3F0-D97FBCB01312}"/>
                  </a:ext>
                </a:extLst>
              </p:cNvPr>
              <p:cNvSpPr txBox="1"/>
              <p:nvPr/>
            </p:nvSpPr>
            <p:spPr>
              <a:xfrm>
                <a:off x="3385967" y="3461757"/>
                <a:ext cx="298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0ECECA6-0277-419A-A3F0-D97FBCB01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967" y="3461757"/>
                <a:ext cx="298460" cy="369332"/>
              </a:xfrm>
              <a:prstGeom prst="rect">
                <a:avLst/>
              </a:prstGeom>
              <a:blipFill>
                <a:blip r:embed="rId6"/>
                <a:stretch>
                  <a:fillRect r="-102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5D6350F-4AFB-4DB4-9C49-B5EC8A19069E}"/>
              </a:ext>
            </a:extLst>
          </p:cNvPr>
          <p:cNvCxnSpPr>
            <a:cxnSpLocks/>
          </p:cNvCxnSpPr>
          <p:nvPr/>
        </p:nvCxnSpPr>
        <p:spPr>
          <a:xfrm>
            <a:off x="1950905" y="5137723"/>
            <a:ext cx="3475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55B67E94-7E84-466F-88C6-0A8216AB5DAC}"/>
                  </a:ext>
                </a:extLst>
              </p:cNvPr>
              <p:cNvSpPr txBox="1"/>
              <p:nvPr/>
            </p:nvSpPr>
            <p:spPr>
              <a:xfrm>
                <a:off x="3488647" y="5141173"/>
                <a:ext cx="298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55B67E94-7E84-466F-88C6-0A8216AB5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47" y="5141173"/>
                <a:ext cx="298460" cy="369332"/>
              </a:xfrm>
              <a:prstGeom prst="rect">
                <a:avLst/>
              </a:prstGeom>
              <a:blipFill>
                <a:blip r:embed="rId7"/>
                <a:stretch>
                  <a:fillRect l="-6122" r="-40816"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D14038AE-DCC6-414C-8895-1904E3527AF5}"/>
                  </a:ext>
                </a:extLst>
              </p:cNvPr>
              <p:cNvSpPr txBox="1"/>
              <p:nvPr/>
            </p:nvSpPr>
            <p:spPr>
              <a:xfrm>
                <a:off x="9181395" y="3547209"/>
                <a:ext cx="298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D14038AE-DCC6-414C-8895-1904E3527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395" y="3547209"/>
                <a:ext cx="298460" cy="369332"/>
              </a:xfrm>
              <a:prstGeom prst="rect">
                <a:avLst/>
              </a:prstGeom>
              <a:blipFill>
                <a:blip r:embed="rId8"/>
                <a:stretch>
                  <a:fillRect r="-132653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BB97CF4D-1229-4B82-B7FA-EED43641D47C}"/>
              </a:ext>
            </a:extLst>
          </p:cNvPr>
          <p:cNvSpPr/>
          <p:nvPr/>
        </p:nvSpPr>
        <p:spPr>
          <a:xfrm rot="5400000">
            <a:off x="9160710" y="3965888"/>
            <a:ext cx="180000" cy="180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950A38-DEC6-4BB5-B454-0699D240E8A8}"/>
              </a:ext>
            </a:extLst>
          </p:cNvPr>
          <p:cNvSpPr/>
          <p:nvPr/>
        </p:nvSpPr>
        <p:spPr>
          <a:xfrm rot="5400000">
            <a:off x="9882313" y="3965609"/>
            <a:ext cx="180000" cy="180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3AD93A-7A62-4F8F-86BF-B19B2FD60D8F}"/>
              </a:ext>
            </a:extLst>
          </p:cNvPr>
          <p:cNvSpPr/>
          <p:nvPr/>
        </p:nvSpPr>
        <p:spPr>
          <a:xfrm rot="5400000">
            <a:off x="9532953" y="4635632"/>
            <a:ext cx="180000" cy="180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97DDFB5-0363-4D78-AC89-8388C1307740}"/>
                  </a:ext>
                </a:extLst>
              </p:cNvPr>
              <p:cNvSpPr txBox="1"/>
              <p:nvPr/>
            </p:nvSpPr>
            <p:spPr>
              <a:xfrm>
                <a:off x="6026596" y="3585600"/>
                <a:ext cx="2144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97DDFB5-0363-4D78-AC89-8388C1307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596" y="3585600"/>
                <a:ext cx="21445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197575E2-D3B1-48D7-84B1-803263FA5A80}"/>
                  </a:ext>
                </a:extLst>
              </p:cNvPr>
              <p:cNvSpPr txBox="1"/>
              <p:nvPr/>
            </p:nvSpPr>
            <p:spPr>
              <a:xfrm>
                <a:off x="6026596" y="3585502"/>
                <a:ext cx="2144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197575E2-D3B1-48D7-84B1-803263FA5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596" y="3585502"/>
                <a:ext cx="21445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F966D2-2832-40E4-ADDE-D0A0FD7CB2D3}"/>
                  </a:ext>
                </a:extLst>
              </p:cNvPr>
              <p:cNvSpPr txBox="1"/>
              <p:nvPr/>
            </p:nvSpPr>
            <p:spPr>
              <a:xfrm>
                <a:off x="6026596" y="3586438"/>
                <a:ext cx="2144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F966D2-2832-40E4-ADDE-D0A0FD7CB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596" y="3586438"/>
                <a:ext cx="214456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D3C66815-AE52-44C0-90F0-B3155282F097}"/>
                  </a:ext>
                </a:extLst>
              </p:cNvPr>
              <p:cNvSpPr txBox="1"/>
              <p:nvPr/>
            </p:nvSpPr>
            <p:spPr>
              <a:xfrm>
                <a:off x="6032509" y="3585749"/>
                <a:ext cx="2144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D3C66815-AE52-44C0-90F0-B3155282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9" y="3585749"/>
                <a:ext cx="2144565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Espace réservé du contenu 2">
                <a:extLst>
                  <a:ext uri="{FF2B5EF4-FFF2-40B4-BE49-F238E27FC236}">
                    <a16:creationId xmlns:a16="http://schemas.microsoft.com/office/drawing/2014/main" id="{50DFE8F8-39BC-46E3-8641-A5844B2E57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8900" y="1822994"/>
                <a:ext cx="6460067" cy="1108691"/>
              </a:xfrm>
            </p:spPr>
            <p:txBody>
              <a:bodyPr>
                <a:normAutofit/>
              </a:bodyPr>
              <a:lstStyle/>
              <a:p>
                <a:r>
                  <a:rPr lang="fr-FR" dirty="0" err="1"/>
                  <a:t>Similarity</a:t>
                </a:r>
                <a:r>
                  <a:rPr lang="fr-FR" dirty="0"/>
                  <a:t> </a:t>
                </a:r>
                <a:r>
                  <a:rPr lang="fr-FR" dirty="0" err="1"/>
                  <a:t>between</a:t>
                </a:r>
                <a:r>
                  <a:rPr lang="fr-FR" dirty="0"/>
                  <a:t> pairs of bars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 err="1"/>
                  <a:t>Depends</a:t>
                </a:r>
                <a:r>
                  <a:rPr lang="fr-FR" dirty="0"/>
                  <a:t> on a </a:t>
                </a:r>
                <a:r>
                  <a:rPr lang="fr-FR" dirty="0" err="1"/>
                  <a:t>similarity</a:t>
                </a:r>
                <a:r>
                  <a:rPr lang="fr-FR" dirty="0"/>
                  <a:t> </a:t>
                </a:r>
                <a:r>
                  <a:rPr lang="fr-FR" dirty="0" err="1"/>
                  <a:t>function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0" name="Espace réservé du contenu 2">
                <a:extLst>
                  <a:ext uri="{FF2B5EF4-FFF2-40B4-BE49-F238E27FC236}">
                    <a16:creationId xmlns:a16="http://schemas.microsoft.com/office/drawing/2014/main" id="{50DFE8F8-39BC-46E3-8641-A5844B2E57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8900" y="1822994"/>
                <a:ext cx="6460067" cy="1108691"/>
              </a:xfrm>
              <a:blipFill>
                <a:blip r:embed="rId13"/>
                <a:stretch>
                  <a:fillRect l="-849" t="-4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Image 72">
            <a:extLst>
              <a:ext uri="{FF2B5EF4-FFF2-40B4-BE49-F238E27FC236}">
                <a16:creationId xmlns:a16="http://schemas.microsoft.com/office/drawing/2014/main" id="{6539D57D-E0C3-46FD-8EB9-9F61BE96E78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5" t="19571" r="513" b="556"/>
          <a:stretch/>
        </p:blipFill>
        <p:spPr>
          <a:xfrm>
            <a:off x="8068809" y="3195060"/>
            <a:ext cx="2575799" cy="2658684"/>
          </a:xfrm>
          <a:prstGeom prst="rect">
            <a:avLst/>
          </a:prstGeom>
        </p:spPr>
      </p:pic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D79C88C5-B44E-4B4D-8D5D-437F8624F76F}"/>
              </a:ext>
            </a:extLst>
          </p:cNvPr>
          <p:cNvCxnSpPr>
            <a:cxnSpLocks/>
          </p:cNvCxnSpPr>
          <p:nvPr/>
        </p:nvCxnSpPr>
        <p:spPr>
          <a:xfrm>
            <a:off x="8068809" y="6004931"/>
            <a:ext cx="2542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7335C5CF-5ED3-4525-8461-1312AF862DF7}"/>
                  </a:ext>
                </a:extLst>
              </p:cNvPr>
              <p:cNvSpPr txBox="1"/>
              <p:nvPr/>
            </p:nvSpPr>
            <p:spPr>
              <a:xfrm>
                <a:off x="9129983" y="6116785"/>
                <a:ext cx="210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7335C5CF-5ED3-4525-8461-1312AF862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983" y="6116785"/>
                <a:ext cx="210254" cy="369332"/>
              </a:xfrm>
              <a:prstGeom prst="rect">
                <a:avLst/>
              </a:prstGeom>
              <a:blipFill>
                <a:blip r:embed="rId15"/>
                <a:stretch>
                  <a:fillRect r="-44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86EAC6C9-BF1E-4115-9F50-DAFB04EAFAE7}"/>
              </a:ext>
            </a:extLst>
          </p:cNvPr>
          <p:cNvCxnSpPr>
            <a:cxnSpLocks/>
          </p:cNvCxnSpPr>
          <p:nvPr/>
        </p:nvCxnSpPr>
        <p:spPr>
          <a:xfrm flipV="1">
            <a:off x="7948694" y="3267069"/>
            <a:ext cx="11787" cy="2586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50E5C76-CEA2-4F53-99A3-B03082602B3E}"/>
                  </a:ext>
                </a:extLst>
              </p:cNvPr>
              <p:cNvSpPr txBox="1"/>
              <p:nvPr/>
            </p:nvSpPr>
            <p:spPr>
              <a:xfrm>
                <a:off x="7611135" y="4259571"/>
                <a:ext cx="210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50E5C76-CEA2-4F53-99A3-B03082602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135" y="4259571"/>
                <a:ext cx="210254" cy="369332"/>
              </a:xfrm>
              <a:prstGeom prst="rect">
                <a:avLst/>
              </a:prstGeom>
              <a:blipFill>
                <a:blip r:embed="rId16"/>
                <a:stretch>
                  <a:fillRect r="-44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B3C94F88-B863-448F-B5FD-6476AC9286DE}"/>
                  </a:ext>
                </a:extLst>
              </p:cNvPr>
              <p:cNvSpPr txBox="1"/>
              <p:nvPr/>
            </p:nvSpPr>
            <p:spPr>
              <a:xfrm>
                <a:off x="8857167" y="2836826"/>
                <a:ext cx="298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B3C94F88-B863-448F-B5FD-6476AC928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167" y="2836826"/>
                <a:ext cx="298460" cy="369332"/>
              </a:xfrm>
              <a:prstGeom prst="rect">
                <a:avLst/>
              </a:prstGeom>
              <a:blipFill>
                <a:blip r:embed="rId17"/>
                <a:stretch>
                  <a:fillRect r="-132653"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A98F92D3-52AF-4B08-B1CF-1B013F370131}"/>
              </a:ext>
            </a:extLst>
          </p:cNvPr>
          <p:cNvSpPr/>
          <p:nvPr/>
        </p:nvSpPr>
        <p:spPr>
          <a:xfrm rot="5400000">
            <a:off x="3596964" y="2243449"/>
            <a:ext cx="180051" cy="3546086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F61781-0AFC-4004-BF2E-21B62602D592}"/>
              </a:ext>
            </a:extLst>
          </p:cNvPr>
          <p:cNvSpPr/>
          <p:nvPr/>
        </p:nvSpPr>
        <p:spPr>
          <a:xfrm rot="5400000">
            <a:off x="3600425" y="2243823"/>
            <a:ext cx="176340" cy="354609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9D9C139-2528-4578-8314-902C6F5CA855}"/>
              </a:ext>
            </a:extLst>
          </p:cNvPr>
          <p:cNvSpPr/>
          <p:nvPr/>
        </p:nvSpPr>
        <p:spPr>
          <a:xfrm>
            <a:off x="1913169" y="4465573"/>
            <a:ext cx="3549416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003C06-D463-4F07-94DE-B8C7963FCD82}"/>
              </a:ext>
            </a:extLst>
          </p:cNvPr>
          <p:cNvSpPr/>
          <p:nvPr/>
        </p:nvSpPr>
        <p:spPr>
          <a:xfrm>
            <a:off x="1913169" y="4643449"/>
            <a:ext cx="3549416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0D709C6-5465-4BC6-B388-29016D3E198A}"/>
              </a:ext>
            </a:extLst>
          </p:cNvPr>
          <p:cNvSpPr/>
          <p:nvPr/>
        </p:nvSpPr>
        <p:spPr>
          <a:xfrm>
            <a:off x="1913169" y="4824585"/>
            <a:ext cx="3549416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88E88FE-203F-48C6-8FFB-140F2F7CDDFF}"/>
              </a:ext>
            </a:extLst>
          </p:cNvPr>
          <p:cNvSpPr/>
          <p:nvPr/>
        </p:nvSpPr>
        <p:spPr>
          <a:xfrm rot="5400000">
            <a:off x="3600149" y="2424687"/>
            <a:ext cx="175087" cy="354609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3939A88-02D6-4C52-B355-B95BBC8866E8}"/>
              </a:ext>
            </a:extLst>
          </p:cNvPr>
          <p:cNvSpPr/>
          <p:nvPr/>
        </p:nvSpPr>
        <p:spPr>
          <a:xfrm rot="5400000">
            <a:off x="3603585" y="3144219"/>
            <a:ext cx="174748" cy="354609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2E0925-AC7E-4086-BF9D-D5E33FF2F2D6}"/>
              </a:ext>
            </a:extLst>
          </p:cNvPr>
          <p:cNvSpPr/>
          <p:nvPr/>
        </p:nvSpPr>
        <p:spPr>
          <a:xfrm rot="5400000">
            <a:off x="3603585" y="2782864"/>
            <a:ext cx="174748" cy="354609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1CB4CA-7C13-4C4D-A12E-EF4E615F9762}"/>
              </a:ext>
            </a:extLst>
          </p:cNvPr>
          <p:cNvSpPr/>
          <p:nvPr/>
        </p:nvSpPr>
        <p:spPr>
          <a:xfrm rot="5400000">
            <a:off x="3598840" y="2960717"/>
            <a:ext cx="174748" cy="354609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94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1" grpId="0"/>
      <p:bldP spid="63" grpId="0"/>
      <p:bldP spid="67" grpId="0" animBg="1"/>
      <p:bldP spid="67" grpId="1" animBg="1"/>
      <p:bldP spid="39" grpId="0"/>
      <p:bldP spid="42" grpId="0" animBg="1"/>
      <p:bldP spid="42" grpId="1" animBg="1"/>
      <p:bldP spid="44" grpId="0" animBg="1"/>
      <p:bldP spid="44" grpId="1" animBg="1"/>
      <p:bldP spid="47" grpId="0" animBg="1"/>
      <p:bldP spid="47" grpId="1" animBg="1"/>
      <p:bldP spid="31" grpId="0"/>
      <p:bldP spid="31" grpId="1"/>
      <p:bldP spid="48" grpId="0"/>
      <p:bldP spid="48" grpId="1"/>
      <p:bldP spid="52" grpId="0"/>
      <p:bldP spid="52" grpId="1"/>
      <p:bldP spid="53" grpId="0"/>
      <p:bldP spid="53" grpId="1"/>
      <p:bldP spid="75" grpId="0"/>
      <p:bldP spid="77" grpId="0"/>
      <p:bldP spid="78" grpId="0"/>
      <p:bldP spid="46" grpId="0" animBg="1"/>
      <p:bldP spid="46" grpId="1" animBg="1"/>
      <p:bldP spid="51" grpId="0" animBg="1"/>
      <p:bldP spid="51" grpId="1" animBg="1"/>
      <p:bldP spid="51" grpId="2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205B2-72BC-4848-9129-1D372174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277" y="282251"/>
            <a:ext cx="10737649" cy="986712"/>
          </a:xfrm>
        </p:spPr>
        <p:txBody>
          <a:bodyPr>
            <a:normAutofit fontScale="90000"/>
          </a:bodyPr>
          <a:lstStyle/>
          <a:p>
            <a:r>
              <a:rPr lang="fr-FR" dirty="0"/>
              <a:t>Convolutive Block-Matching (CBM) </a:t>
            </a:r>
            <a:r>
              <a:rPr lang="fr-FR" dirty="0" err="1"/>
              <a:t>algorithm</a:t>
            </a:r>
            <a:br>
              <a:rPr lang="fr-FR" dirty="0"/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A5CD0BF-E4CB-4DE4-BCE0-D26F8A38B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30385" y="1713541"/>
                <a:ext cx="6425423" cy="4305183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Idea: </a:t>
                </a:r>
                <a:r>
                  <a:rPr lang="fr-FR" b="1" dirty="0"/>
                  <a:t>framing square blocks of high </a:t>
                </a:r>
                <a:r>
                  <a:rPr lang="fr-FR" b="1" dirty="0" err="1"/>
                  <a:t>similarity</a:t>
                </a:r>
                <a:r>
                  <a:rPr lang="fr-FR" b="1" dirty="0"/>
                  <a:t> </a:t>
                </a:r>
                <a:r>
                  <a:rPr lang="fr-FR" dirty="0"/>
                  <a:t>in the diagonal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 err="1"/>
                  <a:t>Principle</a:t>
                </a:r>
                <a:r>
                  <a:rPr lang="fr-FR" dirty="0"/>
                  <a:t>:</a:t>
                </a:r>
              </a:p>
              <a:p>
                <a:pPr lvl="1"/>
                <a:r>
                  <a:rPr lang="fr-FR" b="1" dirty="0"/>
                  <a:t>score 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fr-F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for </a:t>
                </a:r>
                <a:r>
                  <a:rPr lang="fr-FR" b="1" dirty="0" err="1"/>
                  <a:t>each</a:t>
                </a:r>
                <a:r>
                  <a:rPr lang="fr-FR" b="1" dirty="0"/>
                  <a:t> segment </a:t>
                </a:r>
                <a:r>
                  <a:rPr lang="fr-FR" dirty="0"/>
                  <a:t>(</a:t>
                </a:r>
                <a:r>
                  <a:rPr lang="fr-FR" dirty="0" err="1"/>
                  <a:t>weighted</a:t>
                </a:r>
                <a:r>
                  <a:rPr lang="fr-FR" dirty="0"/>
                  <a:t> </a:t>
                </a:r>
                <a:r>
                  <a:rPr lang="fr-FR" dirty="0" err="1"/>
                  <a:t>average</a:t>
                </a:r>
                <a:r>
                  <a:rPr lang="fr-FR" dirty="0"/>
                  <a:t>)</a:t>
                </a:r>
              </a:p>
              <a:p>
                <a:pPr lvl="1"/>
                <a:r>
                  <a:rPr lang="fr-FR" b="1" dirty="0" err="1"/>
                  <a:t>maximizing</a:t>
                </a:r>
                <a:r>
                  <a:rPr lang="fr-FR" dirty="0"/>
                  <a:t> the segmentation (set of segments) via </a:t>
                </a:r>
                <a:r>
                  <a:rPr lang="fr-FR" b="1" dirty="0" err="1"/>
                  <a:t>dynamic</a:t>
                </a:r>
                <a:r>
                  <a:rPr lang="fr-FR" b="1" dirty="0"/>
                  <a:t> </a:t>
                </a:r>
                <a:r>
                  <a:rPr lang="fr-FR" b="1" dirty="0" err="1"/>
                  <a:t>programming</a:t>
                </a:r>
                <a:endParaRPr lang="fr-FR" b="1" dirty="0"/>
              </a:p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A5CD0BF-E4CB-4DE4-BCE0-D26F8A38B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30385" y="1713541"/>
                <a:ext cx="6425423" cy="4305183"/>
              </a:xfrm>
              <a:blipFill>
                <a:blip r:embed="rId3"/>
                <a:stretch>
                  <a:fillRect l="-854" t="-11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25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0BCF611-D51A-45DD-BFD1-95EC3FD39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77" y="1433066"/>
            <a:ext cx="3595247" cy="3595247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9DC15F50-1FC1-4CF2-86F6-82605406E258}"/>
              </a:ext>
            </a:extLst>
          </p:cNvPr>
          <p:cNvSpPr/>
          <p:nvPr/>
        </p:nvSpPr>
        <p:spPr>
          <a:xfrm rot="5400000">
            <a:off x="3095996" y="5194096"/>
            <a:ext cx="448866" cy="377058"/>
          </a:xfrm>
          <a:prstGeom prst="rightArrow">
            <a:avLst>
              <a:gd name="adj1" fmla="val 45968"/>
              <a:gd name="adj2" fmla="val 554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C72C19-329B-4490-ADAE-639055112FAE}"/>
              </a:ext>
            </a:extLst>
          </p:cNvPr>
          <p:cNvSpPr txBox="1"/>
          <p:nvPr/>
        </p:nvSpPr>
        <p:spPr>
          <a:xfrm>
            <a:off x="2393736" y="5649392"/>
            <a:ext cx="18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[0,4,8,16,20,25]</a:t>
            </a:r>
          </a:p>
        </p:txBody>
      </p:sp>
    </p:spTree>
    <p:extLst>
      <p:ext uri="{BB962C8B-B14F-4D97-AF65-F5344CB8AC3E}">
        <p14:creationId xmlns:p14="http://schemas.microsoft.com/office/powerpoint/2010/main" val="129907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26</a:t>
            </a:fld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8E8CEDC-64E3-4BB0-A9DB-8A6E2282832D}"/>
              </a:ext>
            </a:extLst>
          </p:cNvPr>
          <p:cNvSpPr txBox="1">
            <a:spLocks/>
          </p:cNvSpPr>
          <p:nvPr/>
        </p:nvSpPr>
        <p:spPr>
          <a:xfrm>
            <a:off x="1371600" y="345783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Cosine</a:t>
            </a:r>
            <a:r>
              <a:rPr lang="fr-FR" dirty="0"/>
              <a:t> autosimilarity</a:t>
            </a:r>
          </a:p>
          <a:p>
            <a:r>
              <a:rPr lang="fr-FR" sz="2400" dirty="0"/>
              <a:t>"Come </a:t>
            </a:r>
            <a:r>
              <a:rPr lang="fr-FR" sz="2400" dirty="0" err="1"/>
              <a:t>Together</a:t>
            </a:r>
            <a:r>
              <a:rPr lang="fr-FR" sz="2400" dirty="0"/>
              <a:t>"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D6992A00-6412-493D-A174-5FCF241AF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9778" y="2083625"/>
                <a:ext cx="5099050" cy="3756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⟨"/>
                            <m:endChr m:val="⟩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Standard autosimilarity in </a:t>
                </a:r>
                <a:r>
                  <a:rPr lang="fr-FR" dirty="0" err="1"/>
                  <a:t>literature</a:t>
                </a:r>
                <a:r>
                  <a:rPr lang="fr-FR" dirty="0"/>
                  <a:t> </a:t>
                </a:r>
                <a:r>
                  <a:rPr lang="fr-FR" sz="1400" dirty="0"/>
                  <a:t>[Foo00]</a:t>
                </a:r>
                <a:endParaRPr lang="fr-FR" dirty="0"/>
              </a:p>
            </p:txBody>
          </p:sp>
        </mc:Choice>
        <mc:Fallback xmlns="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D6992A00-6412-493D-A174-5FCF241AF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78" y="2083625"/>
                <a:ext cx="5099050" cy="3756272"/>
              </a:xfrm>
              <a:prstGeom prst="rect">
                <a:avLst/>
              </a:prstGeom>
              <a:blipFill>
                <a:blip r:embed="rId3"/>
                <a:stretch>
                  <a:fillRect l="-1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A4E859E8-2A14-4D20-BCC7-F23C5D72B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00" y="1730083"/>
            <a:ext cx="3937621" cy="385787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EA47301-6109-42B1-A547-56147905CA92}"/>
              </a:ext>
            </a:extLst>
          </p:cNvPr>
          <p:cNvSpPr/>
          <p:nvPr/>
        </p:nvSpPr>
        <p:spPr>
          <a:xfrm>
            <a:off x="1820873" y="1854994"/>
            <a:ext cx="150019" cy="147637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E0D53E-65DD-491B-8EB7-A972F0BF25B7}"/>
              </a:ext>
            </a:extLst>
          </p:cNvPr>
          <p:cNvSpPr/>
          <p:nvPr/>
        </p:nvSpPr>
        <p:spPr>
          <a:xfrm>
            <a:off x="1974527" y="2002631"/>
            <a:ext cx="150019" cy="138113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F0A74-069A-4E3E-BB14-14F8FE9AE36C}"/>
              </a:ext>
            </a:extLst>
          </p:cNvPr>
          <p:cNvSpPr/>
          <p:nvPr/>
        </p:nvSpPr>
        <p:spPr>
          <a:xfrm>
            <a:off x="2122165" y="2140744"/>
            <a:ext cx="150019" cy="150019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978DB8-8B73-4275-A2B2-FBE2A06B7B05}"/>
              </a:ext>
            </a:extLst>
          </p:cNvPr>
          <p:cNvSpPr/>
          <p:nvPr/>
        </p:nvSpPr>
        <p:spPr>
          <a:xfrm>
            <a:off x="2272184" y="2288300"/>
            <a:ext cx="150019" cy="147637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7CA76-6251-4A06-A40F-9097EAAE2B62}"/>
              </a:ext>
            </a:extLst>
          </p:cNvPr>
          <p:cNvSpPr/>
          <p:nvPr/>
        </p:nvSpPr>
        <p:spPr>
          <a:xfrm>
            <a:off x="2422203" y="2438236"/>
            <a:ext cx="150019" cy="140576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75C6BC-D8E0-4CD5-91FE-BA12D347511E}"/>
              </a:ext>
            </a:extLst>
          </p:cNvPr>
          <p:cNvSpPr/>
          <p:nvPr/>
        </p:nvSpPr>
        <p:spPr>
          <a:xfrm>
            <a:off x="2572222" y="2578813"/>
            <a:ext cx="150019" cy="147638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E877FD-89FE-461C-8985-8DC521807E06}"/>
              </a:ext>
            </a:extLst>
          </p:cNvPr>
          <p:cNvSpPr/>
          <p:nvPr/>
        </p:nvSpPr>
        <p:spPr>
          <a:xfrm>
            <a:off x="2803729" y="2793342"/>
            <a:ext cx="150019" cy="154781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50F3C6-EC74-4D99-B652-DCFE2EF24D6D}"/>
              </a:ext>
            </a:extLst>
          </p:cNvPr>
          <p:cNvSpPr/>
          <p:nvPr/>
        </p:nvSpPr>
        <p:spPr>
          <a:xfrm>
            <a:off x="2950654" y="2940980"/>
            <a:ext cx="150019" cy="154781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751703-0835-4DA0-926E-6FA82D93EF55}"/>
              </a:ext>
            </a:extLst>
          </p:cNvPr>
          <p:cNvSpPr/>
          <p:nvPr/>
        </p:nvSpPr>
        <p:spPr>
          <a:xfrm>
            <a:off x="3098292" y="3090999"/>
            <a:ext cx="150019" cy="147637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D083D3-6702-40D5-855B-7A001BE3CAF2}"/>
              </a:ext>
            </a:extLst>
          </p:cNvPr>
          <p:cNvSpPr/>
          <p:nvPr/>
        </p:nvSpPr>
        <p:spPr>
          <a:xfrm>
            <a:off x="2722241" y="2726451"/>
            <a:ext cx="80775" cy="71653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45D071-BE25-4A6B-9DE3-2AB844F46391}"/>
              </a:ext>
            </a:extLst>
          </p:cNvPr>
          <p:cNvSpPr/>
          <p:nvPr/>
        </p:nvSpPr>
        <p:spPr>
          <a:xfrm>
            <a:off x="3248312" y="3233874"/>
            <a:ext cx="72202" cy="8320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20A02C-8FE6-4562-932A-AACDD8041F02}"/>
              </a:ext>
            </a:extLst>
          </p:cNvPr>
          <p:cNvSpPr/>
          <p:nvPr/>
        </p:nvSpPr>
        <p:spPr>
          <a:xfrm>
            <a:off x="3320513" y="3312986"/>
            <a:ext cx="81059" cy="76052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4525AB-7407-455E-8EF1-C5E87BEB04A4}"/>
              </a:ext>
            </a:extLst>
          </p:cNvPr>
          <p:cNvSpPr/>
          <p:nvPr/>
        </p:nvSpPr>
        <p:spPr>
          <a:xfrm>
            <a:off x="3399191" y="3386656"/>
            <a:ext cx="150019" cy="147637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CE3963-5186-49B2-9EAB-C4270CF66127}"/>
              </a:ext>
            </a:extLst>
          </p:cNvPr>
          <p:cNvSpPr/>
          <p:nvPr/>
        </p:nvSpPr>
        <p:spPr>
          <a:xfrm>
            <a:off x="3546829" y="3528198"/>
            <a:ext cx="150019" cy="147637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109B26-43A7-4D4B-B06D-D735B77B1D0E}"/>
              </a:ext>
            </a:extLst>
          </p:cNvPr>
          <p:cNvSpPr/>
          <p:nvPr/>
        </p:nvSpPr>
        <p:spPr>
          <a:xfrm>
            <a:off x="3696848" y="3673454"/>
            <a:ext cx="82382" cy="79886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72E5E7-11A6-4CC6-A3F7-8029C64BAAD8}"/>
              </a:ext>
            </a:extLst>
          </p:cNvPr>
          <p:cNvSpPr/>
          <p:nvPr/>
        </p:nvSpPr>
        <p:spPr>
          <a:xfrm>
            <a:off x="3774468" y="3748578"/>
            <a:ext cx="150019" cy="147637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A3640E-0F19-4631-84A1-4CC726462FFF}"/>
              </a:ext>
            </a:extLst>
          </p:cNvPr>
          <p:cNvSpPr/>
          <p:nvPr/>
        </p:nvSpPr>
        <p:spPr>
          <a:xfrm>
            <a:off x="3926868" y="3896216"/>
            <a:ext cx="150019" cy="147637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738F38-7A4B-4E4C-909A-FEC6EB7F749F}"/>
              </a:ext>
            </a:extLst>
          </p:cNvPr>
          <p:cNvSpPr/>
          <p:nvPr/>
        </p:nvSpPr>
        <p:spPr>
          <a:xfrm>
            <a:off x="4149561" y="4109295"/>
            <a:ext cx="150019" cy="154781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462AEC-7FB0-4C9B-9704-16099C2C9CA9}"/>
              </a:ext>
            </a:extLst>
          </p:cNvPr>
          <p:cNvSpPr/>
          <p:nvPr/>
        </p:nvSpPr>
        <p:spPr>
          <a:xfrm>
            <a:off x="4068073" y="4042404"/>
            <a:ext cx="80775" cy="71653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45D4EC-80F5-4998-87F4-4C02E79450F5}"/>
              </a:ext>
            </a:extLst>
          </p:cNvPr>
          <p:cNvSpPr/>
          <p:nvPr/>
        </p:nvSpPr>
        <p:spPr>
          <a:xfrm>
            <a:off x="4298770" y="4259210"/>
            <a:ext cx="873822" cy="863838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764D39-5D66-45E4-9287-7CC61BECEEA1}"/>
              </a:ext>
            </a:extLst>
          </p:cNvPr>
          <p:cNvSpPr/>
          <p:nvPr/>
        </p:nvSpPr>
        <p:spPr>
          <a:xfrm>
            <a:off x="1371600" y="6386420"/>
            <a:ext cx="815234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dirty="0"/>
              <a:t>[Foo00] </a:t>
            </a:r>
            <a:r>
              <a:rPr lang="en-US" sz="900" dirty="0"/>
              <a:t>Foote, J. Automatic Audio Segmentation using a Measure of Audio Novelty. In 2000 </a:t>
            </a:r>
            <a:r>
              <a:rPr lang="en-US" sz="900" i="1" dirty="0"/>
              <a:t>Proc. IEEE International Conference on Multimedia and Expo.</a:t>
            </a:r>
          </a:p>
        </p:txBody>
      </p:sp>
    </p:spTree>
    <p:extLst>
      <p:ext uri="{BB962C8B-B14F-4D97-AF65-F5344CB8AC3E}">
        <p14:creationId xmlns:p14="http://schemas.microsoft.com/office/powerpoint/2010/main" val="104996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AA88D3-00CE-4022-B661-2BE789351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614" y="5313058"/>
            <a:ext cx="10674746" cy="714734"/>
          </a:xfrm>
        </p:spPr>
        <p:txBody>
          <a:bodyPr>
            <a:normAutofit/>
          </a:bodyPr>
          <a:lstStyle/>
          <a:p>
            <a:r>
              <a:rPr lang="fr-FR" dirty="0" err="1"/>
              <a:t>Outperforms</a:t>
            </a:r>
            <a:r>
              <a:rPr lang="fr-FR" dirty="0"/>
              <a:t> the </a:t>
            </a:r>
            <a:r>
              <a:rPr lang="fr-FR" dirty="0" err="1"/>
              <a:t>unsupervised</a:t>
            </a:r>
            <a:r>
              <a:rPr lang="fr-FR" dirty="0"/>
              <a:t> State-of-the-Art </a:t>
            </a:r>
            <a:r>
              <a:rPr lang="fr-FR" dirty="0" err="1"/>
              <a:t>algorithms</a:t>
            </a:r>
            <a:endParaRPr lang="fr-FR" dirty="0"/>
          </a:p>
          <a:p>
            <a:pPr marL="530352" lvl="1" indent="0">
              <a:buNone/>
            </a:pP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2E1F29-BB84-4A9B-8BC9-00CC991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45374"/>
            <a:ext cx="9601200" cy="896354"/>
          </a:xfrm>
        </p:spPr>
        <p:txBody>
          <a:bodyPr>
            <a:normAutofit/>
          </a:bodyPr>
          <a:lstStyle/>
          <a:p>
            <a:r>
              <a:rPr lang="fr-FR" dirty="0"/>
              <a:t>CBM </a:t>
            </a:r>
            <a:r>
              <a:rPr lang="fr-FR" dirty="0" err="1"/>
              <a:t>algorithm</a:t>
            </a:r>
            <a:r>
              <a:rPr lang="fr-FR" dirty="0"/>
              <a:t>, in practice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DCAA1A-CCD9-4B76-8E7A-9B0F3189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27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C27097-84DD-423A-8E7B-6EAF3F5D5A3E}"/>
              </a:ext>
            </a:extLst>
          </p:cNvPr>
          <p:cNvSpPr txBox="1"/>
          <p:nvPr/>
        </p:nvSpPr>
        <p:spPr>
          <a:xfrm>
            <a:off x="1122972" y="5973177"/>
            <a:ext cx="929656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[Foo00] </a:t>
            </a:r>
            <a:r>
              <a:rPr lang="en-US" sz="900" dirty="0"/>
              <a:t>Foote, J. Automatic Audio Segmentation using a Measure of Audio Novelty. In 2000 </a:t>
            </a:r>
            <a:r>
              <a:rPr lang="en-US" sz="900" i="1" dirty="0"/>
              <a:t>Proc. IEEE International Conference on Multimedia and Expo.</a:t>
            </a:r>
          </a:p>
          <a:p>
            <a:r>
              <a:rPr lang="en-US" sz="900" dirty="0"/>
              <a:t>[ME14] McFee, B., &amp; Ellis, D. Analyzing Song Structure with Spectral Clustering. In 2014 </a:t>
            </a:r>
            <a:r>
              <a:rPr lang="en-US" sz="900" i="1" dirty="0"/>
              <a:t>ISMIR</a:t>
            </a:r>
            <a:r>
              <a:rPr lang="en-US" sz="900" dirty="0"/>
              <a:t>.</a:t>
            </a:r>
          </a:p>
          <a:p>
            <a:r>
              <a:rPr lang="en-US" sz="900" dirty="0"/>
              <a:t>[Ser+14] </a:t>
            </a:r>
            <a:r>
              <a:rPr lang="en-GB" sz="900" dirty="0"/>
              <a:t>Serra, J., Müller, M., </a:t>
            </a:r>
            <a:r>
              <a:rPr lang="en-GB" sz="900" dirty="0" err="1"/>
              <a:t>Grosche</a:t>
            </a:r>
            <a:r>
              <a:rPr lang="en-GB" sz="900" dirty="0"/>
              <a:t>, P., and Arcos, </a:t>
            </a:r>
            <a:r>
              <a:rPr lang="en-GB" sz="900" dirty="0" err="1"/>
              <a:t>J.Ll</a:t>
            </a:r>
            <a:r>
              <a:rPr lang="en-GB" sz="900" dirty="0"/>
              <a:t>., « Unsupervised </a:t>
            </a:r>
            <a:r>
              <a:rPr lang="en-US" sz="900" dirty="0"/>
              <a:t>music structure annotation by time series structure features and segment similarity », </a:t>
            </a:r>
            <a:r>
              <a:rPr lang="en-US" sz="900" i="1" dirty="0"/>
              <a:t>in</a:t>
            </a:r>
            <a:r>
              <a:rPr lang="en-US" sz="900" dirty="0"/>
              <a:t>: </a:t>
            </a:r>
            <a:r>
              <a:rPr lang="en-US" sz="900" i="1" dirty="0"/>
              <a:t>IEEE Transactions on Multimedia </a:t>
            </a:r>
            <a:r>
              <a:rPr lang="en-US" sz="900" dirty="0"/>
              <a:t>16.</a:t>
            </a:r>
            <a:r>
              <a:rPr lang="en-US" sz="900" i="1" dirty="0"/>
              <a:t>5 </a:t>
            </a:r>
            <a:r>
              <a:rPr lang="en-US" sz="900" dirty="0"/>
              <a:t>(2014), </a:t>
            </a:r>
            <a:r>
              <a:rPr lang="en-GB" sz="900" dirty="0"/>
              <a:t>pp. 1229–1240.</a:t>
            </a:r>
          </a:p>
          <a:p>
            <a:r>
              <a:rPr lang="en-US" sz="900" dirty="0"/>
              <a:t>[GS15] Grill, T., &amp; Schlüter, J. Music Boundary Detection Using Neural Networks on Combined Features and Two-Level Annotations. In 2015 </a:t>
            </a:r>
            <a:r>
              <a:rPr lang="en-US" sz="900" i="1" dirty="0"/>
              <a:t>ISMIR.</a:t>
            </a:r>
          </a:p>
        </p:txBody>
      </p:sp>
      <p:pic>
        <p:nvPicPr>
          <p:cNvPr id="10" name="Image Bottom">
            <a:extLst>
              <a:ext uri="{FF2B5EF4-FFF2-40B4-BE49-F238E27FC236}">
                <a16:creationId xmlns:a16="http://schemas.microsoft.com/office/drawing/2014/main" id="{B0EE5722-EB02-44F8-90F7-4D3FA9B62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42" y="1045454"/>
            <a:ext cx="10496714" cy="3618016"/>
          </a:xfrm>
          <a:prstGeom prst="rect">
            <a:avLst/>
          </a:prstGeom>
        </p:spPr>
      </p:pic>
      <p:pic>
        <p:nvPicPr>
          <p:cNvPr id="14" name="Image Top">
            <a:extLst>
              <a:ext uri="{FF2B5EF4-FFF2-40B4-BE49-F238E27FC236}">
                <a16:creationId xmlns:a16="http://schemas.microsoft.com/office/drawing/2014/main" id="{C6EA5A79-BC1F-4EB1-AF82-A9A783B28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42" y="1045453"/>
            <a:ext cx="10496715" cy="36180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A7B266-16CA-4ECE-B5B4-543669C4CBE6}"/>
              </a:ext>
            </a:extLst>
          </p:cNvPr>
          <p:cNvSpPr/>
          <p:nvPr/>
        </p:nvSpPr>
        <p:spPr>
          <a:xfrm>
            <a:off x="656315" y="4654761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Segmentation </a:t>
            </a:r>
            <a:r>
              <a:rPr lang="fr-FR" sz="1600" dirty="0" err="1"/>
              <a:t>results</a:t>
            </a:r>
            <a:r>
              <a:rPr lang="fr-FR" sz="1600" dirty="0"/>
              <a:t>, </a:t>
            </a:r>
            <a:r>
              <a:rPr lang="fr-FR" sz="1600" dirty="0" err="1"/>
              <a:t>compared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the State-of-the-Art (</a:t>
            </a:r>
            <a:r>
              <a:rPr lang="fr-FR" sz="1600" b="1" u="sng" dirty="0"/>
              <a:t>RWC Pop </a:t>
            </a:r>
            <a:r>
              <a:rPr lang="fr-FR" sz="1600" b="1" u="sng" dirty="0" err="1"/>
              <a:t>dataset</a:t>
            </a:r>
            <a:r>
              <a:rPr lang="fr-FR" sz="1600" b="1" u="sng" dirty="0"/>
              <a:t> </a:t>
            </a:r>
            <a:r>
              <a:rPr lang="fr-FR" sz="1600" dirty="0"/>
              <a:t>[Got+02])</a:t>
            </a:r>
          </a:p>
        </p:txBody>
      </p:sp>
    </p:spTree>
    <p:extLst>
      <p:ext uri="{BB962C8B-B14F-4D97-AF65-F5344CB8AC3E}">
        <p14:creationId xmlns:p14="http://schemas.microsoft.com/office/powerpoint/2010/main" val="10816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8F7DC7E4-3430-42C3-B855-75FB7E490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563" y="1732268"/>
            <a:ext cx="3746092" cy="385568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28</a:t>
            </a:fld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8E8CEDC-64E3-4BB0-A9DB-8A6E2282832D}"/>
              </a:ext>
            </a:extLst>
          </p:cNvPr>
          <p:cNvSpPr txBox="1">
            <a:spLocks/>
          </p:cNvSpPr>
          <p:nvPr/>
        </p:nvSpPr>
        <p:spPr>
          <a:xfrm>
            <a:off x="1371600" y="345783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RBF autosimilarity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D6992A00-6412-493D-A174-5FCF241AF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28246" y="2013318"/>
                <a:ext cx="5923500" cy="3756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GB" dirty="0"/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 err="1"/>
                  <a:t>Better</a:t>
                </a:r>
                <a:r>
                  <a:rPr lang="fr-FR" dirty="0"/>
                  <a:t> </a:t>
                </a:r>
                <a:r>
                  <a:rPr lang="fr-FR" dirty="0" err="1"/>
                  <a:t>represents</a:t>
                </a:r>
                <a:r>
                  <a:rPr lang="fr-FR" dirty="0"/>
                  <a:t> the </a:t>
                </a:r>
                <a:r>
                  <a:rPr lang="fr-FR" b="1" dirty="0" err="1"/>
                  <a:t>dissimilarity</a:t>
                </a:r>
                <a:r>
                  <a:rPr lang="fr-FR" dirty="0"/>
                  <a:t> </a:t>
                </a:r>
                <a:r>
                  <a:rPr lang="fr-FR" dirty="0" err="1"/>
                  <a:t>between</a:t>
                </a:r>
                <a:r>
                  <a:rPr lang="fr-FR" dirty="0"/>
                  <a:t> bars</a:t>
                </a:r>
              </a:p>
              <a:p>
                <a:pPr lvl="1"/>
                <a:r>
                  <a:rPr lang="fr-FR" dirty="0" err="1"/>
                  <a:t>Higher</a:t>
                </a:r>
                <a:r>
                  <a:rPr lang="fr-FR" dirty="0"/>
                  <a:t> "</a:t>
                </a:r>
                <a:r>
                  <a:rPr lang="fr-FR" dirty="0" err="1"/>
                  <a:t>contrast</a:t>
                </a:r>
                <a:r>
                  <a:rPr lang="fr-FR" dirty="0"/>
                  <a:t>"</a:t>
                </a:r>
              </a:p>
            </p:txBody>
          </p:sp>
        </mc:Choice>
        <mc:Fallback xmlns="">
          <p:sp>
            <p:nvSpPr>
              <p:cNvPr id="12" name="Espace réservé du contenu 2">
                <a:extLst>
                  <a:ext uri="{FF2B5EF4-FFF2-40B4-BE49-F238E27FC236}">
                    <a16:creationId xmlns:a16="http://schemas.microsoft.com/office/drawing/2014/main" id="{D6992A00-6412-493D-A174-5FCF241AF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246" y="2013318"/>
                <a:ext cx="5923500" cy="3756272"/>
              </a:xfrm>
              <a:prstGeom prst="rect">
                <a:avLst/>
              </a:prstGeom>
              <a:blipFill>
                <a:blip r:embed="rId4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353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AA88D3-00CE-4022-B661-2BE789351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569" y="5229992"/>
            <a:ext cx="10674746" cy="1482634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RBF </a:t>
            </a:r>
            <a:r>
              <a:rPr lang="fr-FR" dirty="0" err="1"/>
              <a:t>results</a:t>
            </a:r>
            <a:r>
              <a:rPr lang="fr-FR" dirty="0"/>
              <a:t> </a:t>
            </a:r>
            <a:r>
              <a:rPr lang="fr-FR" dirty="0" err="1"/>
              <a:t>outperforms</a:t>
            </a:r>
            <a:r>
              <a:rPr lang="fr-FR" dirty="0"/>
              <a:t> </a:t>
            </a:r>
            <a:r>
              <a:rPr lang="fr-FR" dirty="0" err="1"/>
              <a:t>Cosine</a:t>
            </a:r>
            <a:r>
              <a:rPr lang="fr-FR" dirty="0"/>
              <a:t> </a:t>
            </a:r>
            <a:r>
              <a:rPr lang="fr-FR" dirty="0" err="1"/>
              <a:t>ones</a:t>
            </a:r>
            <a:endParaRPr lang="fr-FR" dirty="0"/>
          </a:p>
          <a:p>
            <a:pPr lvl="1"/>
            <a:r>
              <a:rPr lang="fr-FR" dirty="0"/>
              <a:t>Due to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b="1" dirty="0" err="1"/>
              <a:t>contrast</a:t>
            </a:r>
            <a:endParaRPr lang="fr-FR" dirty="0"/>
          </a:p>
          <a:p>
            <a:endParaRPr lang="fr-FR" dirty="0"/>
          </a:p>
          <a:p>
            <a:r>
              <a:rPr lang="fr-FR" dirty="0"/>
              <a:t>Levels of performance close to </a:t>
            </a:r>
            <a:r>
              <a:rPr lang="fr-FR" dirty="0" err="1"/>
              <a:t>those</a:t>
            </a:r>
            <a:r>
              <a:rPr lang="fr-FR" dirty="0"/>
              <a:t> of the State-of-the-Art </a:t>
            </a:r>
            <a:r>
              <a:rPr lang="fr-FR" b="1" dirty="0" err="1"/>
              <a:t>without</a:t>
            </a:r>
            <a:r>
              <a:rPr lang="fr-FR" b="1" dirty="0"/>
              <a:t> supervision</a:t>
            </a:r>
          </a:p>
          <a:p>
            <a:pPr marL="530352" lvl="1" indent="0">
              <a:buNone/>
            </a:pP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2E1F29-BB84-4A9B-8BC9-00CC991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45374"/>
            <a:ext cx="9601200" cy="896354"/>
          </a:xfrm>
        </p:spPr>
        <p:txBody>
          <a:bodyPr>
            <a:normAutofit/>
          </a:bodyPr>
          <a:lstStyle/>
          <a:p>
            <a:r>
              <a:rPr lang="fr-FR" dirty="0"/>
              <a:t>CBM </a:t>
            </a:r>
            <a:r>
              <a:rPr lang="fr-FR" dirty="0" err="1"/>
              <a:t>algorithm</a:t>
            </a:r>
            <a:r>
              <a:rPr lang="fr-FR" dirty="0"/>
              <a:t>, RBF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DCAA1A-CCD9-4B76-8E7A-9B0F3189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29</a:t>
            </a:fld>
            <a:endParaRPr lang="fr-FR"/>
          </a:p>
        </p:txBody>
      </p:sp>
      <p:pic>
        <p:nvPicPr>
          <p:cNvPr id="8" name="Image Bottom">
            <a:extLst>
              <a:ext uri="{FF2B5EF4-FFF2-40B4-BE49-F238E27FC236}">
                <a16:creationId xmlns:a16="http://schemas.microsoft.com/office/drawing/2014/main" id="{A84F84AE-F476-4B24-9BB6-1E485EA9D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041728"/>
            <a:ext cx="10496715" cy="3618016"/>
          </a:xfrm>
          <a:prstGeom prst="rect">
            <a:avLst/>
          </a:prstGeom>
        </p:spPr>
      </p:pic>
      <p:pic>
        <p:nvPicPr>
          <p:cNvPr id="12" name="Image Top">
            <a:extLst>
              <a:ext uri="{FF2B5EF4-FFF2-40B4-BE49-F238E27FC236}">
                <a16:creationId xmlns:a16="http://schemas.microsoft.com/office/drawing/2014/main" id="{32CB17E2-FC29-4185-9004-2D1DEF761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041728"/>
            <a:ext cx="10496715" cy="36180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E76649-FB32-4A3A-901B-FB8FB904AB87}"/>
              </a:ext>
            </a:extLst>
          </p:cNvPr>
          <p:cNvSpPr/>
          <p:nvPr/>
        </p:nvSpPr>
        <p:spPr>
          <a:xfrm>
            <a:off x="809897" y="4580171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Segmentation </a:t>
            </a:r>
            <a:r>
              <a:rPr lang="fr-FR" sz="1600" dirty="0" err="1"/>
              <a:t>results</a:t>
            </a:r>
            <a:r>
              <a:rPr lang="fr-FR" sz="1600" dirty="0"/>
              <a:t>, </a:t>
            </a:r>
            <a:r>
              <a:rPr lang="fr-FR" sz="1600" dirty="0" err="1"/>
              <a:t>compared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the State-of-the-Art (RWC Pop </a:t>
            </a:r>
            <a:r>
              <a:rPr lang="fr-FR" sz="1600" dirty="0" err="1"/>
              <a:t>dataset</a:t>
            </a:r>
            <a:r>
              <a:rPr lang="fr-F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05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30</a:t>
            </a:fld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E1512E2-E2E4-4925-B80F-738AE9E21B9C}"/>
              </a:ext>
            </a:extLst>
          </p:cNvPr>
          <p:cNvSpPr/>
          <p:nvPr/>
        </p:nvSpPr>
        <p:spPr>
          <a:xfrm>
            <a:off x="9633976" y="690524"/>
            <a:ext cx="2431644" cy="343821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8E80A8-A40F-4693-9D8C-F4E6D7C80314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C91CCC-40C1-427E-9146-7D258A3F70E4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</p:spTree>
    <p:extLst>
      <p:ext uri="{BB962C8B-B14F-4D97-AF65-F5344CB8AC3E}">
        <p14:creationId xmlns:p14="http://schemas.microsoft.com/office/powerpoint/2010/main" val="32755332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C48EC-3955-454F-B925-B519C3161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3706"/>
            <a:ext cx="9601200" cy="4476804"/>
          </a:xfrm>
        </p:spPr>
        <p:txBody>
          <a:bodyPr>
            <a:normAutofit/>
          </a:bodyPr>
          <a:lstStyle/>
          <a:p>
            <a:r>
              <a:rPr lang="fr-FR" dirty="0" err="1"/>
              <a:t>Summing</a:t>
            </a:r>
            <a:r>
              <a:rPr lang="fr-FR" dirty="0"/>
              <a:t> up </a:t>
            </a:r>
            <a:r>
              <a:rPr lang="fr-FR" dirty="0" err="1"/>
              <a:t>each</a:t>
            </a:r>
            <a:r>
              <a:rPr lang="fr-FR" dirty="0"/>
              <a:t> bar to a few important components</a:t>
            </a:r>
          </a:p>
          <a:p>
            <a:pPr lvl="1"/>
            <a:r>
              <a:rPr lang="fr-FR" dirty="0"/>
              <a:t>Compression must </a:t>
            </a:r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accurate</a:t>
            </a:r>
            <a:r>
              <a:rPr lang="fr-FR" dirty="0"/>
              <a:t> reconstruction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Objective: </a:t>
            </a:r>
            <a:r>
              <a:rPr lang="fr-FR" dirty="0" err="1"/>
              <a:t>disambiguating</a:t>
            </a:r>
            <a:r>
              <a:rPr lang="fr-FR" dirty="0"/>
              <a:t> the barwise </a:t>
            </a:r>
            <a:r>
              <a:rPr lang="fr-FR" dirty="0" err="1"/>
              <a:t>dissimilarity</a:t>
            </a:r>
            <a:endParaRPr lang="fr-FR" dirty="0"/>
          </a:p>
          <a:p>
            <a:pPr lvl="1"/>
            <a:r>
              <a:rPr lang="fr-FR" dirty="0"/>
              <a:t>i.e. </a:t>
            </a:r>
            <a:r>
              <a:rPr lang="fr-FR" dirty="0" err="1"/>
              <a:t>increasing</a:t>
            </a:r>
            <a:r>
              <a:rPr lang="fr-FR" dirty="0"/>
              <a:t> the </a:t>
            </a:r>
            <a:r>
              <a:rPr lang="fr-FR" dirty="0" err="1"/>
              <a:t>contrast</a:t>
            </a:r>
            <a:r>
              <a:rPr lang="fr-FR" dirty="0"/>
              <a:t> (</a:t>
            </a:r>
            <a:r>
              <a:rPr lang="fr-FR" dirty="0" err="1"/>
              <a:t>similarly</a:t>
            </a:r>
            <a:r>
              <a:rPr lang="fr-FR" dirty="0"/>
              <a:t> to RBF) </a:t>
            </a:r>
          </a:p>
          <a:p>
            <a:pPr lvl="1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374B8F3-8757-437E-9F2C-781900AF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75247"/>
            <a:ext cx="10464789" cy="1112303"/>
          </a:xfrm>
        </p:spPr>
        <p:txBody>
          <a:bodyPr>
            <a:normAutofit/>
          </a:bodyPr>
          <a:lstStyle/>
          <a:p>
            <a:r>
              <a:rPr lang="fr-FR" dirty="0"/>
              <a:t>Machine Learning </a:t>
            </a:r>
            <a:r>
              <a:rPr lang="fr-FR" dirty="0" err="1"/>
              <a:t>used</a:t>
            </a:r>
            <a:r>
              <a:rPr lang="fr-FR" dirty="0"/>
              <a:t> for compression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D4BEE1-FF7D-4432-B7EC-EBA88498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248DE22-6FEE-4C7B-BB0B-4CE73C55BCFD}"/>
                  </a:ext>
                </a:extLst>
              </p:cNvPr>
              <p:cNvSpPr txBox="1"/>
              <p:nvPr/>
            </p:nvSpPr>
            <p:spPr>
              <a:xfrm>
                <a:off x="8552285" y="3721957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248DE22-6FEE-4C7B-BB0B-4CE73C55B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285" y="3721957"/>
                <a:ext cx="3371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71056A8-EA91-4B93-B8CC-78F3D5D73AB6}"/>
                  </a:ext>
                </a:extLst>
              </p:cNvPr>
              <p:cNvSpPr txBox="1"/>
              <p:nvPr/>
            </p:nvSpPr>
            <p:spPr>
              <a:xfrm>
                <a:off x="9091873" y="4556396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71056A8-EA91-4B93-B8CC-78F3D5D73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873" y="4556396"/>
                <a:ext cx="9236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DA08834-C9E9-4EE3-8E89-D6D536591422}"/>
              </a:ext>
            </a:extLst>
          </p:cNvPr>
          <p:cNvCxnSpPr>
            <a:cxnSpLocks/>
          </p:cNvCxnSpPr>
          <p:nvPr/>
        </p:nvCxnSpPr>
        <p:spPr>
          <a:xfrm flipV="1">
            <a:off x="9141063" y="4538070"/>
            <a:ext cx="874446" cy="12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492F59F5-9D62-4278-B336-5A61366DD741}"/>
              </a:ext>
            </a:extLst>
          </p:cNvPr>
          <p:cNvSpPr/>
          <p:nvPr/>
        </p:nvSpPr>
        <p:spPr>
          <a:xfrm>
            <a:off x="6088856" y="3481427"/>
            <a:ext cx="2259778" cy="850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61211A-16D5-47B1-939F-6A34C9A9B1E9}"/>
              </a:ext>
            </a:extLst>
          </p:cNvPr>
          <p:cNvSpPr/>
          <p:nvPr/>
        </p:nvSpPr>
        <p:spPr>
          <a:xfrm>
            <a:off x="1821908" y="3321830"/>
            <a:ext cx="3972339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8A613D-68F8-4C60-A807-8047161A7D66}"/>
              </a:ext>
            </a:extLst>
          </p:cNvPr>
          <p:cNvSpPr/>
          <p:nvPr/>
        </p:nvSpPr>
        <p:spPr>
          <a:xfrm>
            <a:off x="1821908" y="3501910"/>
            <a:ext cx="3972339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E1E99-744B-4218-BBF3-04BA1BC85288}"/>
              </a:ext>
            </a:extLst>
          </p:cNvPr>
          <p:cNvSpPr/>
          <p:nvPr/>
        </p:nvSpPr>
        <p:spPr>
          <a:xfrm>
            <a:off x="1821908" y="3682383"/>
            <a:ext cx="3972339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4699DB-3177-491C-AC4A-292888F276CC}"/>
              </a:ext>
            </a:extLst>
          </p:cNvPr>
          <p:cNvSpPr/>
          <p:nvPr/>
        </p:nvSpPr>
        <p:spPr>
          <a:xfrm>
            <a:off x="1822996" y="3863048"/>
            <a:ext cx="3971249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FDC2BA-6CCE-4214-9929-B534A3F53054}"/>
              </a:ext>
            </a:extLst>
          </p:cNvPr>
          <p:cNvSpPr/>
          <p:nvPr/>
        </p:nvSpPr>
        <p:spPr>
          <a:xfrm>
            <a:off x="1824051" y="4042514"/>
            <a:ext cx="3970194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0F4E4-7600-4731-A171-97A37C165788}"/>
              </a:ext>
            </a:extLst>
          </p:cNvPr>
          <p:cNvSpPr/>
          <p:nvPr/>
        </p:nvSpPr>
        <p:spPr>
          <a:xfrm>
            <a:off x="1821909" y="4222628"/>
            <a:ext cx="3972964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333DA88-ABFE-48C0-B16E-7D01C2922DD4}"/>
              </a:ext>
            </a:extLst>
          </p:cNvPr>
          <p:cNvCxnSpPr>
            <a:cxnSpLocks/>
          </p:cNvCxnSpPr>
          <p:nvPr/>
        </p:nvCxnSpPr>
        <p:spPr>
          <a:xfrm flipV="1">
            <a:off x="1728081" y="3330967"/>
            <a:ext cx="0" cy="101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DE9896FC-C2A3-4C95-8B9E-4468419B04E2}"/>
                  </a:ext>
                </a:extLst>
              </p:cNvPr>
              <p:cNvSpPr txBox="1"/>
              <p:nvPr/>
            </p:nvSpPr>
            <p:spPr>
              <a:xfrm>
                <a:off x="1355275" y="3610194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DE9896FC-C2A3-4C95-8B9E-4468419B0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275" y="3610194"/>
                <a:ext cx="3371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E46D62D-6963-4696-9231-34F65186DA42}"/>
                  </a:ext>
                </a:extLst>
              </p:cNvPr>
              <p:cNvSpPr txBox="1"/>
              <p:nvPr/>
            </p:nvSpPr>
            <p:spPr>
              <a:xfrm>
                <a:off x="3346259" y="4589753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E46D62D-6963-4696-9231-34F65186D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259" y="4589753"/>
                <a:ext cx="923636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43E6220-8864-4034-A700-1A2AA24AA02C}"/>
              </a:ext>
            </a:extLst>
          </p:cNvPr>
          <p:cNvCxnSpPr>
            <a:cxnSpLocks/>
          </p:cNvCxnSpPr>
          <p:nvPr/>
        </p:nvCxnSpPr>
        <p:spPr>
          <a:xfrm>
            <a:off x="1859020" y="4526226"/>
            <a:ext cx="3898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8D877DA-0548-4142-ABDD-4C03B30731AB}"/>
              </a:ext>
            </a:extLst>
          </p:cNvPr>
          <p:cNvSpPr/>
          <p:nvPr/>
        </p:nvSpPr>
        <p:spPr>
          <a:xfrm>
            <a:off x="9141063" y="3328586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EAECC8-9402-428D-B095-2C47C9A3E0D8}"/>
              </a:ext>
            </a:extLst>
          </p:cNvPr>
          <p:cNvSpPr/>
          <p:nvPr/>
        </p:nvSpPr>
        <p:spPr>
          <a:xfrm>
            <a:off x="9141063" y="3508666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4F2E96-8BFC-487C-941D-F226924336BC}"/>
              </a:ext>
            </a:extLst>
          </p:cNvPr>
          <p:cNvSpPr/>
          <p:nvPr/>
        </p:nvSpPr>
        <p:spPr>
          <a:xfrm>
            <a:off x="9141063" y="3689139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85703B-381F-4CD8-803C-A664D786E09D}"/>
              </a:ext>
            </a:extLst>
          </p:cNvPr>
          <p:cNvSpPr/>
          <p:nvPr/>
        </p:nvSpPr>
        <p:spPr>
          <a:xfrm>
            <a:off x="9141689" y="3869190"/>
            <a:ext cx="893871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81450B-E186-452D-A332-6E0D98060EDD}"/>
              </a:ext>
            </a:extLst>
          </p:cNvPr>
          <p:cNvSpPr/>
          <p:nvPr/>
        </p:nvSpPr>
        <p:spPr>
          <a:xfrm>
            <a:off x="9141860" y="4049270"/>
            <a:ext cx="893700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89A53B-D1A6-48AE-9FAC-CA4792D6C715}"/>
              </a:ext>
            </a:extLst>
          </p:cNvPr>
          <p:cNvSpPr/>
          <p:nvPr/>
        </p:nvSpPr>
        <p:spPr>
          <a:xfrm>
            <a:off x="9141063" y="4229370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182FD5FF-DA80-449D-A9A3-A9A35DAF7FAE}"/>
              </a:ext>
            </a:extLst>
          </p:cNvPr>
          <p:cNvCxnSpPr>
            <a:cxnSpLocks/>
          </p:cNvCxnSpPr>
          <p:nvPr/>
        </p:nvCxnSpPr>
        <p:spPr>
          <a:xfrm flipV="1">
            <a:off x="8967082" y="3371297"/>
            <a:ext cx="0" cy="101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89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32</a:t>
            </a:fld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E1512E2-E2E4-4925-B80F-738AE9E21B9C}"/>
              </a:ext>
            </a:extLst>
          </p:cNvPr>
          <p:cNvSpPr/>
          <p:nvPr/>
        </p:nvSpPr>
        <p:spPr>
          <a:xfrm>
            <a:off x="9633976" y="690524"/>
            <a:ext cx="2431644" cy="343821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8E80A8-A40F-4693-9D8C-F4E6D7C80314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C91CCC-40C1-427E-9146-7D258A3F70E4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</p:spTree>
    <p:extLst>
      <p:ext uri="{BB962C8B-B14F-4D97-AF65-F5344CB8AC3E}">
        <p14:creationId xmlns:p14="http://schemas.microsoft.com/office/powerpoint/2010/main" val="2713902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15" name="Titre 3">
            <a:extLst>
              <a:ext uri="{FF2B5EF4-FFF2-40B4-BE49-F238E27FC236}">
                <a16:creationId xmlns:a16="http://schemas.microsoft.com/office/drawing/2014/main" id="{7D5E2DE6-C853-46EF-87FD-3C74432A66DE}"/>
              </a:ext>
            </a:extLst>
          </p:cNvPr>
          <p:cNvSpPr txBox="1">
            <a:spLocks/>
          </p:cNvSpPr>
          <p:nvPr/>
        </p:nvSpPr>
        <p:spPr>
          <a:xfrm>
            <a:off x="4224336" y="1586872"/>
            <a:ext cx="3743325" cy="905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err="1">
                <a:solidFill>
                  <a:srgbClr val="1A2E40"/>
                </a:solidFill>
              </a:rPr>
              <a:t>Nonnegative</a:t>
            </a:r>
            <a:r>
              <a:rPr lang="fr-FR" b="1" dirty="0">
                <a:solidFill>
                  <a:srgbClr val="1A2E40"/>
                </a:solidFill>
              </a:rPr>
              <a:t> </a:t>
            </a:r>
            <a:br>
              <a:rPr lang="fr-FR" b="1" dirty="0">
                <a:solidFill>
                  <a:srgbClr val="1A2E40"/>
                </a:solidFill>
              </a:rPr>
            </a:br>
            <a:r>
              <a:rPr lang="fr-FR" b="1" dirty="0">
                <a:solidFill>
                  <a:srgbClr val="1A2E40"/>
                </a:solidFill>
              </a:rPr>
              <a:t>Tucker </a:t>
            </a:r>
            <a:r>
              <a:rPr lang="fr-FR" b="1" dirty="0" err="1">
                <a:solidFill>
                  <a:srgbClr val="1A2E40"/>
                </a:solidFill>
              </a:rPr>
              <a:t>Decomposition</a:t>
            </a:r>
            <a:endParaRPr lang="en-GB" sz="1800" dirty="0">
              <a:solidFill>
                <a:srgbClr val="1A2E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FEEBE-5A41-42D3-88F5-6F5A13FE6581}"/>
              </a:ext>
            </a:extLst>
          </p:cNvPr>
          <p:cNvSpPr/>
          <p:nvPr/>
        </p:nvSpPr>
        <p:spPr>
          <a:xfrm>
            <a:off x="1231156" y="5092709"/>
            <a:ext cx="10832648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[KC07] Kim, Y. D., &amp; Choi, </a:t>
            </a:r>
            <a:r>
              <a:rPr lang="en-GB" sz="1050" dirty="0" err="1"/>
              <a:t>S.Nonnegative</a:t>
            </a:r>
            <a:r>
              <a:rPr lang="en-GB" sz="1050" dirty="0"/>
              <a:t> tucker decomposition. In 2007</a:t>
            </a:r>
            <a:r>
              <a:rPr lang="en-GB" sz="1050" i="1" dirty="0"/>
              <a:t> IEEE conference on computer vision and pattern recognition.</a:t>
            </a:r>
          </a:p>
          <a:p>
            <a:endParaRPr lang="en-US" sz="1050" dirty="0"/>
          </a:p>
          <a:p>
            <a:r>
              <a:rPr lang="en-US" sz="1050" dirty="0"/>
              <a:t>[SG18] Smith, J. B., &amp; </a:t>
            </a:r>
            <a:r>
              <a:rPr lang="en-US" sz="1050" dirty="0" err="1"/>
              <a:t>Goto</a:t>
            </a:r>
            <a:r>
              <a:rPr lang="en-US" sz="1050" dirty="0"/>
              <a:t>, M.. Nonnegative tensor factorization for source separation of loops in audio. In </a:t>
            </a:r>
            <a:r>
              <a:rPr lang="en-US" sz="1050" i="1" dirty="0"/>
              <a:t>2018 IEEE ICASSP</a:t>
            </a:r>
            <a:r>
              <a:rPr lang="en-US" sz="1050" dirty="0"/>
              <a:t>.</a:t>
            </a:r>
            <a:endParaRPr lang="fr-FR" sz="1050" dirty="0"/>
          </a:p>
          <a:p>
            <a:endParaRPr lang="fr-FR" sz="1050" dirty="0"/>
          </a:p>
          <a:p>
            <a:r>
              <a:rPr lang="fr-FR" sz="1050" dirty="0"/>
              <a:t>[</a:t>
            </a:r>
            <a:r>
              <a:rPr lang="fr-FR" sz="1050" b="1" u="sng" dirty="0"/>
              <a:t>Mar+20</a:t>
            </a:r>
            <a:r>
              <a:rPr lang="fr-FR" sz="1050" dirty="0"/>
              <a:t>] </a:t>
            </a:r>
            <a:r>
              <a:rPr lang="fr-FR" sz="1050" b="1" dirty="0"/>
              <a:t>Marmoret, A</a:t>
            </a:r>
            <a:r>
              <a:rPr lang="fr-FR" sz="1050" dirty="0"/>
              <a:t>., Cohen, J.E., Bertin, N., &amp; </a:t>
            </a:r>
            <a:r>
              <a:rPr lang="fr-FR" sz="1050" dirty="0" err="1"/>
              <a:t>Bimbot</a:t>
            </a:r>
            <a:r>
              <a:rPr lang="fr-FR" sz="1050" dirty="0"/>
              <a:t>, F. </a:t>
            </a:r>
            <a:r>
              <a:rPr lang="fr-FR" sz="1050" dirty="0" err="1"/>
              <a:t>Uncovering</a:t>
            </a:r>
            <a:r>
              <a:rPr lang="fr-FR" sz="1050" dirty="0"/>
              <a:t> Audio Patterns in Music </a:t>
            </a:r>
            <a:r>
              <a:rPr lang="fr-FR" sz="1050" dirty="0" err="1"/>
              <a:t>with</a:t>
            </a:r>
            <a:r>
              <a:rPr lang="fr-FR" sz="1050" dirty="0"/>
              <a:t> </a:t>
            </a:r>
            <a:r>
              <a:rPr lang="fr-FR" sz="1050" dirty="0" err="1"/>
              <a:t>Nonnegative</a:t>
            </a:r>
            <a:r>
              <a:rPr lang="fr-FR" sz="1050" dirty="0"/>
              <a:t> Tucker </a:t>
            </a:r>
            <a:r>
              <a:rPr lang="fr-FR" sz="1050" dirty="0" err="1"/>
              <a:t>Decomposition</a:t>
            </a:r>
            <a:r>
              <a:rPr lang="fr-FR" sz="1050" dirty="0"/>
              <a:t> for Structural Segmentation. In 2020 </a:t>
            </a:r>
            <a:r>
              <a:rPr lang="fr-FR" sz="1050" i="1" dirty="0"/>
              <a:t>ISMIR</a:t>
            </a:r>
            <a:r>
              <a:rPr lang="fr-FR" sz="1050" dirty="0"/>
              <a:t>.</a:t>
            </a:r>
          </a:p>
          <a:p>
            <a:endParaRPr lang="fr-FR" sz="1050" dirty="0"/>
          </a:p>
          <a:p>
            <a:r>
              <a:rPr lang="fr-FR" sz="1050" dirty="0"/>
              <a:t>[</a:t>
            </a:r>
            <a:r>
              <a:rPr lang="fr-FR" sz="1050" b="1" u="sng" dirty="0"/>
              <a:t>Mar+22</a:t>
            </a:r>
            <a:r>
              <a:rPr lang="fr-FR" sz="1050" dirty="0"/>
              <a:t>] </a:t>
            </a:r>
            <a:r>
              <a:rPr lang="fr-FR" sz="1050" b="1" dirty="0"/>
              <a:t>Marmoret, A</a:t>
            </a:r>
            <a:r>
              <a:rPr lang="fr-FR" sz="1050" dirty="0"/>
              <a:t>., et al.. </a:t>
            </a:r>
            <a:r>
              <a:rPr lang="fr-FR" sz="1050" dirty="0" err="1"/>
              <a:t>Nonnegative</a:t>
            </a:r>
            <a:r>
              <a:rPr lang="fr-FR" sz="1050" dirty="0"/>
              <a:t> Tucker </a:t>
            </a:r>
            <a:r>
              <a:rPr lang="fr-FR" sz="1050" dirty="0" err="1"/>
              <a:t>Decomposition</a:t>
            </a:r>
            <a:r>
              <a:rPr lang="fr-FR" sz="1050" dirty="0"/>
              <a:t> </a:t>
            </a:r>
            <a:r>
              <a:rPr lang="fr-FR" sz="1050" dirty="0" err="1"/>
              <a:t>with</a:t>
            </a:r>
            <a:r>
              <a:rPr lang="fr-FR" sz="1050" dirty="0"/>
              <a:t> Beta-divergence for Music Structure </a:t>
            </a:r>
            <a:r>
              <a:rPr lang="fr-FR" sz="1050" dirty="0" err="1"/>
              <a:t>Analysis</a:t>
            </a:r>
            <a:r>
              <a:rPr lang="fr-FR" sz="1050" dirty="0"/>
              <a:t> of audio </a:t>
            </a:r>
            <a:r>
              <a:rPr lang="fr-FR" sz="1050" dirty="0" err="1"/>
              <a:t>signals</a:t>
            </a:r>
            <a:r>
              <a:rPr lang="fr-FR" sz="1050" dirty="0"/>
              <a:t>. </a:t>
            </a:r>
            <a:r>
              <a:rPr lang="fr-FR" sz="1050" i="1" dirty="0"/>
              <a:t>GRETSI2022</a:t>
            </a:r>
            <a:r>
              <a:rPr lang="fr-FR" sz="105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C9B32-2DB1-4B0E-B914-6B056CCDF8EA}"/>
              </a:ext>
            </a:extLst>
          </p:cNvPr>
          <p:cNvSpPr/>
          <p:nvPr/>
        </p:nvSpPr>
        <p:spPr>
          <a:xfrm>
            <a:off x="4436987" y="342900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1A2E40"/>
                </a:solidFill>
              </a:rPr>
              <a:t>[KC07, SG18, </a:t>
            </a:r>
            <a:r>
              <a:rPr lang="fr-FR" b="1" u="sng" dirty="0">
                <a:solidFill>
                  <a:srgbClr val="1A2E40"/>
                </a:solidFill>
              </a:rPr>
              <a:t>Mar+20</a:t>
            </a:r>
            <a:r>
              <a:rPr lang="fr-FR" dirty="0">
                <a:solidFill>
                  <a:srgbClr val="1A2E40"/>
                </a:solidFill>
              </a:rPr>
              <a:t>, </a:t>
            </a:r>
            <a:r>
              <a:rPr lang="fr-FR" b="1" u="sng" dirty="0">
                <a:solidFill>
                  <a:srgbClr val="1A2E40"/>
                </a:solidFill>
              </a:rPr>
              <a:t>Mar+22</a:t>
            </a:r>
            <a:r>
              <a:rPr lang="fr-FR" dirty="0">
                <a:solidFill>
                  <a:srgbClr val="1A2E40"/>
                </a:solidFill>
              </a:rPr>
              <a:t>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371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34</a:t>
            </a:fld>
            <a:endParaRPr lang="fr-FR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5B81FBD4-6C87-4F65-9642-204D0655D526}"/>
              </a:ext>
            </a:extLst>
          </p:cNvPr>
          <p:cNvSpPr/>
          <p:nvPr/>
        </p:nvSpPr>
        <p:spPr>
          <a:xfrm>
            <a:off x="5288792" y="2303905"/>
            <a:ext cx="2110724" cy="1774613"/>
          </a:xfrm>
          <a:prstGeom prst="cube">
            <a:avLst>
              <a:gd name="adj" fmla="val 2914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X</a:t>
            </a:r>
          </a:p>
          <a:p>
            <a:pPr algn="ctr"/>
            <a:r>
              <a:rPr lang="fr-FR" sz="2000" dirty="0">
                <a:latin typeface="+mj-lt"/>
              </a:rPr>
              <a:t>(TFB </a:t>
            </a:r>
            <a:r>
              <a:rPr lang="fr-FR" sz="2000" dirty="0" err="1">
                <a:latin typeface="+mj-lt"/>
              </a:rPr>
              <a:t>Tensor</a:t>
            </a:r>
            <a:r>
              <a:rPr lang="fr-FR" sz="2000" dirty="0">
                <a:latin typeface="+mj-lt"/>
              </a:rPr>
              <a:t>)</a:t>
            </a:r>
            <a:endParaRPr lang="fr-FR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arallélogramme 6">
                <a:extLst>
                  <a:ext uri="{FF2B5EF4-FFF2-40B4-BE49-F238E27FC236}">
                    <a16:creationId xmlns:a16="http://schemas.microsoft.com/office/drawing/2014/main" id="{685ADE00-28A0-40D8-8A9B-334CADCBAF73}"/>
                  </a:ext>
                </a:extLst>
              </p:cNvPr>
              <p:cNvSpPr/>
              <p:nvPr/>
            </p:nvSpPr>
            <p:spPr>
              <a:xfrm>
                <a:off x="9971276" y="1367698"/>
                <a:ext cx="657118" cy="630683"/>
              </a:xfrm>
              <a:prstGeom prst="parallelogram">
                <a:avLst>
                  <a:gd name="adj" fmla="val 52940"/>
                </a:avLst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Parallélogramme 6">
                <a:extLst>
                  <a:ext uri="{FF2B5EF4-FFF2-40B4-BE49-F238E27FC236}">
                    <a16:creationId xmlns:a16="http://schemas.microsoft.com/office/drawing/2014/main" id="{685ADE00-28A0-40D8-8A9B-334CADCBA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276" y="1367698"/>
                <a:ext cx="657118" cy="630683"/>
              </a:xfrm>
              <a:prstGeom prst="parallelogram">
                <a:avLst>
                  <a:gd name="adj" fmla="val 52940"/>
                </a:avLst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F4707D-053D-44B2-8F75-9D3030B2025C}"/>
                  </a:ext>
                </a:extLst>
              </p:cNvPr>
              <p:cNvSpPr/>
              <p:nvPr/>
            </p:nvSpPr>
            <p:spPr>
              <a:xfrm>
                <a:off x="8583723" y="2576017"/>
                <a:ext cx="375115" cy="1502505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F4707D-053D-44B2-8F75-9D3030B20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723" y="2576017"/>
                <a:ext cx="375115" cy="1502505"/>
              </a:xfrm>
              <a:prstGeom prst="rect">
                <a:avLst/>
              </a:prstGeom>
              <a:blipFill>
                <a:blip r:embed="rId3"/>
                <a:stretch>
                  <a:fillRect l="-1563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51D1E5-18D8-4020-9B34-DDE90937E518}"/>
                  </a:ext>
                </a:extLst>
              </p:cNvPr>
              <p:cNvSpPr/>
              <p:nvPr/>
            </p:nvSpPr>
            <p:spPr>
              <a:xfrm>
                <a:off x="10740546" y="2633211"/>
                <a:ext cx="1070274" cy="390073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51D1E5-18D8-4020-9B34-DDE90937E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546" y="2633211"/>
                <a:ext cx="1070274" cy="390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be 9">
            <a:extLst>
              <a:ext uri="{FF2B5EF4-FFF2-40B4-BE49-F238E27FC236}">
                <a16:creationId xmlns:a16="http://schemas.microsoft.com/office/drawing/2014/main" id="{2F653804-346D-4CDE-9A59-B8042E76FF5C}"/>
              </a:ext>
            </a:extLst>
          </p:cNvPr>
          <p:cNvSpPr/>
          <p:nvPr/>
        </p:nvSpPr>
        <p:spPr>
          <a:xfrm>
            <a:off x="9579403" y="2493280"/>
            <a:ext cx="723056" cy="654244"/>
          </a:xfrm>
          <a:prstGeom prst="cube">
            <a:avLst>
              <a:gd name="adj" fmla="val 2872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French Script MT" panose="03020402040607040605" pitchFamily="66" charset="0"/>
              </a:rPr>
              <a:t>G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C77268B-7ED6-452B-BE6B-A3BF449037DA}"/>
                  </a:ext>
                </a:extLst>
              </p:cNvPr>
              <p:cNvSpPr txBox="1"/>
              <p:nvPr/>
            </p:nvSpPr>
            <p:spPr>
              <a:xfrm>
                <a:off x="7658196" y="3224369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C77268B-7ED6-452B-BE6B-A3BF4490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96" y="3224369"/>
                <a:ext cx="227626" cy="276999"/>
              </a:xfrm>
              <a:prstGeom prst="rect">
                <a:avLst/>
              </a:prstGeom>
              <a:blipFill>
                <a:blip r:embed="rId5"/>
                <a:stretch>
                  <a:fillRect l="-10526" r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8F8C7CE-9B27-4301-8892-0CDCA2DE4EBD}"/>
              </a:ext>
            </a:extLst>
          </p:cNvPr>
          <p:cNvCxnSpPr>
            <a:cxnSpLocks/>
          </p:cNvCxnSpPr>
          <p:nvPr/>
        </p:nvCxnSpPr>
        <p:spPr>
          <a:xfrm flipV="1">
            <a:off x="5056275" y="2953100"/>
            <a:ext cx="0" cy="1059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F4484C49-A200-49B6-B452-6C6B222C97B1}"/>
                  </a:ext>
                </a:extLst>
              </p:cNvPr>
              <p:cNvSpPr txBox="1"/>
              <p:nvPr/>
            </p:nvSpPr>
            <p:spPr>
              <a:xfrm>
                <a:off x="4626243" y="320647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F4484C49-A200-49B6-B452-6C6B222C9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243" y="3206476"/>
                <a:ext cx="337118" cy="369332"/>
              </a:xfrm>
              <a:prstGeom prst="rect">
                <a:avLst/>
              </a:prstGeom>
              <a:blipFill>
                <a:blip r:embed="rId6"/>
                <a:stretch>
                  <a:fillRect l="-1818" r="-1818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F3D9CA6-DED9-4AFC-B0B0-9ECAEB56338E}"/>
              </a:ext>
            </a:extLst>
          </p:cNvPr>
          <p:cNvCxnSpPr>
            <a:cxnSpLocks/>
          </p:cNvCxnSpPr>
          <p:nvPr/>
        </p:nvCxnSpPr>
        <p:spPr>
          <a:xfrm flipV="1">
            <a:off x="8434452" y="2576017"/>
            <a:ext cx="0" cy="1523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4C7996A1-249C-46A0-AD53-2FF9378EF965}"/>
                  </a:ext>
                </a:extLst>
              </p:cNvPr>
              <p:cNvSpPr txBox="1"/>
              <p:nvPr/>
            </p:nvSpPr>
            <p:spPr>
              <a:xfrm>
                <a:off x="8085822" y="3155178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4C7996A1-249C-46A0-AD53-2FF9378EF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22" y="3155178"/>
                <a:ext cx="337118" cy="369332"/>
              </a:xfrm>
              <a:prstGeom prst="rect">
                <a:avLst/>
              </a:prstGeom>
              <a:blipFill>
                <a:blip r:embed="rId7"/>
                <a:stretch>
                  <a:fillRect l="-1786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1723086-150C-4E0B-9C07-2FA583189012}"/>
              </a:ext>
            </a:extLst>
          </p:cNvPr>
          <p:cNvCxnSpPr>
            <a:cxnSpLocks/>
          </p:cNvCxnSpPr>
          <p:nvPr/>
        </p:nvCxnSpPr>
        <p:spPr>
          <a:xfrm flipV="1">
            <a:off x="10667137" y="2651259"/>
            <a:ext cx="0" cy="35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DA14E62-A20E-468D-A850-29CA5E8A48EC}"/>
                  </a:ext>
                </a:extLst>
              </p:cNvPr>
              <p:cNvSpPr txBox="1"/>
              <p:nvPr/>
            </p:nvSpPr>
            <p:spPr>
              <a:xfrm>
                <a:off x="10330019" y="2587833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DA14E62-A20E-468D-A850-29CA5E8A4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019" y="2587833"/>
                <a:ext cx="3371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0306290-BEAC-4A0D-8F42-C2954D55CFEA}"/>
              </a:ext>
            </a:extLst>
          </p:cNvPr>
          <p:cNvCxnSpPr>
            <a:cxnSpLocks/>
          </p:cNvCxnSpPr>
          <p:nvPr/>
        </p:nvCxnSpPr>
        <p:spPr>
          <a:xfrm>
            <a:off x="9649918" y="3224369"/>
            <a:ext cx="400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DF3432DE-E500-4F5D-8B48-8BDA238B87B5}"/>
                  </a:ext>
                </a:extLst>
              </p:cNvPr>
              <p:cNvSpPr txBox="1"/>
              <p:nvPr/>
            </p:nvSpPr>
            <p:spPr>
              <a:xfrm>
                <a:off x="9713570" y="320647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DF3432DE-E500-4F5D-8B48-8BDA238B8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3570" y="3206476"/>
                <a:ext cx="3371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7D3691E-A1C8-446F-9384-F36D9E31659F}"/>
              </a:ext>
            </a:extLst>
          </p:cNvPr>
          <p:cNvCxnSpPr>
            <a:cxnSpLocks/>
          </p:cNvCxnSpPr>
          <p:nvPr/>
        </p:nvCxnSpPr>
        <p:spPr>
          <a:xfrm flipV="1">
            <a:off x="9487868" y="2751023"/>
            <a:ext cx="6451" cy="404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7B3D58F-3E02-487D-BE17-68B72FC1D541}"/>
                  </a:ext>
                </a:extLst>
              </p:cNvPr>
              <p:cNvSpPr txBox="1"/>
              <p:nvPr/>
            </p:nvSpPr>
            <p:spPr>
              <a:xfrm>
                <a:off x="9147802" y="2735708"/>
                <a:ext cx="33711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7B3D58F-3E02-487D-BE17-68B72FC1D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802" y="2735708"/>
                <a:ext cx="337118" cy="391582"/>
              </a:xfrm>
              <a:prstGeom prst="rect">
                <a:avLst/>
              </a:prstGeom>
              <a:blipFill>
                <a:blip r:embed="rId10"/>
                <a:stretch>
                  <a:fillRect r="-3636"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81C6278-5863-4FA4-B30E-4B309D777A5F}"/>
              </a:ext>
            </a:extLst>
          </p:cNvPr>
          <p:cNvCxnSpPr>
            <a:cxnSpLocks/>
          </p:cNvCxnSpPr>
          <p:nvPr/>
        </p:nvCxnSpPr>
        <p:spPr>
          <a:xfrm flipV="1">
            <a:off x="9559180" y="2467592"/>
            <a:ext cx="130544" cy="157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4DE1EF6-BC11-4163-9B64-63CD92589678}"/>
                  </a:ext>
                </a:extLst>
              </p:cNvPr>
              <p:cNvSpPr txBox="1"/>
              <p:nvPr/>
            </p:nvSpPr>
            <p:spPr>
              <a:xfrm>
                <a:off x="9267522" y="2251700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04DE1EF6-BC11-4163-9B64-63CD92589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522" y="2251700"/>
                <a:ext cx="337118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E504B29-7963-4DCC-A3F1-34C9984D55E0}"/>
              </a:ext>
            </a:extLst>
          </p:cNvPr>
          <p:cNvCxnSpPr>
            <a:cxnSpLocks/>
          </p:cNvCxnSpPr>
          <p:nvPr/>
        </p:nvCxnSpPr>
        <p:spPr>
          <a:xfrm flipV="1">
            <a:off x="9909340" y="1367698"/>
            <a:ext cx="306889" cy="577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AA493AC-925B-440A-9898-1B176BAC1FC4}"/>
                  </a:ext>
                </a:extLst>
              </p:cNvPr>
              <p:cNvSpPr txBox="1"/>
              <p:nvPr/>
            </p:nvSpPr>
            <p:spPr>
              <a:xfrm>
                <a:off x="9729560" y="130398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AA493AC-925B-440A-9898-1B176BAC1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9560" y="1303986"/>
                <a:ext cx="33711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4BD2FEC-14A3-4E7E-BD59-BD74933E5212}"/>
              </a:ext>
            </a:extLst>
          </p:cNvPr>
          <p:cNvCxnSpPr>
            <a:cxnSpLocks/>
          </p:cNvCxnSpPr>
          <p:nvPr/>
        </p:nvCxnSpPr>
        <p:spPr>
          <a:xfrm flipV="1">
            <a:off x="5179588" y="2274473"/>
            <a:ext cx="408225" cy="411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016B17FD-C926-4169-838B-DD6B687C5611}"/>
                  </a:ext>
                </a:extLst>
              </p:cNvPr>
              <p:cNvSpPr txBox="1"/>
              <p:nvPr/>
            </p:nvSpPr>
            <p:spPr>
              <a:xfrm>
                <a:off x="5027841" y="2157907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016B17FD-C926-4169-838B-DD6B687C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41" y="2157907"/>
                <a:ext cx="3371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924ACC8-40A7-4EE1-A9D5-23CFD5DB003C}"/>
              </a:ext>
            </a:extLst>
          </p:cNvPr>
          <p:cNvCxnSpPr>
            <a:cxnSpLocks/>
          </p:cNvCxnSpPr>
          <p:nvPr/>
        </p:nvCxnSpPr>
        <p:spPr>
          <a:xfrm>
            <a:off x="9971276" y="2071778"/>
            <a:ext cx="299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BBBA0F69-9CB7-4870-85E6-FFB3357F0168}"/>
                  </a:ext>
                </a:extLst>
              </p:cNvPr>
              <p:cNvSpPr txBox="1"/>
              <p:nvPr/>
            </p:nvSpPr>
            <p:spPr>
              <a:xfrm>
                <a:off x="9901353" y="2009018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BBBA0F69-9CB7-4870-85E6-FFB3357F0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353" y="2009018"/>
                <a:ext cx="337118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E7C0083-34F0-4628-83CB-A667A76763D0}"/>
              </a:ext>
            </a:extLst>
          </p:cNvPr>
          <p:cNvCxnSpPr>
            <a:cxnSpLocks/>
          </p:cNvCxnSpPr>
          <p:nvPr/>
        </p:nvCxnSpPr>
        <p:spPr>
          <a:xfrm>
            <a:off x="8602504" y="4205968"/>
            <a:ext cx="313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A33004BB-8C53-4A54-94FD-0B48C6F19103}"/>
                  </a:ext>
                </a:extLst>
              </p:cNvPr>
              <p:cNvSpPr txBox="1"/>
              <p:nvPr/>
            </p:nvSpPr>
            <p:spPr>
              <a:xfrm>
                <a:off x="8606942" y="4135861"/>
                <a:ext cx="33711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A33004BB-8C53-4A54-94FD-0B48C6F19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942" y="4135861"/>
                <a:ext cx="337118" cy="391582"/>
              </a:xfrm>
              <a:prstGeom prst="rect">
                <a:avLst/>
              </a:prstGeom>
              <a:blipFill>
                <a:blip r:embed="rId15"/>
                <a:stretch>
                  <a:fillRect r="-3636"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D50587AB-9535-4124-81D1-0E368FD13629}"/>
              </a:ext>
            </a:extLst>
          </p:cNvPr>
          <p:cNvCxnSpPr>
            <a:cxnSpLocks/>
          </p:cNvCxnSpPr>
          <p:nvPr/>
        </p:nvCxnSpPr>
        <p:spPr>
          <a:xfrm>
            <a:off x="10769016" y="3128885"/>
            <a:ext cx="101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0222244-65E0-41A6-AA32-FB981A402ADC}"/>
                  </a:ext>
                </a:extLst>
              </p:cNvPr>
              <p:cNvSpPr txBox="1"/>
              <p:nvPr/>
            </p:nvSpPr>
            <p:spPr>
              <a:xfrm>
                <a:off x="11089512" y="3063197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0222244-65E0-41A6-AA32-FB981A40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9512" y="3063197"/>
                <a:ext cx="3371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E00FFE6-63C7-40D3-BBEB-283BC21624BB}"/>
              </a:ext>
            </a:extLst>
          </p:cNvPr>
          <p:cNvCxnSpPr>
            <a:cxnSpLocks/>
          </p:cNvCxnSpPr>
          <p:nvPr/>
        </p:nvCxnSpPr>
        <p:spPr>
          <a:xfrm>
            <a:off x="5300170" y="4278034"/>
            <a:ext cx="1587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5C19937F-636B-496A-83A4-78EA1324B04D}"/>
                  </a:ext>
                </a:extLst>
              </p:cNvPr>
              <p:cNvSpPr txBox="1"/>
              <p:nvPr/>
            </p:nvSpPr>
            <p:spPr>
              <a:xfrm>
                <a:off x="5925296" y="4305592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5C19937F-636B-496A-83A4-78EA1324B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296" y="4305592"/>
                <a:ext cx="33711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B12A63-3CD1-46C5-BA51-E668542AE965}"/>
                  </a:ext>
                </a:extLst>
              </p:cNvPr>
              <p:cNvSpPr/>
              <p:nvPr/>
            </p:nvSpPr>
            <p:spPr>
              <a:xfrm>
                <a:off x="6764841" y="5041521"/>
                <a:ext cx="37827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800" dirty="0">
                          <a:latin typeface="French Script MT" panose="03020402040607040605" pitchFamily="66" charset="0"/>
                        </a:rPr>
                        <m:t>X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>
                          <a:latin typeface="French Script MT" panose="03020402040607040605" pitchFamily="66" charset="0"/>
                        </a:rPr>
                        <m:t>G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5B12A63-3CD1-46C5-BA51-E668542AE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841" y="5041521"/>
                <a:ext cx="378276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0287DA2A-CE61-4F38-B29C-59C345944744}"/>
              </a:ext>
            </a:extLst>
          </p:cNvPr>
          <p:cNvSpPr/>
          <p:nvPr/>
        </p:nvSpPr>
        <p:spPr>
          <a:xfrm>
            <a:off x="363436" y="4527443"/>
            <a:ext cx="358154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/>
              <a:t>[KC07] Kim, Y. D., &amp; Choi, </a:t>
            </a:r>
            <a:r>
              <a:rPr lang="en-GB" sz="900" dirty="0" err="1"/>
              <a:t>S.Nonnegative</a:t>
            </a:r>
            <a:r>
              <a:rPr lang="en-GB" sz="900" dirty="0"/>
              <a:t> tucker decomposition. In 2007</a:t>
            </a:r>
            <a:r>
              <a:rPr lang="en-GB" sz="900" i="1" dirty="0"/>
              <a:t> IEEE conference on computer vision and pattern recognition.</a:t>
            </a:r>
          </a:p>
          <a:p>
            <a:endParaRPr lang="en-US" sz="900" dirty="0"/>
          </a:p>
          <a:p>
            <a:r>
              <a:rPr lang="en-US" sz="900" dirty="0"/>
              <a:t>[SG18] Smith, J. B., &amp; </a:t>
            </a:r>
            <a:r>
              <a:rPr lang="en-US" sz="900" dirty="0" err="1"/>
              <a:t>Goto</a:t>
            </a:r>
            <a:r>
              <a:rPr lang="en-US" sz="900" dirty="0"/>
              <a:t>, M.. Nonnegative tensor factorization for source separation of loops in audio. In </a:t>
            </a:r>
            <a:r>
              <a:rPr lang="en-US" sz="900" i="1" dirty="0"/>
              <a:t>2018 IEEE ICASSP</a:t>
            </a:r>
            <a:r>
              <a:rPr lang="en-US" sz="900" dirty="0"/>
              <a:t>.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/>
              <a:t>[</a:t>
            </a:r>
            <a:r>
              <a:rPr lang="fr-FR" sz="900" b="1" u="sng" dirty="0"/>
              <a:t>Mar+20</a:t>
            </a:r>
            <a:r>
              <a:rPr lang="fr-FR" sz="900" dirty="0"/>
              <a:t>] </a:t>
            </a:r>
            <a:r>
              <a:rPr lang="fr-FR" sz="900" b="1" dirty="0"/>
              <a:t>Marmoret, A</a:t>
            </a:r>
            <a:r>
              <a:rPr lang="fr-FR" sz="900" dirty="0"/>
              <a:t>., Cohen, J.E., Bertin, N., &amp; </a:t>
            </a:r>
            <a:r>
              <a:rPr lang="fr-FR" sz="900" dirty="0" err="1"/>
              <a:t>Bimbot</a:t>
            </a:r>
            <a:r>
              <a:rPr lang="fr-FR" sz="900" dirty="0"/>
              <a:t>, F. </a:t>
            </a:r>
            <a:r>
              <a:rPr lang="fr-FR" sz="900" dirty="0" err="1"/>
              <a:t>Uncovering</a:t>
            </a:r>
            <a:r>
              <a:rPr lang="fr-FR" sz="900" dirty="0"/>
              <a:t> Audio Patterns in Music </a:t>
            </a:r>
            <a:r>
              <a:rPr lang="fr-FR" sz="900" dirty="0" err="1"/>
              <a:t>with</a:t>
            </a:r>
            <a:r>
              <a:rPr lang="fr-FR" sz="900" dirty="0"/>
              <a:t> </a:t>
            </a:r>
            <a:r>
              <a:rPr lang="fr-FR" sz="900" dirty="0" err="1"/>
              <a:t>Nonnegative</a:t>
            </a:r>
            <a:r>
              <a:rPr lang="fr-FR" sz="900" dirty="0"/>
              <a:t> Tucker </a:t>
            </a:r>
            <a:r>
              <a:rPr lang="fr-FR" sz="900" dirty="0" err="1"/>
              <a:t>Decomposition</a:t>
            </a:r>
            <a:r>
              <a:rPr lang="fr-FR" sz="900" dirty="0"/>
              <a:t> for Structural Segmentation. In 2020 </a:t>
            </a:r>
            <a:r>
              <a:rPr lang="fr-FR" sz="900" i="1" dirty="0"/>
              <a:t>ISMIR</a:t>
            </a:r>
            <a:r>
              <a:rPr lang="fr-FR" sz="900" dirty="0"/>
              <a:t>.</a:t>
            </a:r>
          </a:p>
          <a:p>
            <a:endParaRPr lang="fr-FR" sz="900" dirty="0"/>
          </a:p>
          <a:p>
            <a:r>
              <a:rPr lang="fr-FR" sz="900" dirty="0"/>
              <a:t>[</a:t>
            </a:r>
            <a:r>
              <a:rPr lang="fr-FR" sz="900" b="1" u="sng" dirty="0"/>
              <a:t>Mar+22</a:t>
            </a:r>
            <a:r>
              <a:rPr lang="fr-FR" sz="900" dirty="0"/>
              <a:t>] </a:t>
            </a:r>
            <a:r>
              <a:rPr lang="fr-FR" sz="900" b="1" dirty="0"/>
              <a:t>Marmoret, A</a:t>
            </a:r>
            <a:r>
              <a:rPr lang="fr-FR" sz="900" dirty="0"/>
              <a:t>., et al.. </a:t>
            </a:r>
            <a:r>
              <a:rPr lang="fr-FR" sz="900" dirty="0" err="1"/>
              <a:t>Nonnegative</a:t>
            </a:r>
            <a:r>
              <a:rPr lang="fr-FR" sz="900" dirty="0"/>
              <a:t> Tucker </a:t>
            </a:r>
            <a:r>
              <a:rPr lang="fr-FR" sz="900" dirty="0" err="1"/>
              <a:t>Decomposition</a:t>
            </a:r>
            <a:r>
              <a:rPr lang="fr-FR" sz="900" dirty="0"/>
              <a:t> </a:t>
            </a:r>
            <a:r>
              <a:rPr lang="fr-FR" sz="900" dirty="0" err="1"/>
              <a:t>with</a:t>
            </a:r>
            <a:r>
              <a:rPr lang="fr-FR" sz="900" dirty="0"/>
              <a:t> Beta-divergence for Music Structure </a:t>
            </a:r>
            <a:r>
              <a:rPr lang="fr-FR" sz="900" dirty="0" err="1"/>
              <a:t>Analysis</a:t>
            </a:r>
            <a:r>
              <a:rPr lang="fr-FR" sz="900" dirty="0"/>
              <a:t> of audio </a:t>
            </a:r>
            <a:r>
              <a:rPr lang="fr-FR" sz="900" dirty="0" err="1"/>
              <a:t>signals</a:t>
            </a:r>
            <a:r>
              <a:rPr lang="fr-FR" sz="900" dirty="0"/>
              <a:t>. </a:t>
            </a:r>
            <a:r>
              <a:rPr lang="fr-FR" sz="900" i="1" dirty="0"/>
              <a:t>GRETSI2022</a:t>
            </a:r>
            <a:r>
              <a:rPr lang="fr-FR" sz="9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B7761-B891-447D-AAEE-4A717B6E2DF9}"/>
              </a:ext>
            </a:extLst>
          </p:cNvPr>
          <p:cNvSpPr/>
          <p:nvPr/>
        </p:nvSpPr>
        <p:spPr>
          <a:xfrm>
            <a:off x="393697" y="916411"/>
            <a:ext cx="359107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 err="1">
                <a:solidFill>
                  <a:srgbClr val="1A2E40"/>
                </a:solidFill>
              </a:rPr>
              <a:t>Nonnegative</a:t>
            </a:r>
            <a:r>
              <a:rPr lang="fr-FR" sz="4000" b="1" dirty="0">
                <a:solidFill>
                  <a:srgbClr val="1A2E40"/>
                </a:solidFill>
              </a:rPr>
              <a:t> </a:t>
            </a:r>
            <a:br>
              <a:rPr lang="fr-FR" sz="4000" b="1" dirty="0">
                <a:solidFill>
                  <a:srgbClr val="1A2E40"/>
                </a:solidFill>
              </a:rPr>
            </a:br>
            <a:r>
              <a:rPr lang="fr-FR" sz="4000" b="1" dirty="0">
                <a:solidFill>
                  <a:srgbClr val="1A2E40"/>
                </a:solidFill>
              </a:rPr>
              <a:t>Tucker </a:t>
            </a:r>
            <a:r>
              <a:rPr lang="fr-FR" sz="4000" b="1" dirty="0" err="1">
                <a:solidFill>
                  <a:srgbClr val="1A2E40"/>
                </a:solidFill>
              </a:rPr>
              <a:t>Decomposition</a:t>
            </a:r>
            <a:br>
              <a:rPr lang="fr-FR" dirty="0">
                <a:solidFill>
                  <a:srgbClr val="1A2E40"/>
                </a:solidFill>
              </a:rPr>
            </a:br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D0198-752B-40E3-8049-4510DDDB955E}"/>
              </a:ext>
            </a:extLst>
          </p:cNvPr>
          <p:cNvSpPr/>
          <p:nvPr/>
        </p:nvSpPr>
        <p:spPr>
          <a:xfrm>
            <a:off x="401011" y="2766390"/>
            <a:ext cx="33636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1A2E40"/>
                </a:solidFill>
              </a:rPr>
              <a:t>[KC07, SG18, </a:t>
            </a:r>
            <a:r>
              <a:rPr lang="fr-FR" b="1" u="sng" dirty="0">
                <a:solidFill>
                  <a:srgbClr val="1A2E40"/>
                </a:solidFill>
              </a:rPr>
              <a:t>Mar+20</a:t>
            </a:r>
            <a:r>
              <a:rPr lang="fr-FR" dirty="0">
                <a:solidFill>
                  <a:srgbClr val="1A2E40"/>
                </a:solidFill>
              </a:rPr>
              <a:t>, </a:t>
            </a:r>
            <a:r>
              <a:rPr lang="fr-FR" b="1" u="sng" dirty="0">
                <a:solidFill>
                  <a:srgbClr val="1A2E40"/>
                </a:solidFill>
              </a:rPr>
              <a:t>Mar+22</a:t>
            </a:r>
            <a:r>
              <a:rPr lang="fr-FR" dirty="0">
                <a:solidFill>
                  <a:srgbClr val="1A2E40"/>
                </a:solidFill>
              </a:rPr>
              <a:t>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67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2D3AE-F13F-46EF-8A20-A9B01981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183091" cy="1485900"/>
          </a:xfrm>
        </p:spPr>
        <p:txBody>
          <a:bodyPr/>
          <a:lstStyle/>
          <a:p>
            <a:r>
              <a:rPr lang="fr-FR" dirty="0" err="1"/>
              <a:t>Nonnegative</a:t>
            </a:r>
            <a:r>
              <a:rPr lang="fr-FR" dirty="0"/>
              <a:t> Matrix </a:t>
            </a:r>
            <a:r>
              <a:rPr lang="fr-FR" dirty="0" err="1"/>
              <a:t>Factorization</a:t>
            </a:r>
            <a:r>
              <a:rPr lang="fr-FR" dirty="0"/>
              <a:t> (NMF)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01366D-BC15-4A62-AC9A-BAF242B7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B8AFE3-6881-40D3-9C7A-28ED819173D5}"/>
                  </a:ext>
                </a:extLst>
              </p:cNvPr>
              <p:cNvSpPr/>
              <p:nvPr/>
            </p:nvSpPr>
            <p:spPr>
              <a:xfrm>
                <a:off x="6435547" y="2885398"/>
                <a:ext cx="375115" cy="1944243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B8AFE3-6881-40D3-9C7A-28ED81917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547" y="2885398"/>
                <a:ext cx="375115" cy="1944243"/>
              </a:xfrm>
              <a:prstGeom prst="rect">
                <a:avLst/>
              </a:prstGeom>
              <a:blipFill>
                <a:blip r:embed="rId3"/>
                <a:stretch>
                  <a:fillRect l="-1587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6162F7-802D-4FB8-8CF5-D584BF26E56F}"/>
                  </a:ext>
                </a:extLst>
              </p:cNvPr>
              <p:cNvSpPr/>
              <p:nvPr/>
            </p:nvSpPr>
            <p:spPr>
              <a:xfrm>
                <a:off x="7564678" y="2885398"/>
                <a:ext cx="3392423" cy="393700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6162F7-802D-4FB8-8CF5-D584BF26E5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678" y="2885398"/>
                <a:ext cx="3392423" cy="393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A647C6-BBB9-4692-B1E0-10F3EF9A6C50}"/>
                  </a:ext>
                </a:extLst>
              </p:cNvPr>
              <p:cNvSpPr/>
              <p:nvPr/>
            </p:nvSpPr>
            <p:spPr>
              <a:xfrm>
                <a:off x="1733505" y="2885398"/>
                <a:ext cx="3392423" cy="1944243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A647C6-BBB9-4692-B1E0-10F3EF9A6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505" y="2885398"/>
                <a:ext cx="3392423" cy="194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8C21905-FFF7-45B3-8857-23E83F9D8CEB}"/>
                  </a:ext>
                </a:extLst>
              </p:cNvPr>
              <p:cNvSpPr txBox="1"/>
              <p:nvPr/>
            </p:nvSpPr>
            <p:spPr>
              <a:xfrm>
                <a:off x="5642641" y="3719019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8C21905-FFF7-45B3-8857-23E83F9D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641" y="3719019"/>
                <a:ext cx="227626" cy="276999"/>
              </a:xfrm>
              <a:prstGeom prst="rect">
                <a:avLst/>
              </a:prstGeom>
              <a:blipFill>
                <a:blip r:embed="rId6"/>
                <a:stretch>
                  <a:fillRect l="-10811" r="-13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CF714AB-C257-4E8A-B121-D0C5E2C16F0C}"/>
              </a:ext>
            </a:extLst>
          </p:cNvPr>
          <p:cNvCxnSpPr>
            <a:cxnSpLocks/>
          </p:cNvCxnSpPr>
          <p:nvPr/>
        </p:nvCxnSpPr>
        <p:spPr>
          <a:xfrm>
            <a:off x="6435547" y="4920631"/>
            <a:ext cx="375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538C66DB-A0C2-478C-A0A4-3ABD65E07EB1}"/>
                  </a:ext>
                </a:extLst>
              </p:cNvPr>
              <p:cNvSpPr txBox="1"/>
              <p:nvPr/>
            </p:nvSpPr>
            <p:spPr>
              <a:xfrm>
                <a:off x="6473544" y="4920631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538C66DB-A0C2-478C-A0A4-3ABD65E07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44" y="4920631"/>
                <a:ext cx="33711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2BFD8F4-9D94-4A40-976C-3821E06B7D47}"/>
              </a:ext>
            </a:extLst>
          </p:cNvPr>
          <p:cNvCxnSpPr>
            <a:cxnSpLocks/>
          </p:cNvCxnSpPr>
          <p:nvPr/>
        </p:nvCxnSpPr>
        <p:spPr>
          <a:xfrm flipV="1">
            <a:off x="7494689" y="2909767"/>
            <a:ext cx="0" cy="36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5C5F2F1-8E4E-4F83-9F7A-1FADA690A29F}"/>
                  </a:ext>
                </a:extLst>
              </p:cNvPr>
              <p:cNvSpPr txBox="1"/>
              <p:nvPr/>
            </p:nvSpPr>
            <p:spPr>
              <a:xfrm>
                <a:off x="7187207" y="290976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5C5F2F1-8E4E-4F83-9F7A-1FADA690A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207" y="2909766"/>
                <a:ext cx="3371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EE221A5-440B-42EB-91B4-FD379A121E3F}"/>
                  </a:ext>
                </a:extLst>
              </p:cNvPr>
              <p:cNvSpPr txBox="1"/>
              <p:nvPr/>
            </p:nvSpPr>
            <p:spPr>
              <a:xfrm>
                <a:off x="5022278" y="5679757"/>
                <a:ext cx="16552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≈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𝑊𝑉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EE221A5-440B-42EB-91B4-FD379A121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278" y="5679757"/>
                <a:ext cx="165526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341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2D3AE-F13F-46EF-8A20-A9B01981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183091" cy="1485900"/>
          </a:xfrm>
        </p:spPr>
        <p:txBody>
          <a:bodyPr>
            <a:normAutofit fontScale="90000"/>
          </a:bodyPr>
          <a:lstStyle/>
          <a:p>
            <a:r>
              <a:rPr lang="fr-FR" dirty="0"/>
              <a:t>NMF for Music Transcription </a:t>
            </a:r>
            <a:r>
              <a:rPr lang="fr-FR" sz="2400" dirty="0"/>
              <a:t>[SB03]</a:t>
            </a:r>
            <a:br>
              <a:rPr lang="fr-FR" sz="2400" dirty="0"/>
            </a:br>
            <a:r>
              <a:rPr lang="fr-FR" sz="2700" dirty="0"/>
              <a:t>Example </a:t>
            </a:r>
            <a:r>
              <a:rPr lang="fr-FR" sz="2700" dirty="0" err="1"/>
              <a:t>adapted</a:t>
            </a:r>
            <a:r>
              <a:rPr lang="fr-FR" sz="2700" dirty="0"/>
              <a:t> </a:t>
            </a:r>
            <a:r>
              <a:rPr lang="fr-FR" sz="2700" dirty="0" err="1"/>
              <a:t>from</a:t>
            </a:r>
            <a:r>
              <a:rPr lang="fr-FR" sz="3200" dirty="0"/>
              <a:t> </a:t>
            </a:r>
            <a:r>
              <a:rPr lang="fr-FR" sz="2400" dirty="0"/>
              <a:t>[</a:t>
            </a:r>
            <a:r>
              <a:rPr lang="fr-FR" sz="2400" b="1" u="sng" dirty="0"/>
              <a:t>Wu+22</a:t>
            </a:r>
            <a:r>
              <a:rPr lang="fr-FR" sz="2400" dirty="0"/>
              <a:t>]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01366D-BC15-4A62-AC9A-BAF242B7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49F9D-1420-4CF7-86AD-FD6AA971BC17}"/>
              </a:ext>
            </a:extLst>
          </p:cNvPr>
          <p:cNvSpPr/>
          <p:nvPr/>
        </p:nvSpPr>
        <p:spPr>
          <a:xfrm>
            <a:off x="1371599" y="6367469"/>
            <a:ext cx="92186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/>
              <a:t>[S03] </a:t>
            </a:r>
            <a:r>
              <a:rPr lang="en-GB" sz="900" dirty="0" err="1"/>
              <a:t>Smaragdis</a:t>
            </a:r>
            <a:r>
              <a:rPr lang="en-GB" sz="900" dirty="0"/>
              <a:t>, B., and Brown, J., “Non-negative matrix factorization for polyphonic music transcription,” in 2003 Proc. IEEE Workshop </a:t>
            </a:r>
            <a:r>
              <a:rPr lang="en-GB" sz="900" dirty="0" err="1"/>
              <a:t>Applicat</a:t>
            </a:r>
            <a:r>
              <a:rPr lang="en-GB" sz="900" dirty="0"/>
              <a:t>. Signal Process. Audio </a:t>
            </a:r>
            <a:r>
              <a:rPr lang="en-GB" sz="900" dirty="0" err="1"/>
              <a:t>Acoust</a:t>
            </a:r>
            <a:r>
              <a:rPr lang="en-GB" sz="900" dirty="0"/>
              <a:t>. (WASPAA)</a:t>
            </a:r>
          </a:p>
          <a:p>
            <a:r>
              <a:rPr lang="fr-FR" sz="900" dirty="0"/>
              <a:t>[</a:t>
            </a:r>
            <a:r>
              <a:rPr lang="fr-FR" sz="900" b="1" u="sng" dirty="0"/>
              <a:t>Wu+22</a:t>
            </a:r>
            <a:r>
              <a:rPr lang="fr-FR" sz="900" dirty="0"/>
              <a:t>] Wu, H., </a:t>
            </a:r>
            <a:r>
              <a:rPr lang="fr-FR" sz="900" b="1" dirty="0"/>
              <a:t>Marmoret, A</a:t>
            </a:r>
            <a:r>
              <a:rPr lang="fr-FR" sz="900" dirty="0"/>
              <a:t>., &amp; Cohen, J. E. Semi-</a:t>
            </a:r>
            <a:r>
              <a:rPr lang="fr-FR" sz="900" dirty="0" err="1"/>
              <a:t>Supervised</a:t>
            </a:r>
            <a:r>
              <a:rPr lang="fr-FR" sz="900" dirty="0"/>
              <a:t> Convolutive NMF for </a:t>
            </a:r>
            <a:r>
              <a:rPr lang="fr-FR" sz="900" dirty="0" err="1"/>
              <a:t>Automatic</a:t>
            </a:r>
            <a:r>
              <a:rPr lang="fr-FR" sz="900" dirty="0"/>
              <a:t> Music Transcription. 2022, </a:t>
            </a:r>
            <a:r>
              <a:rPr lang="fr-FR" sz="900" i="1" dirty="0" err="1"/>
              <a:t>arXiv</a:t>
            </a:r>
            <a:r>
              <a:rPr lang="fr-FR" sz="900" i="1" dirty="0"/>
              <a:t> </a:t>
            </a:r>
            <a:r>
              <a:rPr lang="fr-FR" sz="900" i="1" dirty="0" err="1"/>
              <a:t>preprint</a:t>
            </a:r>
            <a:r>
              <a:rPr lang="fr-FR" sz="900" i="1" dirty="0"/>
              <a:t> arXiv:2202.04989</a:t>
            </a:r>
            <a:r>
              <a:rPr lang="fr-FR" sz="900" dirty="0"/>
              <a:t>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808319F-D9B9-49AC-AC6B-DD2C8C4F8A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85" b="72801"/>
          <a:stretch/>
        </p:blipFill>
        <p:spPr>
          <a:xfrm>
            <a:off x="7048990" y="3140365"/>
            <a:ext cx="3708401" cy="8152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8B243AF-6411-4753-8422-68EBE6B055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0" t="32449" r="66413" b="9360"/>
          <a:stretch/>
        </p:blipFill>
        <p:spPr>
          <a:xfrm>
            <a:off x="1913311" y="2675931"/>
            <a:ext cx="2633902" cy="1744133"/>
          </a:xfrm>
          <a:prstGeom prst="rect">
            <a:avLst/>
          </a:prstGeom>
        </p:spPr>
      </p:pic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6769582A-586E-490C-B923-C7C25DCBF3B7}"/>
              </a:ext>
            </a:extLst>
          </p:cNvPr>
          <p:cNvSpPr/>
          <p:nvPr/>
        </p:nvSpPr>
        <p:spPr>
          <a:xfrm>
            <a:off x="5304954" y="3334712"/>
            <a:ext cx="1325335" cy="522315"/>
          </a:xfrm>
          <a:prstGeom prst="rightArrow">
            <a:avLst>
              <a:gd name="adj1" fmla="val 50000"/>
              <a:gd name="adj2" fmla="val 7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773B976-3871-4F1D-A16A-39ACE77A6E78}"/>
                  </a:ext>
                </a:extLst>
              </p:cNvPr>
              <p:cNvSpPr txBox="1"/>
              <p:nvPr/>
            </p:nvSpPr>
            <p:spPr>
              <a:xfrm>
                <a:off x="5253597" y="3420807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773B976-3871-4F1D-A16A-39ACE77A6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597" y="3420807"/>
                <a:ext cx="227626" cy="276999"/>
              </a:xfrm>
              <a:prstGeom prst="rect">
                <a:avLst/>
              </a:prstGeom>
              <a:blipFill>
                <a:blip r:embed="rId4"/>
                <a:stretch>
                  <a:fillRect l="-10811" r="-13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>
            <a:extLst>
              <a:ext uri="{FF2B5EF4-FFF2-40B4-BE49-F238E27FC236}">
                <a16:creationId xmlns:a16="http://schemas.microsoft.com/office/drawing/2014/main" id="{79C7DB3B-F88E-464A-A155-6A69BAB955A5}"/>
              </a:ext>
            </a:extLst>
          </p:cNvPr>
          <p:cNvSpPr txBox="1"/>
          <p:nvPr/>
        </p:nvSpPr>
        <p:spPr>
          <a:xfrm rot="16200000">
            <a:off x="5493963" y="3317248"/>
            <a:ext cx="99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dirty="0"/>
              <a:t>Frequency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5975DC2-7027-4F59-A91B-E00426229F7D}"/>
              </a:ext>
            </a:extLst>
          </p:cNvPr>
          <p:cNvSpPr txBox="1"/>
          <p:nvPr/>
        </p:nvSpPr>
        <p:spPr>
          <a:xfrm>
            <a:off x="8542073" y="2340694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dirty="0"/>
              <a:t>Time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AF1AE0AC-45E5-4A01-8D12-5FD81F604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752" y="2678979"/>
            <a:ext cx="901746" cy="1744132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59B478F1-6602-429A-841C-8B72B938B1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831" y="2678979"/>
            <a:ext cx="2633902" cy="72393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746F639-6069-4DF6-B3D9-C0BF92BE3AC1}"/>
              </a:ext>
            </a:extLst>
          </p:cNvPr>
          <p:cNvSpPr/>
          <p:nvPr/>
        </p:nvSpPr>
        <p:spPr>
          <a:xfrm>
            <a:off x="6204850" y="2688638"/>
            <a:ext cx="298473" cy="1731426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7D37CE-8010-427F-80B6-224BA2988482}"/>
              </a:ext>
            </a:extLst>
          </p:cNvPr>
          <p:cNvSpPr/>
          <p:nvPr/>
        </p:nvSpPr>
        <p:spPr>
          <a:xfrm>
            <a:off x="7502831" y="2687484"/>
            <a:ext cx="2633902" cy="24058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C93E3D-4C96-446B-AE88-64F17121ED76}"/>
              </a:ext>
            </a:extLst>
          </p:cNvPr>
          <p:cNvSpPr/>
          <p:nvPr/>
        </p:nvSpPr>
        <p:spPr>
          <a:xfrm>
            <a:off x="6502225" y="2686035"/>
            <a:ext cx="298473" cy="173402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332DEA-1BCD-4965-9143-ABB0CC8A97F9}"/>
              </a:ext>
            </a:extLst>
          </p:cNvPr>
          <p:cNvSpPr/>
          <p:nvPr/>
        </p:nvSpPr>
        <p:spPr>
          <a:xfrm>
            <a:off x="6801160" y="2687079"/>
            <a:ext cx="298473" cy="1731426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5B9929-B3F1-4AFB-847D-CEB069BB4925}"/>
              </a:ext>
            </a:extLst>
          </p:cNvPr>
          <p:cNvSpPr/>
          <p:nvPr/>
        </p:nvSpPr>
        <p:spPr>
          <a:xfrm>
            <a:off x="7499783" y="2922180"/>
            <a:ext cx="2633902" cy="24058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F5B244-978E-4EA7-8FC3-AB34C6B6EEBF}"/>
              </a:ext>
            </a:extLst>
          </p:cNvPr>
          <p:cNvSpPr/>
          <p:nvPr/>
        </p:nvSpPr>
        <p:spPr>
          <a:xfrm>
            <a:off x="7505140" y="3156876"/>
            <a:ext cx="2627806" cy="24058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5DA5E54F-7FDE-48E6-9C30-BCE67E6BE807}"/>
                  </a:ext>
                </a:extLst>
              </p:cNvPr>
              <p:cNvSpPr txBox="1"/>
              <p:nvPr/>
            </p:nvSpPr>
            <p:spPr>
              <a:xfrm>
                <a:off x="6502225" y="4500388"/>
                <a:ext cx="3807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5DA5E54F-7FDE-48E6-9C30-BCE67E6BE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225" y="4500388"/>
                <a:ext cx="380745" cy="369332"/>
              </a:xfrm>
              <a:prstGeom prst="rect">
                <a:avLst/>
              </a:prstGeom>
              <a:blipFill>
                <a:blip r:embed="rId7"/>
                <a:stretch>
                  <a:fillRect l="-19355" r="-12903"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227B47AD-038A-412F-B790-6EE360FF4029}"/>
                  </a:ext>
                </a:extLst>
              </p:cNvPr>
              <p:cNvSpPr txBox="1"/>
              <p:nvPr/>
            </p:nvSpPr>
            <p:spPr>
              <a:xfrm>
                <a:off x="8623313" y="3547997"/>
                <a:ext cx="2790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227B47AD-038A-412F-B790-6EE360FF4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313" y="3547997"/>
                <a:ext cx="279051" cy="369332"/>
              </a:xfrm>
              <a:prstGeom prst="rect">
                <a:avLst/>
              </a:prstGeom>
              <a:blipFill>
                <a:blip r:embed="rId8"/>
                <a:stretch>
                  <a:fillRect l="-26667" r="-20000"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D3D8C1E6-C962-4377-AD68-28E7964B34CA}"/>
                  </a:ext>
                </a:extLst>
              </p:cNvPr>
              <p:cNvSpPr txBox="1"/>
              <p:nvPr/>
            </p:nvSpPr>
            <p:spPr>
              <a:xfrm>
                <a:off x="4978710" y="5664091"/>
                <a:ext cx="16552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≈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𝑊𝑉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D3D8C1E6-C962-4377-AD68-28E7964B3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710" y="5664091"/>
                <a:ext cx="165526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41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3" grpId="0"/>
      <p:bldP spid="24" grpId="0"/>
      <p:bldP spid="25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8" grpId="0"/>
      <p:bldP spid="4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A06B1-AD40-48E8-B5C3-ADFA8DCC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68096"/>
          </a:xfrm>
        </p:spPr>
        <p:txBody>
          <a:bodyPr/>
          <a:lstStyle/>
          <a:p>
            <a:r>
              <a:rPr lang="fr-FR" dirty="0" err="1"/>
              <a:t>Mixing</a:t>
            </a:r>
            <a:r>
              <a:rPr lang="fr-FR" dirty="0"/>
              <a:t> </a:t>
            </a:r>
            <a:r>
              <a:rPr lang="fr-FR" dirty="0" err="1"/>
              <a:t>templates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DE6948-FA19-4351-9DD4-6818683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37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/>
              <p:nvPr/>
            </p:nvSpPr>
            <p:spPr>
              <a:xfrm>
                <a:off x="6137936" y="2355828"/>
                <a:ext cx="754954" cy="1944243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936" y="2355828"/>
                <a:ext cx="754954" cy="194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/>
              <p:nvPr/>
            </p:nvSpPr>
            <p:spPr>
              <a:xfrm>
                <a:off x="7129486" y="2355827"/>
                <a:ext cx="786971" cy="63093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486" y="2355827"/>
                <a:ext cx="786971" cy="630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/>
              <p:nvPr/>
            </p:nvSpPr>
            <p:spPr>
              <a:xfrm>
                <a:off x="8125833" y="2356120"/>
                <a:ext cx="3392424" cy="880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833" y="2356120"/>
                <a:ext cx="3392424" cy="8807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855723-9FA6-4675-933B-793B375D15E1}"/>
              </a:ext>
            </a:extLst>
          </p:cNvPr>
          <p:cNvSpPr/>
          <p:nvPr/>
        </p:nvSpPr>
        <p:spPr>
          <a:xfrm>
            <a:off x="6142579" y="2355827"/>
            <a:ext cx="260339" cy="194424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E986D1-37A5-43BA-9D7F-F042309AB51F}"/>
              </a:ext>
            </a:extLst>
          </p:cNvPr>
          <p:cNvSpPr/>
          <p:nvPr/>
        </p:nvSpPr>
        <p:spPr>
          <a:xfrm>
            <a:off x="8124952" y="2355828"/>
            <a:ext cx="3392424" cy="182882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5E437-6377-4238-BD9B-32B3830DBD66}"/>
              </a:ext>
            </a:extLst>
          </p:cNvPr>
          <p:cNvSpPr/>
          <p:nvPr/>
        </p:nvSpPr>
        <p:spPr>
          <a:xfrm>
            <a:off x="7133488" y="2355826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1ACB8-8EBB-45C7-91FD-FB11A30537E1}"/>
              </a:ext>
            </a:extLst>
          </p:cNvPr>
          <p:cNvSpPr/>
          <p:nvPr/>
        </p:nvSpPr>
        <p:spPr>
          <a:xfrm>
            <a:off x="7133348" y="2569300"/>
            <a:ext cx="161544" cy="201052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3616D-9B85-4607-B4F8-E42B7DB66323}"/>
              </a:ext>
            </a:extLst>
          </p:cNvPr>
          <p:cNvSpPr/>
          <p:nvPr/>
        </p:nvSpPr>
        <p:spPr>
          <a:xfrm>
            <a:off x="6402989" y="2361923"/>
            <a:ext cx="233549" cy="194424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5D7B1B-41D1-4A98-B1D6-6BE7EDB54358}"/>
              </a:ext>
            </a:extLst>
          </p:cNvPr>
          <p:cNvSpPr/>
          <p:nvPr/>
        </p:nvSpPr>
        <p:spPr>
          <a:xfrm>
            <a:off x="6636538" y="2355828"/>
            <a:ext cx="256352" cy="194424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A5AD46-583A-4CA9-9B19-5E91B663B185}"/>
              </a:ext>
            </a:extLst>
          </p:cNvPr>
          <p:cNvSpPr/>
          <p:nvPr/>
        </p:nvSpPr>
        <p:spPr>
          <a:xfrm>
            <a:off x="7128536" y="2768405"/>
            <a:ext cx="168784" cy="21531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B00DE8-5EA0-42F0-BCAC-3289AD495271}"/>
              </a:ext>
            </a:extLst>
          </p:cNvPr>
          <p:cNvSpPr/>
          <p:nvPr/>
        </p:nvSpPr>
        <p:spPr>
          <a:xfrm>
            <a:off x="7297074" y="2355825"/>
            <a:ext cx="161544" cy="20726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3EE381-8B4D-48B4-A76B-FDF28FA9B4CB}"/>
              </a:ext>
            </a:extLst>
          </p:cNvPr>
          <p:cNvSpPr/>
          <p:nvPr/>
        </p:nvSpPr>
        <p:spPr>
          <a:xfrm>
            <a:off x="8124171" y="2538709"/>
            <a:ext cx="3392424" cy="17145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54A694-2EE5-4104-81F7-545943AA1BF8}"/>
              </a:ext>
            </a:extLst>
          </p:cNvPr>
          <p:cNvSpPr/>
          <p:nvPr/>
        </p:nvSpPr>
        <p:spPr>
          <a:xfrm>
            <a:off x="7295032" y="2561143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8C6EDD-6681-47C9-9649-3325A084DBBB}"/>
              </a:ext>
            </a:extLst>
          </p:cNvPr>
          <p:cNvSpPr/>
          <p:nvPr/>
        </p:nvSpPr>
        <p:spPr>
          <a:xfrm>
            <a:off x="8123391" y="2710167"/>
            <a:ext cx="3392424" cy="17511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6A3848-0420-435E-8B56-12D603E083B3}"/>
              </a:ext>
            </a:extLst>
          </p:cNvPr>
          <p:cNvSpPr/>
          <p:nvPr/>
        </p:nvSpPr>
        <p:spPr>
          <a:xfrm>
            <a:off x="7459436" y="2771101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B0AEBC-5F04-4B73-A8DD-D77E9F483D00}"/>
              </a:ext>
            </a:extLst>
          </p:cNvPr>
          <p:cNvSpPr/>
          <p:nvPr/>
        </p:nvSpPr>
        <p:spPr>
          <a:xfrm>
            <a:off x="7754914" y="2772457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7D9BBE-32F3-4D76-9E0E-C1C1DC63F0CD}"/>
              </a:ext>
            </a:extLst>
          </p:cNvPr>
          <p:cNvSpPr/>
          <p:nvPr/>
        </p:nvSpPr>
        <p:spPr>
          <a:xfrm>
            <a:off x="8129254" y="3056745"/>
            <a:ext cx="3392424" cy="182882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2E3340-1BCA-45EB-AA3F-1A397FFE3E13}"/>
              </a:ext>
            </a:extLst>
          </p:cNvPr>
          <p:cNvSpPr/>
          <p:nvPr/>
        </p:nvSpPr>
        <p:spPr>
          <a:xfrm>
            <a:off x="7458756" y="2353880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720B8AC-5DE2-4068-9999-1765A90716CB}"/>
                  </a:ext>
                </a:extLst>
              </p:cNvPr>
              <p:cNvSpPr txBox="1"/>
              <p:nvPr/>
            </p:nvSpPr>
            <p:spPr>
              <a:xfrm>
                <a:off x="4950266" y="5679757"/>
                <a:ext cx="19588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𝑊𝐺𝐻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720B8AC-5DE2-4068-9999-1765A9071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266" y="5679757"/>
                <a:ext cx="1958870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001BCF7-03E4-44A1-B637-604D778CDD5B}"/>
                  </a:ext>
                </a:extLst>
              </p:cNvPr>
              <p:cNvSpPr/>
              <p:nvPr/>
            </p:nvSpPr>
            <p:spPr>
              <a:xfrm>
                <a:off x="1117114" y="2361923"/>
                <a:ext cx="3392423" cy="1944243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001BCF7-03E4-44A1-B637-604D778CD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14" y="2361923"/>
                <a:ext cx="3392423" cy="1944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3508AA3-5C73-40D1-968C-45B4A5A67050}"/>
                  </a:ext>
                </a:extLst>
              </p:cNvPr>
              <p:cNvSpPr txBox="1"/>
              <p:nvPr/>
            </p:nvSpPr>
            <p:spPr>
              <a:xfrm>
                <a:off x="5179860" y="3009686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E3508AA3-5C73-40D1-968C-45B4A5A6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860" y="3009686"/>
                <a:ext cx="230832" cy="276999"/>
              </a:xfrm>
              <a:prstGeom prst="rect">
                <a:avLst/>
              </a:prstGeom>
              <a:blipFill>
                <a:blip r:embed="rId8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92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3" grpId="0" animBg="1"/>
      <p:bldP spid="14" grpId="0" animBg="1"/>
      <p:bldP spid="14" grpId="1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9" grpId="0" animBg="1"/>
      <p:bldP spid="19" grpId="1" animBg="1"/>
      <p:bldP spid="20" grpId="1" animBg="1"/>
      <p:bldP spid="22" grpId="0" animBg="1"/>
      <p:bldP spid="24" grpId="0" animBg="1"/>
      <p:bldP spid="25" grpId="0" animBg="1"/>
      <p:bldP spid="27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097360E-C960-4891-BF4C-95D6A3B7F916}"/>
              </a:ext>
            </a:extLst>
          </p:cNvPr>
          <p:cNvSpPr/>
          <p:nvPr/>
        </p:nvSpPr>
        <p:spPr>
          <a:xfrm>
            <a:off x="7897770" y="2928819"/>
            <a:ext cx="2880000" cy="252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30DA06B1-AD40-48E8-B5C3-ADFA8DCC6F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95400" y="702580"/>
                <a:ext cx="9601200" cy="880782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Barwise musical pattern: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𝑊𝐺𝐻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30DA06B1-AD40-48E8-B5C3-ADFA8DCC6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95400" y="702580"/>
                <a:ext cx="9601200" cy="880782"/>
              </a:xfrm>
              <a:blipFill>
                <a:blip r:embed="rId5"/>
                <a:stretch>
                  <a:fillRect l="-2603" t="-22069" b="-11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305CC3-1F94-41BC-8F54-9383F48C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38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02CE8-D9BF-41A8-99C1-4DD19531F858}"/>
              </a:ext>
            </a:extLst>
          </p:cNvPr>
          <p:cNvSpPr/>
          <p:nvPr/>
        </p:nvSpPr>
        <p:spPr>
          <a:xfrm>
            <a:off x="4691272" y="2676820"/>
            <a:ext cx="1439601" cy="6841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/>
              <p:nvPr/>
            </p:nvSpPr>
            <p:spPr>
              <a:xfrm>
                <a:off x="6783646" y="2688334"/>
                <a:ext cx="786971" cy="63093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646" y="2688334"/>
                <a:ext cx="786971" cy="6309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4301AAE-354A-4923-BC08-FA952BCF30C3}"/>
              </a:ext>
            </a:extLst>
          </p:cNvPr>
          <p:cNvSpPr/>
          <p:nvPr/>
        </p:nvSpPr>
        <p:spPr>
          <a:xfrm>
            <a:off x="7894217" y="2676819"/>
            <a:ext cx="2880000" cy="12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B00DE8-5EA0-42F0-BCAC-3289AD495271}"/>
              </a:ext>
            </a:extLst>
          </p:cNvPr>
          <p:cNvSpPr/>
          <p:nvPr/>
        </p:nvSpPr>
        <p:spPr>
          <a:xfrm>
            <a:off x="6953972" y="2690059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54A694-2EE5-4104-81F7-545943AA1BF8}"/>
              </a:ext>
            </a:extLst>
          </p:cNvPr>
          <p:cNvSpPr/>
          <p:nvPr/>
        </p:nvSpPr>
        <p:spPr>
          <a:xfrm>
            <a:off x="6952669" y="2900793"/>
            <a:ext cx="161544" cy="20553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6A3848-0420-435E-8B56-12D603E083B3}"/>
              </a:ext>
            </a:extLst>
          </p:cNvPr>
          <p:cNvSpPr/>
          <p:nvPr/>
        </p:nvSpPr>
        <p:spPr>
          <a:xfrm>
            <a:off x="7113596" y="3103608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B0AEBC-5F04-4B73-A8DD-D77E9F483D00}"/>
              </a:ext>
            </a:extLst>
          </p:cNvPr>
          <p:cNvSpPr/>
          <p:nvPr/>
        </p:nvSpPr>
        <p:spPr>
          <a:xfrm>
            <a:off x="7409074" y="3104964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7D9BBE-32F3-4D76-9E0E-C1C1DC63F0CD}"/>
              </a:ext>
            </a:extLst>
          </p:cNvPr>
          <p:cNvSpPr/>
          <p:nvPr/>
        </p:nvSpPr>
        <p:spPr>
          <a:xfrm>
            <a:off x="7894217" y="3684819"/>
            <a:ext cx="2880000" cy="252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2E3340-1BCA-45EB-AA3F-1A397FFE3E13}"/>
              </a:ext>
            </a:extLst>
          </p:cNvPr>
          <p:cNvSpPr/>
          <p:nvPr/>
        </p:nvSpPr>
        <p:spPr>
          <a:xfrm>
            <a:off x="7115654" y="2691864"/>
            <a:ext cx="161544" cy="20893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FFB778-C8FC-4E1F-A21D-A0387FC654F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4"/>
          <a:stretch/>
        </p:blipFill>
        <p:spPr>
          <a:xfrm>
            <a:off x="1373610" y="2676819"/>
            <a:ext cx="2569827" cy="11164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D5DD54F-9382-463C-89D2-91B3004D367C}"/>
              </a:ext>
            </a:extLst>
          </p:cNvPr>
          <p:cNvSpPr txBox="1"/>
          <p:nvPr/>
        </p:nvSpPr>
        <p:spPr>
          <a:xfrm>
            <a:off x="8522922" y="2853087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5D96C6-62C1-4EE3-B9A1-7ED6114907EA}"/>
              </a:ext>
            </a:extLst>
          </p:cNvPr>
          <p:cNvSpPr/>
          <p:nvPr/>
        </p:nvSpPr>
        <p:spPr>
          <a:xfrm>
            <a:off x="7894217" y="3179465"/>
            <a:ext cx="2880000" cy="25200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4EADDDF-A458-4DF2-8205-1A29732FBA9E}"/>
              </a:ext>
            </a:extLst>
          </p:cNvPr>
          <p:cNvSpPr txBox="1"/>
          <p:nvPr/>
        </p:nvSpPr>
        <p:spPr>
          <a:xfrm>
            <a:off x="9584632" y="3618147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S Gothic" panose="020B0609070205080204" pitchFamily="49" charset="-128"/>
                <a:ea typeface="MS Gothic" panose="020B0609070205080204" pitchFamily="49" charset="-128"/>
              </a:rPr>
              <a:t>♪</a:t>
            </a:r>
            <a:endParaRPr lang="fr-FR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5F981E1-3034-4ABA-AB7B-689E33AD0C0D}"/>
              </a:ext>
            </a:extLst>
          </p:cNvPr>
          <p:cNvSpPr txBox="1"/>
          <p:nvPr/>
        </p:nvSpPr>
        <p:spPr>
          <a:xfrm>
            <a:off x="9959221" y="2852966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F23E32D-5B2B-4200-96E9-C7AB95F5B921}"/>
              </a:ext>
            </a:extLst>
          </p:cNvPr>
          <p:cNvSpPr txBox="1"/>
          <p:nvPr/>
        </p:nvSpPr>
        <p:spPr>
          <a:xfrm>
            <a:off x="9297966" y="3091481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ABE77B-CD2A-4E97-B3E6-0D76C85A64A7}"/>
                  </a:ext>
                </a:extLst>
              </p:cNvPr>
              <p:cNvSpPr/>
              <p:nvPr/>
            </p:nvSpPr>
            <p:spPr>
              <a:xfrm>
                <a:off x="9171118" y="4004153"/>
                <a:ext cx="4174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ABE77B-CD2A-4E97-B3E6-0D76C85A6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118" y="4004153"/>
                <a:ext cx="41742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34">
            <a:extLst>
              <a:ext uri="{FF2B5EF4-FFF2-40B4-BE49-F238E27FC236}">
                <a16:creationId xmlns:a16="http://schemas.microsoft.com/office/drawing/2014/main" id="{FD145E2A-5857-47B5-B902-33FFD762E864}"/>
              </a:ext>
            </a:extLst>
          </p:cNvPr>
          <p:cNvSpPr txBox="1"/>
          <p:nvPr/>
        </p:nvSpPr>
        <p:spPr>
          <a:xfrm>
            <a:off x="7857683" y="3096197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17CE8AE-8B2C-43CC-B95F-FFAD1C08286A}"/>
              </a:ext>
            </a:extLst>
          </p:cNvPr>
          <p:cNvSpPr txBox="1"/>
          <p:nvPr/>
        </p:nvSpPr>
        <p:spPr>
          <a:xfrm>
            <a:off x="7851392" y="3355046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6769260-4400-4FFA-81A4-9A8BA3DE02DE}"/>
              </a:ext>
            </a:extLst>
          </p:cNvPr>
          <p:cNvSpPr txBox="1"/>
          <p:nvPr/>
        </p:nvSpPr>
        <p:spPr>
          <a:xfrm>
            <a:off x="8523279" y="3342355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8E18B6C-BC99-4313-B48D-81D012D27B82}"/>
              </a:ext>
            </a:extLst>
          </p:cNvPr>
          <p:cNvSpPr txBox="1"/>
          <p:nvPr/>
        </p:nvSpPr>
        <p:spPr>
          <a:xfrm>
            <a:off x="9959221" y="3344785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D2F78CF-86C0-49C3-B242-3012103A8933}"/>
              </a:ext>
            </a:extLst>
          </p:cNvPr>
          <p:cNvSpPr txBox="1"/>
          <p:nvPr/>
        </p:nvSpPr>
        <p:spPr>
          <a:xfrm>
            <a:off x="8523279" y="2591874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C73AE82-3ADC-4430-B1B0-5C060E36FFD3}"/>
              </a:ext>
            </a:extLst>
          </p:cNvPr>
          <p:cNvSpPr txBox="1"/>
          <p:nvPr/>
        </p:nvSpPr>
        <p:spPr>
          <a:xfrm>
            <a:off x="9309161" y="2589200"/>
            <a:ext cx="28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S Gothic" panose="020B0609070205080204" pitchFamily="49" charset="-128"/>
                <a:ea typeface="MS Gothic" panose="020B0609070205080204" pitchFamily="49" charset="-128"/>
              </a:rPr>
              <a:t>♩</a:t>
            </a:r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DCDB66F-89DB-486A-8EE2-AD3C827B6776}"/>
              </a:ext>
            </a:extLst>
          </p:cNvPr>
          <p:cNvSpPr txBox="1"/>
          <p:nvPr/>
        </p:nvSpPr>
        <p:spPr>
          <a:xfrm>
            <a:off x="4185144" y="3103608"/>
            <a:ext cx="48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DBE42F1-1EE4-4E59-93D9-CA8F544FAC2D}"/>
                  </a:ext>
                </a:extLst>
              </p:cNvPr>
              <p:cNvSpPr/>
              <p:nvPr/>
            </p:nvSpPr>
            <p:spPr>
              <a:xfrm>
                <a:off x="5162826" y="3496307"/>
                <a:ext cx="471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DBE42F1-1EE4-4E59-93D9-CA8F544FA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826" y="3496307"/>
                <a:ext cx="471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Image 41">
            <a:extLst>
              <a:ext uri="{FF2B5EF4-FFF2-40B4-BE49-F238E27FC236}">
                <a16:creationId xmlns:a16="http://schemas.microsoft.com/office/drawing/2014/main" id="{36D5FD2A-6C30-4BF4-BE36-D3BE082F18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29" y="3693791"/>
            <a:ext cx="89888" cy="238550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E4BEC6A8-873D-4A58-8D4B-27EACD706A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525" y="3705286"/>
            <a:ext cx="118894" cy="218765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072ED597-8662-4156-B726-2D8909561F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893" y="3698080"/>
            <a:ext cx="89888" cy="23855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70EEFD82-D127-4DED-9331-B83C30EDE8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861" y="3693791"/>
            <a:ext cx="89888" cy="238550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1071C618-3AEA-4F8C-8D19-A3E881A5C1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986" y="3192735"/>
            <a:ext cx="89888" cy="23855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2C52FDC-6373-4011-8FA7-710D3DF10A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137" y="3185557"/>
            <a:ext cx="89888" cy="238550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EEC260B7-36E2-43A5-8938-BCF36F63B0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031" y="2942707"/>
            <a:ext cx="89888" cy="23855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D45A4A34-EFED-4A42-82E3-14EF67F250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897" y="2942269"/>
            <a:ext cx="89888" cy="238550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87C18763-0E58-4201-888E-EA1262AF81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031" y="2687663"/>
            <a:ext cx="89888" cy="238550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31708AD7-DEB5-4180-8ABF-A5420A19E8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137" y="2685531"/>
            <a:ext cx="89888" cy="238550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717796AE-8E49-4191-95FD-A955D9FA8EE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6117" y="2685531"/>
            <a:ext cx="479140" cy="668296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4B2A478C-FE5B-44E0-80AC-62A4E287C4E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15"/>
          <a:stretch/>
        </p:blipFill>
        <p:spPr>
          <a:xfrm>
            <a:off x="5651242" y="2669653"/>
            <a:ext cx="479632" cy="6841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B5D7B1B-41D1-4A98-B1D6-6BE7EDB54358}"/>
              </a:ext>
            </a:extLst>
          </p:cNvPr>
          <p:cNvSpPr/>
          <p:nvPr/>
        </p:nvSpPr>
        <p:spPr>
          <a:xfrm>
            <a:off x="5655049" y="2672010"/>
            <a:ext cx="479632" cy="68417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B062686-E8A3-4ED9-87B7-96BFC9B74A68}"/>
              </a:ext>
            </a:extLst>
          </p:cNvPr>
          <p:cNvSpPr/>
          <p:nvPr/>
        </p:nvSpPr>
        <p:spPr>
          <a:xfrm>
            <a:off x="5197693" y="2676819"/>
            <a:ext cx="458708" cy="68415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D41145D1-88E0-4D86-A797-529248FCA86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8"/>
          <a:stretch/>
        </p:blipFill>
        <p:spPr>
          <a:xfrm>
            <a:off x="4693852" y="2681677"/>
            <a:ext cx="500263" cy="67678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E9F690F-FA2F-48E0-AC1A-7DCAFF0C8756}"/>
              </a:ext>
            </a:extLst>
          </p:cNvPr>
          <p:cNvSpPr/>
          <p:nvPr/>
        </p:nvSpPr>
        <p:spPr>
          <a:xfrm>
            <a:off x="4693449" y="2675960"/>
            <a:ext cx="505433" cy="68262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7087A8-7BB7-488B-B98C-4A6962ACEB8C}"/>
              </a:ext>
            </a:extLst>
          </p:cNvPr>
          <p:cNvSpPr/>
          <p:nvPr/>
        </p:nvSpPr>
        <p:spPr>
          <a:xfrm>
            <a:off x="4594594" y="2423833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dirty="0" err="1"/>
              <a:t>Hi-hat</a:t>
            </a:r>
            <a:endParaRPr lang="fr-FR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768562E-8D63-4C13-9D41-DF0DEFCDDE04}"/>
              </a:ext>
            </a:extLst>
          </p:cNvPr>
          <p:cNvSpPr/>
          <p:nvPr/>
        </p:nvSpPr>
        <p:spPr>
          <a:xfrm>
            <a:off x="5120714" y="2431000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dirty="0" err="1"/>
              <a:t>Snare</a:t>
            </a:r>
            <a:endParaRPr lang="fr-FR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5E4649D-9722-47A2-9867-5B94A4ABC911}"/>
              </a:ext>
            </a:extLst>
          </p:cNvPr>
          <p:cNvSpPr/>
          <p:nvPr/>
        </p:nvSpPr>
        <p:spPr>
          <a:xfrm>
            <a:off x="5695792" y="2423833"/>
            <a:ext cx="511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400" dirty="0"/>
              <a:t>Kick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C592C1-B29F-45F5-96F6-66A191136CC9}"/>
              </a:ext>
            </a:extLst>
          </p:cNvPr>
          <p:cNvSpPr/>
          <p:nvPr/>
        </p:nvSpPr>
        <p:spPr>
          <a:xfrm>
            <a:off x="2680214" y="3007303"/>
            <a:ext cx="184795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7A18FD8-A77A-4215-992E-18D2D75B1346}"/>
              </a:ext>
            </a:extLst>
          </p:cNvPr>
          <p:cNvSpPr/>
          <p:nvPr/>
        </p:nvSpPr>
        <p:spPr>
          <a:xfrm>
            <a:off x="3555927" y="3004922"/>
            <a:ext cx="2050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DEF8395-0886-4F9E-AA6B-FAB09BA9D8BA}"/>
              </a:ext>
            </a:extLst>
          </p:cNvPr>
          <p:cNvSpPr/>
          <p:nvPr/>
        </p:nvSpPr>
        <p:spPr>
          <a:xfrm>
            <a:off x="2344140" y="3010917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6F8675-F8A9-4B5C-86F4-B675B8DD5C4A}"/>
              </a:ext>
            </a:extLst>
          </p:cNvPr>
          <p:cNvSpPr/>
          <p:nvPr/>
        </p:nvSpPr>
        <p:spPr>
          <a:xfrm>
            <a:off x="3081085" y="3010905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22078AE-0343-49AD-8B72-DFF94AAEA08D}"/>
              </a:ext>
            </a:extLst>
          </p:cNvPr>
          <p:cNvSpPr/>
          <p:nvPr/>
        </p:nvSpPr>
        <p:spPr>
          <a:xfrm>
            <a:off x="2681191" y="3225279"/>
            <a:ext cx="184795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4AED29D-5E69-4CC7-90B1-A775E350F396}"/>
              </a:ext>
            </a:extLst>
          </p:cNvPr>
          <p:cNvSpPr/>
          <p:nvPr/>
        </p:nvSpPr>
        <p:spPr>
          <a:xfrm>
            <a:off x="3554523" y="3225279"/>
            <a:ext cx="206448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1117EDC-4E0C-40A9-A74C-C6026598F1F3}"/>
              </a:ext>
            </a:extLst>
          </p:cNvPr>
          <p:cNvSpPr/>
          <p:nvPr/>
        </p:nvSpPr>
        <p:spPr>
          <a:xfrm>
            <a:off x="2331805" y="3396092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AEA775F-0EB7-4DF6-9D9C-BD1792A005B6}"/>
              </a:ext>
            </a:extLst>
          </p:cNvPr>
          <p:cNvSpPr/>
          <p:nvPr/>
        </p:nvSpPr>
        <p:spPr>
          <a:xfrm>
            <a:off x="3068750" y="3396080"/>
            <a:ext cx="161544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042A16A-EEC5-4047-8C4B-3CBD6F471F2E}"/>
              </a:ext>
            </a:extLst>
          </p:cNvPr>
          <p:cNvSpPr/>
          <p:nvPr/>
        </p:nvSpPr>
        <p:spPr>
          <a:xfrm>
            <a:off x="3312361" y="3396079"/>
            <a:ext cx="170643" cy="21268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D07B750C-85AE-4F0D-990E-61DEC84440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623" y="3439650"/>
            <a:ext cx="89888" cy="238550"/>
          </a:xfrm>
          <a:prstGeom prst="rect">
            <a:avLst/>
          </a:prstGeom>
        </p:spPr>
      </p:pic>
      <p:pic>
        <p:nvPicPr>
          <p:cNvPr id="73" name="Graphique 72" descr="Batterie">
            <a:extLst>
              <a:ext uri="{FF2B5EF4-FFF2-40B4-BE49-F238E27FC236}">
                <a16:creationId xmlns:a16="http://schemas.microsoft.com/office/drawing/2014/main" id="{F9502481-ABB2-4B4D-B247-410809C129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48206" y="3817355"/>
            <a:ext cx="1097183" cy="1097183"/>
          </a:xfrm>
          <a:prstGeom prst="rect">
            <a:avLst/>
          </a:prstGeom>
        </p:spPr>
      </p:pic>
      <p:pic>
        <p:nvPicPr>
          <p:cNvPr id="4" name="drum_pattern">
            <a:hlinkClick r:id="" action="ppaction://media"/>
            <a:extLst>
              <a:ext uri="{FF2B5EF4-FFF2-40B4-BE49-F238E27FC236}">
                <a16:creationId xmlns:a16="http://schemas.microsoft.com/office/drawing/2014/main" id="{14CC7E9E-79A1-4CBD-9D4D-5665CF03CE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2491209" y="4418552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1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1" grpId="0" animBg="1"/>
      <p:bldP spid="31" grpId="1" animBg="1"/>
      <p:bldP spid="31" grpId="2" animBg="1"/>
      <p:bldP spid="31" grpId="3" animBg="1"/>
      <p:bldP spid="31" grpId="4" animBg="1"/>
      <p:bldP spid="19" grpId="0" animBg="1"/>
      <p:bldP spid="19" grpId="1" animBg="1"/>
      <p:bldP spid="19" grpId="2" animBg="1"/>
      <p:bldP spid="22" grpId="0" animBg="1"/>
      <p:bldP spid="22" grpId="1" animBg="1"/>
      <p:bldP spid="22" grpId="2" animBg="1"/>
      <p:bldP spid="25" grpId="0" animBg="1"/>
      <p:bldP spid="25" grpId="1" animBg="1"/>
      <p:bldP spid="25" grpId="2" animBg="1"/>
      <p:bldP spid="27" grpId="0" animBg="1"/>
      <p:bldP spid="29" grpId="0" animBg="1"/>
      <p:bldP spid="30" grpId="0" animBg="1"/>
      <p:bldP spid="30" grpId="1" animBg="1"/>
      <p:bldP spid="30" grpId="2" animBg="1"/>
      <p:bldP spid="28" grpId="0" animBg="1"/>
      <p:bldP spid="28" grpId="1" animBg="1"/>
      <p:bldP spid="28" grpId="2" animBg="1"/>
      <p:bldP spid="28" grpId="3" animBg="1"/>
      <p:bldP spid="28" grpId="4" animBg="1"/>
      <p:bldP spid="16" grpId="0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64" grpId="0" animBg="1"/>
      <p:bldP spid="64" grpId="1" animBg="1"/>
      <p:bldP spid="64" grpId="2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  <p:bldP spid="67" grpId="0" animBg="1"/>
      <p:bldP spid="67" grpId="1" animBg="1"/>
      <p:bldP spid="67" grpId="2" animBg="1"/>
      <p:bldP spid="68" grpId="0" animBg="1"/>
      <p:bldP spid="68" grpId="1" animBg="1"/>
      <p:bldP spid="68" grpId="2" animBg="1"/>
      <p:bldP spid="69" grpId="0" animBg="1"/>
      <p:bldP spid="69" grpId="1" animBg="1"/>
      <p:bldP spid="69" grpId="2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1FA2007-EDB2-43EF-9CF6-3F7BEA3388B0}"/>
              </a:ext>
            </a:extLst>
          </p:cNvPr>
          <p:cNvSpPr/>
          <p:nvPr/>
        </p:nvSpPr>
        <p:spPr>
          <a:xfrm>
            <a:off x="6612904" y="2425111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542177-4D61-48F2-BF61-D09B75438476}"/>
              </a:ext>
            </a:extLst>
          </p:cNvPr>
          <p:cNvSpPr/>
          <p:nvPr/>
        </p:nvSpPr>
        <p:spPr>
          <a:xfrm>
            <a:off x="6616033" y="2425111"/>
            <a:ext cx="786971" cy="63093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D00DFD-D098-4125-849D-6B46B1F95F60}"/>
              </a:ext>
            </a:extLst>
          </p:cNvPr>
          <p:cNvSpPr/>
          <p:nvPr/>
        </p:nvSpPr>
        <p:spPr>
          <a:xfrm>
            <a:off x="6506687" y="2549797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09B36A-43B1-4059-85C3-DCEB0A15EDAF}"/>
              </a:ext>
            </a:extLst>
          </p:cNvPr>
          <p:cNvSpPr/>
          <p:nvPr/>
        </p:nvSpPr>
        <p:spPr>
          <a:xfrm>
            <a:off x="6506687" y="2551286"/>
            <a:ext cx="786971" cy="63093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074E9-380B-4C6A-A495-77A465D480DD}"/>
              </a:ext>
            </a:extLst>
          </p:cNvPr>
          <p:cNvSpPr/>
          <p:nvPr/>
        </p:nvSpPr>
        <p:spPr>
          <a:xfrm>
            <a:off x="6400467" y="2656013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046B1C-4A2A-4CE2-8C6A-6BFBC5CD939C}"/>
              </a:ext>
            </a:extLst>
          </p:cNvPr>
          <p:cNvSpPr/>
          <p:nvPr/>
        </p:nvSpPr>
        <p:spPr>
          <a:xfrm>
            <a:off x="6398645" y="2661738"/>
            <a:ext cx="786971" cy="63093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DA06B1-AD40-48E8-B5C3-ADFA8DCC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784174"/>
          </a:xfrm>
        </p:spPr>
        <p:txBody>
          <a:bodyPr>
            <a:normAutofit/>
          </a:bodyPr>
          <a:lstStyle/>
          <a:p>
            <a:r>
              <a:rPr lang="fr-FR" dirty="0" err="1"/>
              <a:t>Combining</a:t>
            </a:r>
            <a:r>
              <a:rPr lang="fr-FR"/>
              <a:t> patterns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65744C9-A247-4F60-A899-FFEA8EF7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39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/>
              <p:nvPr/>
            </p:nvSpPr>
            <p:spPr>
              <a:xfrm>
                <a:off x="5302697" y="2780702"/>
                <a:ext cx="754954" cy="1944243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697" y="2780702"/>
                <a:ext cx="754954" cy="194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/>
              <p:nvPr/>
            </p:nvSpPr>
            <p:spPr>
              <a:xfrm>
                <a:off x="6294247" y="2780701"/>
                <a:ext cx="786971" cy="630938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247" y="2780701"/>
                <a:ext cx="786971" cy="630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/>
              <p:nvPr/>
            </p:nvSpPr>
            <p:spPr>
              <a:xfrm>
                <a:off x="7633062" y="2740344"/>
                <a:ext cx="3392424" cy="880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062" y="2740344"/>
                <a:ext cx="3392424" cy="8807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80FCB3B-0B60-4645-BB66-129AB90FA479}"/>
              </a:ext>
            </a:extLst>
          </p:cNvPr>
          <p:cNvSpPr/>
          <p:nvPr/>
        </p:nvSpPr>
        <p:spPr>
          <a:xfrm>
            <a:off x="6532186" y="1832670"/>
            <a:ext cx="936962" cy="22341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3FF570-95EE-43AD-9E28-0DFE3E88A61D}"/>
              </a:ext>
            </a:extLst>
          </p:cNvPr>
          <p:cNvSpPr/>
          <p:nvPr/>
        </p:nvSpPr>
        <p:spPr>
          <a:xfrm>
            <a:off x="7002151" y="1831181"/>
            <a:ext cx="236979" cy="22341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B4790F-BABE-4CFB-B766-2FDC5F82E218}"/>
              </a:ext>
            </a:extLst>
          </p:cNvPr>
          <p:cNvSpPr/>
          <p:nvPr/>
        </p:nvSpPr>
        <p:spPr>
          <a:xfrm>
            <a:off x="7235650" y="1831181"/>
            <a:ext cx="236979" cy="22341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ABD5682-6C8F-4204-9C92-FB5B324532B3}"/>
              </a:ext>
            </a:extLst>
          </p:cNvPr>
          <p:cNvSpPr/>
          <p:nvPr/>
        </p:nvSpPr>
        <p:spPr>
          <a:xfrm>
            <a:off x="6766912" y="1831181"/>
            <a:ext cx="236979" cy="22341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3ED921-E267-4C2B-82F4-333CC66B5944}"/>
              </a:ext>
            </a:extLst>
          </p:cNvPr>
          <p:cNvSpPr/>
          <p:nvPr/>
        </p:nvSpPr>
        <p:spPr>
          <a:xfrm>
            <a:off x="6539147" y="1831181"/>
            <a:ext cx="231245" cy="22341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E80907-1FC7-4F60-BC55-0A4DD3D899FD}"/>
              </a:ext>
            </a:extLst>
          </p:cNvPr>
          <p:cNvSpPr/>
          <p:nvPr/>
        </p:nvSpPr>
        <p:spPr>
          <a:xfrm>
            <a:off x="6294247" y="2780701"/>
            <a:ext cx="786971" cy="63093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9B4E477-50D1-4E5E-A96B-3F63A3BA0A73}"/>
                  </a:ext>
                </a:extLst>
              </p:cNvPr>
              <p:cNvSpPr txBox="1"/>
              <p:nvPr/>
            </p:nvSpPr>
            <p:spPr>
              <a:xfrm>
                <a:off x="4017161" y="5343777"/>
                <a:ext cx="4366067" cy="1309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</m:e>
                      </m:d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9B4E477-50D1-4E5E-A96B-3F63A3BA0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161" y="5343777"/>
                <a:ext cx="4366067" cy="13093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0B9BEB7-0398-4BD8-9ED2-117F212D77B6}"/>
                  </a:ext>
                </a:extLst>
              </p:cNvPr>
              <p:cNvSpPr/>
              <p:nvPr/>
            </p:nvSpPr>
            <p:spPr>
              <a:xfrm>
                <a:off x="6792130" y="1417378"/>
                <a:ext cx="3743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0B9BEB7-0398-4BD8-9ED2-117F212D7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30" y="1417378"/>
                <a:ext cx="374398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6FC5B1C-1661-4788-ACEE-1D5BE85DDE91}"/>
                  </a:ext>
                </a:extLst>
              </p:cNvPr>
              <p:cNvSpPr/>
              <p:nvPr/>
            </p:nvSpPr>
            <p:spPr>
              <a:xfrm>
                <a:off x="1053658" y="2780702"/>
                <a:ext cx="3392423" cy="1944243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6FC5B1C-1661-4788-ACEE-1D5BE85DD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58" y="2780702"/>
                <a:ext cx="3392423" cy="1944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A46C1A5D-B8EC-4A19-9F5C-73C1A832FFA8}"/>
                  </a:ext>
                </a:extLst>
              </p:cNvPr>
              <p:cNvSpPr txBox="1"/>
              <p:nvPr/>
            </p:nvSpPr>
            <p:spPr>
              <a:xfrm>
                <a:off x="4758973" y="3579326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A46C1A5D-B8EC-4A19-9F5C-73C1A832F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973" y="3579326"/>
                <a:ext cx="230832" cy="276999"/>
              </a:xfrm>
              <a:prstGeom prst="rect">
                <a:avLst/>
              </a:prstGeom>
              <a:blipFill>
                <a:blip r:embed="rId9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26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  <p:bldP spid="44" grpId="1" animBg="1"/>
      <p:bldP spid="43" grpId="0" animBg="1"/>
      <p:bldP spid="43" grpId="1" animBg="1"/>
      <p:bldP spid="17" grpId="0" animBg="1"/>
      <p:bldP spid="37" grpId="0" animBg="1"/>
      <p:bldP spid="37" grpId="1" animBg="1"/>
      <p:bldP spid="39" grpId="0" animBg="1"/>
      <p:bldP spid="40" grpId="0" animBg="1"/>
      <p:bldP spid="40" grpId="1" animBg="1"/>
      <p:bldP spid="46" grpId="0" animBg="1"/>
      <p:bldP spid="46" grpId="1" animBg="1"/>
      <p:bldP spid="47" grpId="0" animBg="1"/>
      <p:bldP spid="47" grpId="1" animBg="1"/>
      <p:bldP spid="19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CD3FF46-D6F5-4253-B316-DD39A4ED2C8C}"/>
              </a:ext>
            </a:extLst>
          </p:cNvPr>
          <p:cNvSpPr/>
          <p:nvPr/>
        </p:nvSpPr>
        <p:spPr>
          <a:xfrm>
            <a:off x="1802886" y="2636664"/>
            <a:ext cx="3392423" cy="194424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384DA6-D257-4FC8-8E81-7AD5F6990BE1}"/>
              </a:ext>
            </a:extLst>
          </p:cNvPr>
          <p:cNvSpPr/>
          <p:nvPr/>
        </p:nvSpPr>
        <p:spPr>
          <a:xfrm>
            <a:off x="1596390" y="2845917"/>
            <a:ext cx="3392423" cy="194424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Parallélogramme 26">
            <a:extLst>
              <a:ext uri="{FF2B5EF4-FFF2-40B4-BE49-F238E27FC236}">
                <a16:creationId xmlns:a16="http://schemas.microsoft.com/office/drawing/2014/main" id="{DD13F642-537F-47F4-BB17-D2FF54846677}"/>
              </a:ext>
            </a:extLst>
          </p:cNvPr>
          <p:cNvSpPr/>
          <p:nvPr/>
        </p:nvSpPr>
        <p:spPr>
          <a:xfrm>
            <a:off x="6681817" y="1702152"/>
            <a:ext cx="1127311" cy="991747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951810-EB76-428A-8526-D83A177B24BA}"/>
              </a:ext>
            </a:extLst>
          </p:cNvPr>
          <p:cNvSpPr/>
          <p:nvPr/>
        </p:nvSpPr>
        <p:spPr>
          <a:xfrm>
            <a:off x="1420688" y="2995271"/>
            <a:ext cx="3392423" cy="194424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Parallélogramme 24">
            <a:extLst>
              <a:ext uri="{FF2B5EF4-FFF2-40B4-BE49-F238E27FC236}">
                <a16:creationId xmlns:a16="http://schemas.microsoft.com/office/drawing/2014/main" id="{BED5E231-9DF0-423A-BC82-112417FAD0B2}"/>
              </a:ext>
            </a:extLst>
          </p:cNvPr>
          <p:cNvSpPr/>
          <p:nvPr/>
        </p:nvSpPr>
        <p:spPr>
          <a:xfrm>
            <a:off x="6681818" y="1883949"/>
            <a:ext cx="1084250" cy="809950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Parallélogramme 23">
            <a:extLst>
              <a:ext uri="{FF2B5EF4-FFF2-40B4-BE49-F238E27FC236}">
                <a16:creationId xmlns:a16="http://schemas.microsoft.com/office/drawing/2014/main" id="{251D3738-C728-43C9-BB80-D6AF0418139B}"/>
              </a:ext>
            </a:extLst>
          </p:cNvPr>
          <p:cNvSpPr/>
          <p:nvPr/>
        </p:nvSpPr>
        <p:spPr>
          <a:xfrm>
            <a:off x="6681818" y="2062961"/>
            <a:ext cx="1038656" cy="630937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Parallélogramme 21">
            <a:extLst>
              <a:ext uri="{FF2B5EF4-FFF2-40B4-BE49-F238E27FC236}">
                <a16:creationId xmlns:a16="http://schemas.microsoft.com/office/drawing/2014/main" id="{7508FA77-2078-4DD7-8692-8FF2D59C48B4}"/>
              </a:ext>
            </a:extLst>
          </p:cNvPr>
          <p:cNvSpPr/>
          <p:nvPr/>
        </p:nvSpPr>
        <p:spPr>
          <a:xfrm>
            <a:off x="6681818" y="2272069"/>
            <a:ext cx="985464" cy="421829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ECA8A9-BDB8-471F-A92D-44956B3DA556}"/>
              </a:ext>
            </a:extLst>
          </p:cNvPr>
          <p:cNvSpPr/>
          <p:nvPr/>
        </p:nvSpPr>
        <p:spPr>
          <a:xfrm>
            <a:off x="1242105" y="3206638"/>
            <a:ext cx="3392423" cy="194424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FA2007-EDB2-43EF-9CF6-3F7BEA3388B0}"/>
              </a:ext>
            </a:extLst>
          </p:cNvPr>
          <p:cNvSpPr/>
          <p:nvPr/>
        </p:nvSpPr>
        <p:spPr>
          <a:xfrm>
            <a:off x="6965735" y="3062415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D00DFD-D098-4125-849D-6B46B1F95F60}"/>
              </a:ext>
            </a:extLst>
          </p:cNvPr>
          <p:cNvSpPr/>
          <p:nvPr/>
        </p:nvSpPr>
        <p:spPr>
          <a:xfrm>
            <a:off x="6859518" y="3187101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074E9-380B-4C6A-A495-77A465D480DD}"/>
              </a:ext>
            </a:extLst>
          </p:cNvPr>
          <p:cNvSpPr/>
          <p:nvPr/>
        </p:nvSpPr>
        <p:spPr>
          <a:xfrm>
            <a:off x="6753298" y="3293317"/>
            <a:ext cx="786971" cy="63093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DA06B1-AD40-48E8-B5C3-ADFA8DCC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9951"/>
          </a:xfrm>
          <a:ln>
            <a:noFill/>
          </a:ln>
        </p:spPr>
        <p:txBody>
          <a:bodyPr>
            <a:normAutofit/>
          </a:bodyPr>
          <a:lstStyle/>
          <a:p>
            <a:r>
              <a:rPr lang="fr-FR" dirty="0"/>
              <a:t>Bars, </a:t>
            </a:r>
            <a:r>
              <a:rPr lang="fr-FR" dirty="0" err="1"/>
              <a:t>expressed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patterns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38F7FC-ABB4-49E9-B87A-98933A24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40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/>
              <p:nvPr/>
            </p:nvSpPr>
            <p:spPr>
              <a:xfrm>
                <a:off x="5655528" y="3418006"/>
                <a:ext cx="754954" cy="1944243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D02CE8-D9BF-41A8-99C1-4DD19531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28" y="3418006"/>
                <a:ext cx="754954" cy="194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/>
              <p:nvPr/>
            </p:nvSpPr>
            <p:spPr>
              <a:xfrm>
                <a:off x="6647078" y="3418005"/>
                <a:ext cx="786971" cy="630938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45E46E7-7526-4FEC-9E8C-AB735373A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78" y="3418005"/>
                <a:ext cx="786971" cy="630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/>
              <p:nvPr/>
            </p:nvSpPr>
            <p:spPr>
              <a:xfrm>
                <a:off x="7920515" y="3418298"/>
                <a:ext cx="3392424" cy="880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301AAE-354A-4923-BC08-FA952BCF3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515" y="3418298"/>
                <a:ext cx="3392424" cy="8807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8E9922-1C37-42B5-A0BC-79E99BE4D0C3}"/>
                  </a:ext>
                </a:extLst>
              </p:cNvPr>
              <p:cNvSpPr/>
              <p:nvPr/>
            </p:nvSpPr>
            <p:spPr>
              <a:xfrm>
                <a:off x="1063522" y="3418005"/>
                <a:ext cx="3392423" cy="1944243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Barwise </a:t>
                </a:r>
                <a:r>
                  <a:rPr lang="fr-FR" dirty="0" err="1"/>
                  <a:t>spectrogram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[::0]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8E9922-1C37-42B5-A0BC-79E99BE4D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522" y="3418005"/>
                <a:ext cx="3392423" cy="194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6C4FCF6-B233-46F5-94D3-E89B93A8669A}"/>
                  </a:ext>
                </a:extLst>
              </p:cNvPr>
              <p:cNvSpPr txBox="1"/>
              <p:nvPr/>
            </p:nvSpPr>
            <p:spPr>
              <a:xfrm>
                <a:off x="5298362" y="4251626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6C4FCF6-B233-46F5-94D3-E89B93A86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362" y="4251626"/>
                <a:ext cx="227626" cy="276999"/>
              </a:xfrm>
              <a:prstGeom prst="rect">
                <a:avLst/>
              </a:prstGeom>
              <a:blipFill>
                <a:blip r:embed="rId7"/>
                <a:stretch>
                  <a:fillRect l="-10811" r="-13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6E877B9A-3ADF-4FBF-BEEA-462A137AB44E}"/>
              </a:ext>
            </a:extLst>
          </p:cNvPr>
          <p:cNvSpPr/>
          <p:nvPr/>
        </p:nvSpPr>
        <p:spPr>
          <a:xfrm>
            <a:off x="6681818" y="2469973"/>
            <a:ext cx="936962" cy="223419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798BC2-EBC7-4B8D-A19E-5CE6C59DE0F4}"/>
                  </a:ext>
                </a:extLst>
              </p:cNvPr>
              <p:cNvSpPr/>
              <p:nvPr/>
            </p:nvSpPr>
            <p:spPr>
              <a:xfrm>
                <a:off x="4645514" y="5566850"/>
                <a:ext cx="4631909" cy="12379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[::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fr-F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[::</m:t>
                              </m:r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</m:e>
                      </m:d>
                      <m:r>
                        <a:rPr lang="fr-FR" sz="2800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798BC2-EBC7-4B8D-A19E-5CE6C59DE0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14" y="5566850"/>
                <a:ext cx="4631909" cy="1237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6B956A3-D83E-4632-BA02-36702EC4DAF8}"/>
                  </a:ext>
                </a:extLst>
              </p:cNvPr>
              <p:cNvSpPr/>
              <p:nvPr/>
            </p:nvSpPr>
            <p:spPr>
              <a:xfrm>
                <a:off x="6998847" y="2216336"/>
                <a:ext cx="4045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6B956A3-D83E-4632-BA02-36702EC4D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847" y="2216336"/>
                <a:ext cx="404598" cy="369332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31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27" grpId="0" animBg="1"/>
      <p:bldP spid="28" grpId="0" animBg="1"/>
      <p:bldP spid="25" grpId="0" animBg="1"/>
      <p:bldP spid="25" grpId="1" animBg="1"/>
      <p:bldP spid="24" grpId="0" animBg="1"/>
      <p:bldP spid="24" grpId="1" animBg="1"/>
      <p:bldP spid="22" grpId="0" animBg="1"/>
      <p:bldP spid="22" grpId="1" animBg="1"/>
      <p:bldP spid="20" grpId="0" animBg="1"/>
      <p:bldP spid="4" grpId="0" animBg="1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A06B1-AD40-48E8-B5C3-ADFA8DCC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229" y="96150"/>
            <a:ext cx="9878291" cy="1073256"/>
          </a:xfrm>
        </p:spPr>
        <p:txBody>
          <a:bodyPr>
            <a:normAutofit/>
          </a:bodyPr>
          <a:lstStyle/>
          <a:p>
            <a:r>
              <a:rPr lang="fr-FR" dirty="0"/>
              <a:t>NTD: </a:t>
            </a:r>
            <a:r>
              <a:rPr lang="fr-FR" dirty="0" err="1"/>
              <a:t>Nonnegative</a:t>
            </a:r>
            <a:r>
              <a:rPr lang="fr-FR" dirty="0"/>
              <a:t> Tucker </a:t>
            </a:r>
            <a:r>
              <a:rPr lang="fr-FR" dirty="0" err="1"/>
              <a:t>Decomposition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1E8A5B-04D3-4441-A9F9-63CE1E92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37390" y="6039107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41</a:t>
            </a:fld>
            <a:endParaRPr lang="fr-FR" dirty="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05CB33D0-005A-4AA8-994F-9F313E0C1C21}"/>
              </a:ext>
            </a:extLst>
          </p:cNvPr>
          <p:cNvSpPr/>
          <p:nvPr/>
        </p:nvSpPr>
        <p:spPr>
          <a:xfrm>
            <a:off x="1371598" y="1634857"/>
            <a:ext cx="3244159" cy="2896618"/>
          </a:xfrm>
          <a:prstGeom prst="cube">
            <a:avLst>
              <a:gd name="adj" fmla="val 2914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X</a:t>
            </a:r>
          </a:p>
          <a:p>
            <a:pPr algn="ctr"/>
            <a:r>
              <a:rPr lang="fr-FR" sz="2000" dirty="0">
                <a:latin typeface="+mj-lt"/>
              </a:rPr>
              <a:t>(TFB </a:t>
            </a:r>
            <a:r>
              <a:rPr lang="fr-FR" sz="2000" dirty="0" err="1">
                <a:latin typeface="+mj-lt"/>
              </a:rPr>
              <a:t>Tensor</a:t>
            </a:r>
            <a:r>
              <a:rPr lang="fr-FR" sz="2000" dirty="0">
                <a:latin typeface="+mj-lt"/>
              </a:rPr>
              <a:t>)</a:t>
            </a:r>
            <a:endParaRPr lang="fr-FR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arallélogramme 8">
                <a:extLst>
                  <a:ext uri="{FF2B5EF4-FFF2-40B4-BE49-F238E27FC236}">
                    <a16:creationId xmlns:a16="http://schemas.microsoft.com/office/drawing/2014/main" id="{A6FB4A90-3EAD-410F-98A5-87D4F04C69D7}"/>
                  </a:ext>
                </a:extLst>
              </p:cNvPr>
              <p:cNvSpPr/>
              <p:nvPr/>
            </p:nvSpPr>
            <p:spPr>
              <a:xfrm>
                <a:off x="7426536" y="1158779"/>
                <a:ext cx="1255640" cy="863700"/>
              </a:xfrm>
              <a:prstGeom prst="parallelogram">
                <a:avLst>
                  <a:gd name="adj" fmla="val 52940"/>
                </a:avLst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Parallélogramme 8">
                <a:extLst>
                  <a:ext uri="{FF2B5EF4-FFF2-40B4-BE49-F238E27FC236}">
                    <a16:creationId xmlns:a16="http://schemas.microsoft.com/office/drawing/2014/main" id="{A6FB4A90-3EAD-410F-98A5-87D4F04C6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536" y="1158779"/>
                <a:ext cx="1255640" cy="863700"/>
              </a:xfrm>
              <a:prstGeom prst="parallelogram">
                <a:avLst>
                  <a:gd name="adj" fmla="val 52940"/>
                </a:avLst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E4D4786-B566-4465-BCF4-ED307F2B436D}"/>
                  </a:ext>
                </a:extLst>
              </p:cNvPr>
              <p:cNvSpPr/>
              <p:nvPr/>
            </p:nvSpPr>
            <p:spPr>
              <a:xfrm>
                <a:off x="5546550" y="2461489"/>
                <a:ext cx="754954" cy="2057630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E4D4786-B566-4465-BCF4-ED307F2B4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550" y="2461489"/>
                <a:ext cx="754954" cy="20576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F547FDB-3E68-41BC-A538-A45AC5F6E547}"/>
                  </a:ext>
                </a:extLst>
              </p:cNvPr>
              <p:cNvSpPr/>
              <p:nvPr/>
            </p:nvSpPr>
            <p:spPr>
              <a:xfrm>
                <a:off x="8575960" y="2461489"/>
                <a:ext cx="2396838" cy="880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F547FDB-3E68-41BC-A538-A45AC5F6E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960" y="2461489"/>
                <a:ext cx="2396838" cy="8807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be 21">
            <a:extLst>
              <a:ext uri="{FF2B5EF4-FFF2-40B4-BE49-F238E27FC236}">
                <a16:creationId xmlns:a16="http://schemas.microsoft.com/office/drawing/2014/main" id="{9FC9C34F-5DDF-4EA3-8D3B-6A1426288D8E}"/>
              </a:ext>
            </a:extLst>
          </p:cNvPr>
          <p:cNvSpPr/>
          <p:nvPr/>
        </p:nvSpPr>
        <p:spPr>
          <a:xfrm>
            <a:off x="6901101" y="2498557"/>
            <a:ext cx="1130680" cy="991747"/>
          </a:xfrm>
          <a:prstGeom prst="cube">
            <a:avLst>
              <a:gd name="adj" fmla="val 2872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G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4E61620-FEB4-489E-B52E-0A3A7766CE67}"/>
                  </a:ext>
                </a:extLst>
              </p:cNvPr>
              <p:cNvSpPr txBox="1"/>
              <p:nvPr/>
            </p:nvSpPr>
            <p:spPr>
              <a:xfrm>
                <a:off x="4824453" y="3351804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C4E61620-FEB4-489E-B52E-0A3A7766C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453" y="3351804"/>
                <a:ext cx="227626" cy="276999"/>
              </a:xfrm>
              <a:prstGeom prst="rect">
                <a:avLst/>
              </a:prstGeom>
              <a:blipFill>
                <a:blip r:embed="rId6"/>
                <a:stretch>
                  <a:fillRect l="-10526" r="-10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0354B14-4752-4241-A7B7-04481C183761}"/>
              </a:ext>
            </a:extLst>
          </p:cNvPr>
          <p:cNvCxnSpPr>
            <a:cxnSpLocks/>
          </p:cNvCxnSpPr>
          <p:nvPr/>
        </p:nvCxnSpPr>
        <p:spPr>
          <a:xfrm flipH="1" flipV="1">
            <a:off x="1219202" y="2613911"/>
            <a:ext cx="2" cy="181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E39CFCE4-CE38-4007-AAC3-C65CEBCCD7EA}"/>
                  </a:ext>
                </a:extLst>
              </p:cNvPr>
              <p:cNvSpPr txBox="1"/>
              <p:nvPr/>
            </p:nvSpPr>
            <p:spPr>
              <a:xfrm>
                <a:off x="827419" y="3259471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E39CFCE4-CE38-4007-AAC3-C65CEBCCD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19" y="3259471"/>
                <a:ext cx="337118" cy="369332"/>
              </a:xfrm>
              <a:prstGeom prst="rect">
                <a:avLst/>
              </a:prstGeom>
              <a:blipFill>
                <a:blip r:embed="rId7"/>
                <a:stretch>
                  <a:fillRect l="-1818" r="-1818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626C161-24C1-48E5-B2BA-1EB237DE7298}"/>
              </a:ext>
            </a:extLst>
          </p:cNvPr>
          <p:cNvCxnSpPr>
            <a:cxnSpLocks/>
          </p:cNvCxnSpPr>
          <p:nvPr/>
        </p:nvCxnSpPr>
        <p:spPr>
          <a:xfrm flipH="1" flipV="1">
            <a:off x="5397091" y="2594331"/>
            <a:ext cx="2" cy="181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91B5AAC-19D4-48EB-98FB-FF69F3A0969C}"/>
                  </a:ext>
                </a:extLst>
              </p:cNvPr>
              <p:cNvSpPr txBox="1"/>
              <p:nvPr/>
            </p:nvSpPr>
            <p:spPr>
              <a:xfrm>
                <a:off x="5089020" y="3305637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F91B5AAC-19D4-48EB-98FB-FF69F3A09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020" y="3305637"/>
                <a:ext cx="337118" cy="369332"/>
              </a:xfrm>
              <a:prstGeom prst="rect">
                <a:avLst/>
              </a:prstGeom>
              <a:blipFill>
                <a:blip r:embed="rId8"/>
                <a:stretch>
                  <a:fillRect l="-1818" r="-1818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D91699AD-63C1-44BE-A8E6-80867A0E60B3}"/>
              </a:ext>
            </a:extLst>
          </p:cNvPr>
          <p:cNvCxnSpPr>
            <a:cxnSpLocks/>
          </p:cNvCxnSpPr>
          <p:nvPr/>
        </p:nvCxnSpPr>
        <p:spPr>
          <a:xfrm flipV="1">
            <a:off x="8486053" y="2498557"/>
            <a:ext cx="0" cy="807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07CD1562-8EBA-4692-8317-C22855FB4B45}"/>
                  </a:ext>
                </a:extLst>
              </p:cNvPr>
              <p:cNvSpPr txBox="1"/>
              <p:nvPr/>
            </p:nvSpPr>
            <p:spPr>
              <a:xfrm>
                <a:off x="8193889" y="2683224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07CD1562-8EBA-4692-8317-C22855FB4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889" y="2683224"/>
                <a:ext cx="3371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136A8729-A67E-4F73-B4BC-4FE9147CF064}"/>
              </a:ext>
            </a:extLst>
          </p:cNvPr>
          <p:cNvCxnSpPr>
            <a:cxnSpLocks/>
          </p:cNvCxnSpPr>
          <p:nvPr/>
        </p:nvCxnSpPr>
        <p:spPr>
          <a:xfrm>
            <a:off x="7047849" y="3628803"/>
            <a:ext cx="6275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6A342725-BA73-45E8-A177-362203A66DBA}"/>
                  </a:ext>
                </a:extLst>
              </p:cNvPr>
              <p:cNvSpPr txBox="1"/>
              <p:nvPr/>
            </p:nvSpPr>
            <p:spPr>
              <a:xfrm>
                <a:off x="7193074" y="3628803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6A342725-BA73-45E8-A177-362203A66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074" y="3628803"/>
                <a:ext cx="3371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92705EED-9969-4261-9ABB-4C2F299E122E}"/>
              </a:ext>
            </a:extLst>
          </p:cNvPr>
          <p:cNvCxnSpPr>
            <a:cxnSpLocks/>
          </p:cNvCxnSpPr>
          <p:nvPr/>
        </p:nvCxnSpPr>
        <p:spPr>
          <a:xfrm flipV="1">
            <a:off x="6788100" y="2800947"/>
            <a:ext cx="0" cy="68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4665E84B-92AF-46F2-8B6F-52892DBC6668}"/>
                  </a:ext>
                </a:extLst>
              </p:cNvPr>
              <p:cNvSpPr txBox="1"/>
              <p:nvPr/>
            </p:nvSpPr>
            <p:spPr>
              <a:xfrm>
                <a:off x="6450982" y="2931034"/>
                <a:ext cx="33711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4665E84B-92AF-46F2-8B6F-52892DBC6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982" y="2931034"/>
                <a:ext cx="337118" cy="391582"/>
              </a:xfrm>
              <a:prstGeom prst="rect">
                <a:avLst/>
              </a:prstGeom>
              <a:blipFill>
                <a:blip r:embed="rId11"/>
                <a:stretch>
                  <a:fillRect r="-1786" b="-93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CED0F75B-757C-4CF4-B27C-4BE21D086C9E}"/>
              </a:ext>
            </a:extLst>
          </p:cNvPr>
          <p:cNvCxnSpPr>
            <a:cxnSpLocks/>
          </p:cNvCxnSpPr>
          <p:nvPr/>
        </p:nvCxnSpPr>
        <p:spPr>
          <a:xfrm flipV="1">
            <a:off x="6809566" y="2452139"/>
            <a:ext cx="273964" cy="293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868D3DD-153C-4C22-A2FF-221D4FABC302}"/>
                  </a:ext>
                </a:extLst>
              </p:cNvPr>
              <p:cNvSpPr txBox="1"/>
              <p:nvPr/>
            </p:nvSpPr>
            <p:spPr>
              <a:xfrm>
                <a:off x="6647458" y="229311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868D3DD-153C-4C22-A2FF-221D4FABC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458" y="2293116"/>
                <a:ext cx="337118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C8B101DE-B2CF-4A28-95EB-6652D33BDEE8}"/>
              </a:ext>
            </a:extLst>
          </p:cNvPr>
          <p:cNvCxnSpPr>
            <a:cxnSpLocks/>
          </p:cNvCxnSpPr>
          <p:nvPr/>
        </p:nvCxnSpPr>
        <p:spPr>
          <a:xfrm flipV="1">
            <a:off x="7376036" y="1144504"/>
            <a:ext cx="415085" cy="757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2FF8A410-FF6A-44E8-A45A-189BD8B64A35}"/>
                  </a:ext>
                </a:extLst>
              </p:cNvPr>
              <p:cNvSpPr txBox="1"/>
              <p:nvPr/>
            </p:nvSpPr>
            <p:spPr>
              <a:xfrm>
                <a:off x="7255159" y="1238655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2FF8A410-FF6A-44E8-A45A-189BD8B64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159" y="1238655"/>
                <a:ext cx="3371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D74F6CD2-96BA-47F3-8636-ACAC466620EB}"/>
              </a:ext>
            </a:extLst>
          </p:cNvPr>
          <p:cNvCxnSpPr>
            <a:cxnSpLocks/>
          </p:cNvCxnSpPr>
          <p:nvPr/>
        </p:nvCxnSpPr>
        <p:spPr>
          <a:xfrm flipV="1">
            <a:off x="1301519" y="1584202"/>
            <a:ext cx="776663" cy="788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C1471D05-9970-4EE3-B6A7-D0D3BF701F59}"/>
                  </a:ext>
                </a:extLst>
              </p:cNvPr>
              <p:cNvSpPr txBox="1"/>
              <p:nvPr/>
            </p:nvSpPr>
            <p:spPr>
              <a:xfrm>
                <a:off x="1352732" y="1599498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C1471D05-9970-4EE3-B6A7-D0D3BF701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732" y="1599498"/>
                <a:ext cx="33711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C0E07C28-2335-4B48-B76D-A3B749DEB2B9}"/>
              </a:ext>
            </a:extLst>
          </p:cNvPr>
          <p:cNvCxnSpPr>
            <a:cxnSpLocks/>
          </p:cNvCxnSpPr>
          <p:nvPr/>
        </p:nvCxnSpPr>
        <p:spPr>
          <a:xfrm>
            <a:off x="7462217" y="2085037"/>
            <a:ext cx="6856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4D09A8FA-8E1C-4DED-9BE6-51F812CC77AA}"/>
                  </a:ext>
                </a:extLst>
              </p:cNvPr>
              <p:cNvSpPr txBox="1"/>
              <p:nvPr/>
            </p:nvSpPr>
            <p:spPr>
              <a:xfrm>
                <a:off x="7676569" y="2000201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4D09A8FA-8E1C-4DED-9BE6-51F812CC7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569" y="2000201"/>
                <a:ext cx="337118" cy="369332"/>
              </a:xfrm>
              <a:prstGeom prst="rect">
                <a:avLst/>
              </a:prstGeom>
              <a:blipFill>
                <a:blip r:embed="rId1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21982F40-8385-4684-923C-D1E5AF0B98DF}"/>
              </a:ext>
            </a:extLst>
          </p:cNvPr>
          <p:cNvCxnSpPr>
            <a:cxnSpLocks/>
          </p:cNvCxnSpPr>
          <p:nvPr/>
        </p:nvCxnSpPr>
        <p:spPr>
          <a:xfrm>
            <a:off x="5605703" y="4626771"/>
            <a:ext cx="6275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9938A772-F555-44BE-B87A-340F8EF1D7C8}"/>
                  </a:ext>
                </a:extLst>
              </p:cNvPr>
              <p:cNvSpPr txBox="1"/>
              <p:nvPr/>
            </p:nvSpPr>
            <p:spPr>
              <a:xfrm>
                <a:off x="5750928" y="4626771"/>
                <a:ext cx="33711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9938A772-F555-44BE-B87A-340F8EF1D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928" y="4626771"/>
                <a:ext cx="337118" cy="391582"/>
              </a:xfrm>
              <a:prstGeom prst="rect">
                <a:avLst/>
              </a:prstGeom>
              <a:blipFill>
                <a:blip r:embed="rId16"/>
                <a:stretch>
                  <a:fillRect r="-1786" b="-93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66AA7211-957A-4E59-9939-A56FFE246711}"/>
              </a:ext>
            </a:extLst>
          </p:cNvPr>
          <p:cNvCxnSpPr>
            <a:cxnSpLocks/>
          </p:cNvCxnSpPr>
          <p:nvPr/>
        </p:nvCxnSpPr>
        <p:spPr>
          <a:xfrm>
            <a:off x="8632901" y="3433012"/>
            <a:ext cx="2339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C300915D-4A16-42A4-BFA9-E89950B71CEA}"/>
                  </a:ext>
                </a:extLst>
              </p:cNvPr>
              <p:cNvSpPr txBox="1"/>
              <p:nvPr/>
            </p:nvSpPr>
            <p:spPr>
              <a:xfrm>
                <a:off x="9605820" y="3433012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C300915D-4A16-42A4-BFA9-E89950B71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820" y="3433012"/>
                <a:ext cx="33711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2174E706-EB69-422B-96B8-FAB98B405CF6}"/>
              </a:ext>
            </a:extLst>
          </p:cNvPr>
          <p:cNvCxnSpPr>
            <a:cxnSpLocks/>
          </p:cNvCxnSpPr>
          <p:nvPr/>
        </p:nvCxnSpPr>
        <p:spPr>
          <a:xfrm>
            <a:off x="1376968" y="4649021"/>
            <a:ext cx="2339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643B0B7D-36A2-494D-B8B3-5CD20F3C08D0}"/>
                  </a:ext>
                </a:extLst>
              </p:cNvPr>
              <p:cNvSpPr txBox="1"/>
              <p:nvPr/>
            </p:nvSpPr>
            <p:spPr>
              <a:xfrm>
                <a:off x="2349887" y="4649021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643B0B7D-36A2-494D-B8B3-5CD20F3C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87" y="4649021"/>
                <a:ext cx="33711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Espace réservé du contenu 2">
                <a:extLst>
                  <a:ext uri="{FF2B5EF4-FFF2-40B4-BE49-F238E27FC236}">
                    <a16:creationId xmlns:a16="http://schemas.microsoft.com/office/drawing/2014/main" id="{07ABDEC9-D787-403E-9C7A-D2C3B03FC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5978" y="5949110"/>
                <a:ext cx="9778686" cy="8303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fr-FR" sz="1800" dirty="0"/>
                  <a:t>All </a:t>
                </a:r>
                <a:r>
                  <a:rPr lang="fr-FR" sz="1800" dirty="0" err="1"/>
                  <a:t>factors</a:t>
                </a:r>
                <a:r>
                  <a:rPr lang="fr-FR" sz="1800" dirty="0"/>
                  <a:t> are </a:t>
                </a:r>
                <a:r>
                  <a:rPr lang="fr-FR" sz="1800" dirty="0" err="1"/>
                  <a:t>nonnegative</a:t>
                </a:r>
                <a:r>
                  <a:rPr lang="fr-FR" sz="1800" dirty="0"/>
                  <a:t>,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fr-FR" sz="1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fr-FR" sz="1800" dirty="0"/>
                  <a:t> are </a:t>
                </a:r>
                <a:r>
                  <a:rPr lang="fr-FR" sz="1800" dirty="0" err="1"/>
                  <a:t>hyperparameters</a:t>
                </a:r>
                <a:r>
                  <a:rPr lang="fr-FR" sz="1800" dirty="0"/>
                  <a:t> </a:t>
                </a:r>
                <a:r>
                  <a:rPr lang="fr-FR" sz="1400" dirty="0"/>
                  <a:t>(dimensions: </a:t>
                </a:r>
                <a:r>
                  <a:rPr lang="fr-FR" sz="1400" dirty="0" err="1"/>
                  <a:t>order</a:t>
                </a:r>
                <a:r>
                  <a:rPr lang="fr-FR" sz="1400" dirty="0"/>
                  <a:t> of magnitude of 20) </a:t>
                </a:r>
                <a:endParaRPr lang="fr-FR" sz="1800" dirty="0"/>
              </a:p>
            </p:txBody>
          </p:sp>
        </mc:Choice>
        <mc:Fallback xmlns="">
          <p:sp>
            <p:nvSpPr>
              <p:cNvPr id="85" name="Espace réservé du contenu 2">
                <a:extLst>
                  <a:ext uri="{FF2B5EF4-FFF2-40B4-BE49-F238E27FC236}">
                    <a16:creationId xmlns:a16="http://schemas.microsoft.com/office/drawing/2014/main" id="{07ABDEC9-D787-403E-9C7A-D2C3B03FC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78" y="5949110"/>
                <a:ext cx="9778686" cy="830345"/>
              </a:xfrm>
              <a:prstGeom prst="rect">
                <a:avLst/>
              </a:prstGeom>
              <a:blipFill>
                <a:blip r:embed="rId19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02BEF-EBCC-493A-99FB-AEAAE1327A3A}"/>
                  </a:ext>
                </a:extLst>
              </p:cNvPr>
              <p:cNvSpPr/>
              <p:nvPr/>
            </p:nvSpPr>
            <p:spPr>
              <a:xfrm>
                <a:off x="4196662" y="5096037"/>
                <a:ext cx="37827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800" dirty="0">
                          <a:latin typeface="French Script MT" panose="03020402040607040605" pitchFamily="66" charset="0"/>
                        </a:rPr>
                        <m:t>X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>
                          <a:latin typeface="French Script MT" panose="03020402040607040605" pitchFamily="66" charset="0"/>
                        </a:rPr>
                        <m:t>G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02BEF-EBCC-493A-99FB-AEAAE1327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662" y="5096037"/>
                <a:ext cx="378276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8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Image 1044">
            <a:extLst>
              <a:ext uri="{FF2B5EF4-FFF2-40B4-BE49-F238E27FC236}">
                <a16:creationId xmlns:a16="http://schemas.microsoft.com/office/drawing/2014/main" id="{11416552-2285-4724-870A-EDDFE9CEA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841" y="3132142"/>
            <a:ext cx="975201" cy="951702"/>
          </a:xfrm>
          <a:prstGeom prst="rect">
            <a:avLst/>
          </a:prstGeom>
        </p:spPr>
      </p:pic>
      <p:pic>
        <p:nvPicPr>
          <p:cNvPr id="1043" name="Image 1042">
            <a:extLst>
              <a:ext uri="{FF2B5EF4-FFF2-40B4-BE49-F238E27FC236}">
                <a16:creationId xmlns:a16="http://schemas.microsoft.com/office/drawing/2014/main" id="{B1AA93BD-F81F-4033-AC60-D36092839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729" y="3341307"/>
            <a:ext cx="975201" cy="951702"/>
          </a:xfrm>
          <a:prstGeom prst="rect">
            <a:avLst/>
          </a:prstGeom>
        </p:spPr>
      </p:pic>
      <p:pic>
        <p:nvPicPr>
          <p:cNvPr id="1041" name="Image 1040">
            <a:extLst>
              <a:ext uri="{FF2B5EF4-FFF2-40B4-BE49-F238E27FC236}">
                <a16:creationId xmlns:a16="http://schemas.microsoft.com/office/drawing/2014/main" id="{434B632F-D8E7-4525-AEDF-FDB4C1787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043" y="3429000"/>
            <a:ext cx="979171" cy="955577"/>
          </a:xfrm>
          <a:prstGeom prst="rect">
            <a:avLst/>
          </a:prstGeom>
        </p:spPr>
      </p:pic>
      <p:pic>
        <p:nvPicPr>
          <p:cNvPr id="1027" name="Image 1026">
            <a:extLst>
              <a:ext uri="{FF2B5EF4-FFF2-40B4-BE49-F238E27FC236}">
                <a16:creationId xmlns:a16="http://schemas.microsoft.com/office/drawing/2014/main" id="{E83906FB-4A19-4716-96AA-33B9BA7B5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19" y="2575667"/>
            <a:ext cx="2658702" cy="1338858"/>
          </a:xfrm>
          <a:prstGeom prst="rect">
            <a:avLst/>
          </a:prstGeom>
        </p:spPr>
      </p:pic>
      <p:pic>
        <p:nvPicPr>
          <p:cNvPr id="1029" name="Image 1028">
            <a:extLst>
              <a:ext uri="{FF2B5EF4-FFF2-40B4-BE49-F238E27FC236}">
                <a16:creationId xmlns:a16="http://schemas.microsoft.com/office/drawing/2014/main" id="{8FA86359-1D4D-47DD-BFEB-B71F263EB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80" y="2807940"/>
            <a:ext cx="2676159" cy="1298017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4CEF47D7-13A7-47F7-B4DD-DCD2497208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905" y="3048195"/>
            <a:ext cx="2691221" cy="1280662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FFEC1C1D-E64A-4F6B-87A7-92D33AE247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90" y="3172913"/>
            <a:ext cx="2640378" cy="129661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002BF64-C755-4A40-8FE6-A7F3DC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3391"/>
          </a:xfrm>
        </p:spPr>
        <p:txBody>
          <a:bodyPr/>
          <a:lstStyle/>
          <a:p>
            <a:r>
              <a:rPr lang="fr-FR" dirty="0"/>
              <a:t>NTD in practice: </a:t>
            </a:r>
            <a:r>
              <a:rPr lang="fr-FR" dirty="0" err="1"/>
              <a:t>chromagram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54AE99E-08FB-4C76-A40C-8B220A93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42</a:t>
            </a:fld>
            <a:endParaRPr lang="fr-FR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9FEA3DF-DABF-474A-8975-0C1DF7DCB829}"/>
              </a:ext>
            </a:extLst>
          </p:cNvPr>
          <p:cNvSpPr/>
          <p:nvPr/>
        </p:nvSpPr>
        <p:spPr>
          <a:xfrm>
            <a:off x="6923452" y="3130658"/>
            <a:ext cx="1366590" cy="1341216"/>
          </a:xfrm>
          <a:prstGeom prst="cube">
            <a:avLst>
              <a:gd name="adj" fmla="val 2872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G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8AD6A6F9-961D-44F2-B17B-18C2CB797987}"/>
                  </a:ext>
                </a:extLst>
              </p:cNvPr>
              <p:cNvSpPr txBox="1"/>
              <p:nvPr/>
            </p:nvSpPr>
            <p:spPr>
              <a:xfrm>
                <a:off x="4946953" y="3841358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8AD6A6F9-961D-44F2-B17B-18C2CB79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953" y="3841358"/>
                <a:ext cx="227626" cy="276999"/>
              </a:xfrm>
              <a:prstGeom prst="rect">
                <a:avLst/>
              </a:prstGeom>
              <a:blipFill>
                <a:blip r:embed="rId10"/>
                <a:stretch>
                  <a:fillRect l="-10811" r="-13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B197E26F-2EA1-4138-A22B-50CA8A01D4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7" y="3295189"/>
            <a:ext cx="2658143" cy="1309686"/>
          </a:xfrm>
          <a:prstGeom prst="rect">
            <a:avLst/>
          </a:prstGeom>
        </p:spPr>
      </p:pic>
      <p:sp>
        <p:nvSpPr>
          <p:cNvPr id="11" name="Cube 10">
            <a:extLst>
              <a:ext uri="{FF2B5EF4-FFF2-40B4-BE49-F238E27FC236}">
                <a16:creationId xmlns:a16="http://schemas.microsoft.com/office/drawing/2014/main" id="{F2844E4B-5701-4EC0-B513-E3E07DFBB843}"/>
              </a:ext>
            </a:extLst>
          </p:cNvPr>
          <p:cNvSpPr/>
          <p:nvPr/>
        </p:nvSpPr>
        <p:spPr>
          <a:xfrm>
            <a:off x="1371598" y="2575668"/>
            <a:ext cx="3370523" cy="2029206"/>
          </a:xfrm>
          <a:prstGeom prst="cube">
            <a:avLst>
              <a:gd name="adj" fmla="val 3490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33" name="Image 1032">
            <a:extLst>
              <a:ext uri="{FF2B5EF4-FFF2-40B4-BE49-F238E27FC236}">
                <a16:creationId xmlns:a16="http://schemas.microsoft.com/office/drawing/2014/main" id="{070825DB-AE9B-4E3D-9451-C2FD56AAC4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295" y="3347791"/>
            <a:ext cx="2941017" cy="949093"/>
          </a:xfrm>
          <a:prstGeom prst="rect">
            <a:avLst/>
          </a:prstGeom>
        </p:spPr>
      </p:pic>
      <p:pic>
        <p:nvPicPr>
          <p:cNvPr id="1037" name="Image 1036">
            <a:extLst>
              <a:ext uri="{FF2B5EF4-FFF2-40B4-BE49-F238E27FC236}">
                <a16:creationId xmlns:a16="http://schemas.microsoft.com/office/drawing/2014/main" id="{47CC6B92-E312-4364-B688-6C16C1EA39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07378">
            <a:off x="7178915" y="1659740"/>
            <a:ext cx="2218011" cy="882617"/>
          </a:xfrm>
          <a:prstGeom prst="rect">
            <a:avLst/>
          </a:prstGeom>
          <a:scene3d>
            <a:camera prst="orthographicFront">
              <a:rot lat="19493437" lon="18509148" rev="2703872"/>
            </a:camera>
            <a:lightRig rig="threePt" dir="t"/>
          </a:scene3d>
        </p:spPr>
      </p:pic>
      <p:pic>
        <p:nvPicPr>
          <p:cNvPr id="1039" name="Image 1038">
            <a:extLst>
              <a:ext uri="{FF2B5EF4-FFF2-40B4-BE49-F238E27FC236}">
                <a16:creationId xmlns:a16="http://schemas.microsoft.com/office/drawing/2014/main" id="{CBC0BEC9-6FA4-4A77-822E-D59CD64856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799" y="3525616"/>
            <a:ext cx="968286" cy="926694"/>
          </a:xfrm>
          <a:prstGeom prst="rect">
            <a:avLst/>
          </a:prstGeom>
        </p:spPr>
      </p:pic>
      <p:pic>
        <p:nvPicPr>
          <p:cNvPr id="1047" name="Image 1046">
            <a:extLst>
              <a:ext uri="{FF2B5EF4-FFF2-40B4-BE49-F238E27FC236}">
                <a16:creationId xmlns:a16="http://schemas.microsoft.com/office/drawing/2014/main" id="{4AAF7438-E5EA-4CE2-971C-B708B58DEA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647" y="3438412"/>
            <a:ext cx="1066178" cy="1040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9CA7CEF-60F2-4D12-81F5-E7C23C953E47}"/>
                  </a:ext>
                </a:extLst>
              </p:cNvPr>
              <p:cNvSpPr/>
              <p:nvPr/>
            </p:nvSpPr>
            <p:spPr>
              <a:xfrm>
                <a:off x="5743030" y="4665824"/>
                <a:ext cx="5654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9CA7CEF-60F2-4D12-81F5-E7C23C953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030" y="4665824"/>
                <a:ext cx="56541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2798E36-669E-4DD6-AF3B-B2071502D337}"/>
              </a:ext>
            </a:extLst>
          </p:cNvPr>
          <p:cNvSpPr/>
          <p:nvPr/>
        </p:nvSpPr>
        <p:spPr>
          <a:xfrm>
            <a:off x="7162857" y="4665824"/>
            <a:ext cx="3722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French Script MT" panose="03020402040607040605" pitchFamily="66" charset="0"/>
              </a:rPr>
              <a:t>G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6CC63CCD-C082-4F85-B44F-B220C93A1475}"/>
                  </a:ext>
                </a:extLst>
              </p:cNvPr>
              <p:cNvSpPr/>
              <p:nvPr/>
            </p:nvSpPr>
            <p:spPr>
              <a:xfrm>
                <a:off x="10132436" y="4665824"/>
                <a:ext cx="4950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6CC63CCD-C082-4F85-B44F-B220C93A1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436" y="4665824"/>
                <a:ext cx="495071" cy="461665"/>
              </a:xfrm>
              <a:prstGeom prst="rect">
                <a:avLst/>
              </a:prstGeom>
              <a:blipFill>
                <a:blip r:embed="rId17"/>
                <a:stretch>
                  <a:fillRect l="-24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3C7E7AB6-5354-489D-86FE-3E9F6782442A}"/>
                  </a:ext>
                </a:extLst>
              </p:cNvPr>
              <p:cNvSpPr/>
              <p:nvPr/>
            </p:nvSpPr>
            <p:spPr>
              <a:xfrm>
                <a:off x="7423486" y="1658851"/>
                <a:ext cx="4790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3C7E7AB6-5354-489D-86FE-3E9F67824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486" y="1658851"/>
                <a:ext cx="479042" cy="461665"/>
              </a:xfrm>
              <a:prstGeom prst="rect">
                <a:avLst/>
              </a:prstGeom>
              <a:blipFill>
                <a:blip r:embed="rId18"/>
                <a:stretch>
                  <a:fillRect l="-7692" b="-157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2" name="Rectangle 1051">
            <a:extLst>
              <a:ext uri="{FF2B5EF4-FFF2-40B4-BE49-F238E27FC236}">
                <a16:creationId xmlns:a16="http://schemas.microsoft.com/office/drawing/2014/main" id="{38974DCA-9BCC-4DB6-8770-7F058024ACFB}"/>
              </a:ext>
            </a:extLst>
          </p:cNvPr>
          <p:cNvSpPr/>
          <p:nvPr/>
        </p:nvSpPr>
        <p:spPr>
          <a:xfrm>
            <a:off x="2566413" y="4665824"/>
            <a:ext cx="417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X</a:t>
            </a:r>
            <a:endParaRPr lang="fr-FR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BAF89-6189-427C-B55D-B67795105CAC}"/>
              </a:ext>
            </a:extLst>
          </p:cNvPr>
          <p:cNvSpPr/>
          <p:nvPr/>
        </p:nvSpPr>
        <p:spPr>
          <a:xfrm>
            <a:off x="1371597" y="1276083"/>
            <a:ext cx="1789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"Come </a:t>
            </a:r>
            <a:r>
              <a:rPr lang="fr-FR" dirty="0" err="1"/>
              <a:t>Together</a:t>
            </a:r>
            <a:r>
              <a:rPr lang="fr-FR" dirty="0"/>
              <a:t>"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0990289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A06B1-AD40-48E8-B5C3-ADFA8DCC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229" y="96150"/>
            <a:ext cx="9878291" cy="1073256"/>
          </a:xfrm>
        </p:spPr>
        <p:txBody>
          <a:bodyPr/>
          <a:lstStyle/>
          <a:p>
            <a:r>
              <a:rPr lang="fr-FR" dirty="0"/>
              <a:t>NTD computation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1E8A5B-04D3-4441-A9F9-63CE1E92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324" y="6000113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43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Espace réservé du contenu 2">
                <a:extLst>
                  <a:ext uri="{FF2B5EF4-FFF2-40B4-BE49-F238E27FC236}">
                    <a16:creationId xmlns:a16="http://schemas.microsoft.com/office/drawing/2014/main" id="{07ABDEC9-D787-403E-9C7A-D2C3B03FC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2229" y="1103087"/>
                <a:ext cx="9528155" cy="8280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sz="2400" dirty="0">
                              <a:latin typeface="French Script MT" panose="03020402040607040605" pitchFamily="66" charset="0"/>
                            </a:rPr>
                            <m:t>G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0,   </m:t>
                          </m:r>
                          <m:r>
                            <a:rPr lang="fr-FR" sz="2400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≥0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≥0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fr-FR" sz="2400" dirty="0">
                          <a:latin typeface="French Script MT" panose="03020402040607040605" pitchFamily="66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fr-FR" sz="2400" b="0" i="1" dirty="0" smtClean="0">
                          <a:latin typeface="French Script MT" panose="03020402040607040605" pitchFamily="66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fr-FR" sz="2400" dirty="0">
                          <a:latin typeface="French Script MT" panose="03020402040607040605" pitchFamily="66" charset="0"/>
                        </a:rPr>
                        <m:t>G</m:t>
                      </m:r>
                      <m:sSub>
                        <m:sSub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dirty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dirty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  <m:sub>
                          <m:r>
                            <a:rPr lang="fr-FR" sz="2400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400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effectLst/>
                </a:endParaRPr>
              </a:p>
            </p:txBody>
          </p:sp>
        </mc:Choice>
        <mc:Fallback xmlns="">
          <p:sp>
            <p:nvSpPr>
              <p:cNvPr id="85" name="Espace réservé du contenu 2">
                <a:extLst>
                  <a:ext uri="{FF2B5EF4-FFF2-40B4-BE49-F238E27FC236}">
                    <a16:creationId xmlns:a16="http://schemas.microsoft.com/office/drawing/2014/main" id="{07ABDEC9-D787-403E-9C7A-D2C3B03FC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229" y="1103087"/>
                <a:ext cx="9528155" cy="82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B79CB312-C5F3-4DDA-83B8-F4BA21EA9972}"/>
              </a:ext>
            </a:extLst>
          </p:cNvPr>
          <p:cNvSpPr/>
          <p:nvPr/>
        </p:nvSpPr>
        <p:spPr>
          <a:xfrm>
            <a:off x="1352229" y="6185959"/>
            <a:ext cx="104466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dirty="0"/>
              <a:t>[FI11] </a:t>
            </a:r>
            <a:r>
              <a:rPr lang="en-GB" sz="900" dirty="0" err="1"/>
              <a:t>Févotte</a:t>
            </a:r>
            <a:r>
              <a:rPr lang="en-GB" sz="900" dirty="0"/>
              <a:t>, C. and </a:t>
            </a:r>
            <a:r>
              <a:rPr lang="en-GB" sz="900" dirty="0" err="1"/>
              <a:t>Idier</a:t>
            </a:r>
            <a:r>
              <a:rPr lang="en-GB" sz="900" dirty="0"/>
              <a:t>, J., « Algorithms for nonnegative matrix factorization with the </a:t>
            </a:r>
            <a:r>
              <a:rPr lang="en-GB" sz="900" i="1" dirty="0"/>
              <a:t>β</a:t>
            </a:r>
            <a:r>
              <a:rPr lang="en-GB" sz="900" dirty="0"/>
              <a:t>-divergence », </a:t>
            </a:r>
            <a:r>
              <a:rPr lang="en-GB" sz="900" i="1" dirty="0"/>
              <a:t>in</a:t>
            </a:r>
            <a:r>
              <a:rPr lang="en-GB" sz="900" dirty="0"/>
              <a:t>: </a:t>
            </a:r>
            <a:r>
              <a:rPr lang="en-GB" sz="900" i="1" dirty="0"/>
              <a:t>Neural computation </a:t>
            </a:r>
            <a:r>
              <a:rPr lang="en-GB" sz="900" dirty="0"/>
              <a:t>23.</a:t>
            </a:r>
            <a:r>
              <a:rPr lang="en-GB" sz="900" i="1" dirty="0"/>
              <a:t>9 </a:t>
            </a:r>
            <a:r>
              <a:rPr lang="en-GB" sz="900" dirty="0"/>
              <a:t>(2011), pp. 2421–2456.</a:t>
            </a:r>
            <a:endParaRPr lang="fr-FR" sz="900" dirty="0"/>
          </a:p>
          <a:p>
            <a:r>
              <a:rPr lang="en-GB" sz="900" dirty="0"/>
              <a:t>[GG12] Gillis, N. and </a:t>
            </a:r>
            <a:r>
              <a:rPr lang="en-GB" sz="900" dirty="0" err="1"/>
              <a:t>Glineur</a:t>
            </a:r>
            <a:r>
              <a:rPr lang="en-GB" sz="900" dirty="0"/>
              <a:t>, F., « Accelerated multiplicative updates and hierarchical ALS algorithms for nonnegative matrix factorization », </a:t>
            </a:r>
            <a:r>
              <a:rPr lang="en-GB" sz="900" i="1" dirty="0"/>
              <a:t>in</a:t>
            </a:r>
            <a:r>
              <a:rPr lang="en-GB" sz="900" dirty="0"/>
              <a:t>: </a:t>
            </a:r>
            <a:r>
              <a:rPr lang="en-GB" sz="900" i="1" dirty="0"/>
              <a:t>Neural computation </a:t>
            </a:r>
            <a:r>
              <a:rPr lang="en-GB" sz="900" dirty="0"/>
              <a:t>24.</a:t>
            </a:r>
            <a:r>
              <a:rPr lang="en-GB" sz="900" i="1" dirty="0"/>
              <a:t>4 </a:t>
            </a:r>
            <a:r>
              <a:rPr lang="en-GB" sz="900" dirty="0"/>
              <a:t>(2012), pp. 1085–1105.</a:t>
            </a:r>
            <a:endParaRPr lang="fr-FR" sz="900" dirty="0"/>
          </a:p>
          <a:p>
            <a:r>
              <a:rPr lang="fr-FR" sz="900" dirty="0"/>
              <a:t>[</a:t>
            </a:r>
            <a:r>
              <a:rPr lang="fr-FR" sz="900" b="1" u="sng" dirty="0"/>
              <a:t>Mar+20</a:t>
            </a:r>
            <a:r>
              <a:rPr lang="fr-FR" sz="900" dirty="0"/>
              <a:t>] </a:t>
            </a:r>
            <a:r>
              <a:rPr lang="fr-FR" sz="900" b="1" dirty="0"/>
              <a:t>Marmoret, A</a:t>
            </a:r>
            <a:r>
              <a:rPr lang="fr-FR" sz="900" dirty="0"/>
              <a:t>., Cohen, J., Bertin, N., &amp; </a:t>
            </a:r>
            <a:r>
              <a:rPr lang="fr-FR" sz="900" dirty="0" err="1"/>
              <a:t>Bimbot</a:t>
            </a:r>
            <a:r>
              <a:rPr lang="fr-FR" sz="900" dirty="0"/>
              <a:t>, F. </a:t>
            </a:r>
            <a:r>
              <a:rPr lang="fr-FR" sz="900" dirty="0" err="1"/>
              <a:t>Uncovering</a:t>
            </a:r>
            <a:r>
              <a:rPr lang="fr-FR" sz="900" dirty="0"/>
              <a:t> Audio Patterns in Music </a:t>
            </a:r>
            <a:r>
              <a:rPr lang="fr-FR" sz="900" dirty="0" err="1"/>
              <a:t>with</a:t>
            </a:r>
            <a:r>
              <a:rPr lang="fr-FR" sz="900" dirty="0"/>
              <a:t> </a:t>
            </a:r>
            <a:r>
              <a:rPr lang="fr-FR" sz="900" dirty="0" err="1"/>
              <a:t>Nonnegative</a:t>
            </a:r>
            <a:r>
              <a:rPr lang="fr-FR" sz="900" dirty="0"/>
              <a:t> Tucker </a:t>
            </a:r>
            <a:r>
              <a:rPr lang="fr-FR" sz="900" dirty="0" err="1"/>
              <a:t>Decomposition</a:t>
            </a:r>
            <a:r>
              <a:rPr lang="fr-FR" sz="900" dirty="0"/>
              <a:t> for Structural Segmentation. In 2020 </a:t>
            </a:r>
            <a:r>
              <a:rPr lang="fr-FR" sz="900" i="1" dirty="0"/>
              <a:t>ISMIR</a:t>
            </a:r>
            <a:r>
              <a:rPr lang="fr-FR" sz="900" dirty="0"/>
              <a:t>.</a:t>
            </a:r>
          </a:p>
          <a:p>
            <a:r>
              <a:rPr lang="fr-FR" sz="900" dirty="0"/>
              <a:t>[</a:t>
            </a:r>
            <a:r>
              <a:rPr lang="fr-FR" sz="900" b="1" u="sng" dirty="0"/>
              <a:t>Mar+22</a:t>
            </a:r>
            <a:r>
              <a:rPr lang="fr-FR" sz="900" dirty="0"/>
              <a:t>] </a:t>
            </a:r>
            <a:r>
              <a:rPr lang="fr-FR" sz="900" b="1" dirty="0"/>
              <a:t>Marmoret, A</a:t>
            </a:r>
            <a:r>
              <a:rPr lang="fr-FR" sz="900" dirty="0"/>
              <a:t>., et al.. </a:t>
            </a:r>
            <a:r>
              <a:rPr lang="fr-FR" sz="900" dirty="0" err="1"/>
              <a:t>Nonnegative</a:t>
            </a:r>
            <a:r>
              <a:rPr lang="fr-FR" sz="900" dirty="0"/>
              <a:t> Tucker </a:t>
            </a:r>
            <a:r>
              <a:rPr lang="fr-FR" sz="900" dirty="0" err="1"/>
              <a:t>Decomposition</a:t>
            </a:r>
            <a:r>
              <a:rPr lang="fr-FR" sz="900" dirty="0"/>
              <a:t> </a:t>
            </a:r>
            <a:r>
              <a:rPr lang="fr-FR" sz="900" dirty="0" err="1"/>
              <a:t>with</a:t>
            </a:r>
            <a:r>
              <a:rPr lang="fr-FR" sz="900" dirty="0"/>
              <a:t> Beta-divergence for Music Structure </a:t>
            </a:r>
            <a:r>
              <a:rPr lang="fr-FR" sz="900" dirty="0" err="1"/>
              <a:t>Analysis</a:t>
            </a:r>
            <a:r>
              <a:rPr lang="fr-FR" sz="900" dirty="0"/>
              <a:t> of audio </a:t>
            </a:r>
            <a:r>
              <a:rPr lang="fr-FR" sz="900" dirty="0" err="1"/>
              <a:t>signals</a:t>
            </a:r>
            <a:r>
              <a:rPr lang="fr-FR" sz="900" dirty="0"/>
              <a:t>. </a:t>
            </a:r>
            <a:r>
              <a:rPr lang="fr-FR" sz="900" i="1" dirty="0"/>
              <a:t>GRETSI2022</a:t>
            </a:r>
            <a:r>
              <a:rPr lang="fr-FR" sz="9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space réservé du contenu 2">
                <a:extLst>
                  <a:ext uri="{FF2B5EF4-FFF2-40B4-BE49-F238E27FC236}">
                    <a16:creationId xmlns:a16="http://schemas.microsoft.com/office/drawing/2014/main" id="{5F08A3A4-8964-4A40-9FA9-F2FCD7DCD4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2230" y="2058429"/>
                <a:ext cx="4681177" cy="38237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600" dirty="0"/>
                  <a:t>Euclidean </a:t>
                </a:r>
                <a:r>
                  <a:rPr lang="fr-FR" sz="1600" dirty="0" err="1"/>
                  <a:t>norm</a:t>
                </a:r>
                <a:r>
                  <a:rPr lang="fr-FR" sz="1600" dirty="0"/>
                  <a:t> </a:t>
                </a:r>
                <a:r>
                  <a:rPr lang="fr-FR" sz="1400" dirty="0"/>
                  <a:t>[</a:t>
                </a:r>
                <a:r>
                  <a:rPr lang="fr-FR" sz="1400" b="1" u="sng" dirty="0"/>
                  <a:t>Mar+20</a:t>
                </a:r>
                <a:r>
                  <a:rPr lang="fr-FR" sz="1400" dirty="0"/>
                  <a:t>]</a:t>
                </a:r>
                <a:r>
                  <a:rPr lang="fr-FR" sz="1600" dirty="0"/>
                  <a:t>:</a:t>
                </a:r>
              </a:p>
              <a:p>
                <a:pPr lvl="1"/>
                <a:r>
                  <a:rPr lang="en-GB" sz="1600" dirty="0"/>
                  <a:t>Solved with HALS </a:t>
                </a:r>
                <a:r>
                  <a:rPr lang="en-GB" sz="1400" dirty="0"/>
                  <a:t>[GG12]</a:t>
                </a:r>
                <a:endParaRPr lang="fr-FR" sz="1400" dirty="0"/>
              </a:p>
              <a:p>
                <a:pPr marL="0" indent="0">
                  <a:buNone/>
                </a:pPr>
                <a:endParaRPr lang="fr-FR" sz="16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1600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𝑒𝑢𝑐</m:t>
                          </m:r>
                        </m:sub>
                      </m:sSub>
                      <m:d>
                        <m:dPr>
                          <m:ctrlP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sz="1600" b="0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fr-FR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FR" sz="16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600" dirty="0">
                  <a:effectLst/>
                </a:endParaRPr>
              </a:p>
            </p:txBody>
          </p:sp>
        </mc:Choice>
        <mc:Fallback xmlns="">
          <p:sp>
            <p:nvSpPr>
              <p:cNvPr id="38" name="Espace réservé du contenu 2">
                <a:extLst>
                  <a:ext uri="{FF2B5EF4-FFF2-40B4-BE49-F238E27FC236}">
                    <a16:creationId xmlns:a16="http://schemas.microsoft.com/office/drawing/2014/main" id="{5F08A3A4-8964-4A40-9FA9-F2FCD7DCD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230" y="2058429"/>
                <a:ext cx="4681177" cy="3823756"/>
              </a:xfrm>
              <a:prstGeom prst="rect">
                <a:avLst/>
              </a:prstGeom>
              <a:blipFill>
                <a:blip r:embed="rId4"/>
                <a:stretch>
                  <a:fillRect l="-521" t="-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space réservé du contenu 2">
                <a:extLst>
                  <a:ext uri="{FF2B5EF4-FFF2-40B4-BE49-F238E27FC236}">
                    <a16:creationId xmlns:a16="http://schemas.microsoft.com/office/drawing/2014/main" id="{7D3E7283-9153-4AC7-B22B-17E4A6661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33407" y="2088107"/>
                <a:ext cx="5951764" cy="39509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sz="1800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800" dirty="0">
                    <a:effectLst/>
                  </a:rPr>
                  <a:t>-divergence </a:t>
                </a:r>
                <a:r>
                  <a:rPr lang="fr-FR" sz="1600" dirty="0"/>
                  <a:t>[</a:t>
                </a:r>
                <a:r>
                  <a:rPr lang="fr-FR" sz="1600" b="1" u="sng" dirty="0"/>
                  <a:t>Mar+22</a:t>
                </a:r>
                <a:r>
                  <a:rPr lang="fr-FR" sz="1600" dirty="0"/>
                  <a:t>]</a:t>
                </a:r>
                <a:r>
                  <a:rPr lang="en-GB" sz="1800" dirty="0">
                    <a:effectLst/>
                  </a:rPr>
                  <a:t>:</a:t>
                </a:r>
              </a:p>
              <a:p>
                <a:pPr lvl="1"/>
                <a:r>
                  <a:rPr lang="en-GB" sz="1800" dirty="0"/>
                  <a:t>Solved with Multiplicative Updates </a:t>
                </a:r>
                <a:r>
                  <a:rPr lang="en-GB" sz="1600" dirty="0"/>
                  <a:t>[FI11]</a:t>
                </a:r>
              </a:p>
              <a:p>
                <a:endParaRPr lang="en-GB" sz="1800" dirty="0">
                  <a:effectLst/>
                </a:endParaRPr>
              </a:p>
              <a:p>
                <a:endParaRPr lang="en-GB" sz="1800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80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GB" sz="1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fr-FR" sz="1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8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fr-FR" sz="18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fr-FR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−1                       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(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𝐼𝑡𝑎𝑘𝑢𝑟𝑎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𝑆𝑎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ï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8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fr-F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fr-FR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(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𝐾𝑢𝑙𝑙𝑏𝑎𝑐𝑘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𝐿𝑒𝑖𝑏𝑙𝑒𝑟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l-G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lit/>
                                </m:rPr>
                                <a:rPr lang="fr-F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0,1}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800" dirty="0">
                  <a:effectLst/>
                </a:endParaRPr>
              </a:p>
              <a:p>
                <a:endParaRPr lang="en-GB" sz="1800" dirty="0">
                  <a:effectLst/>
                </a:endParaRPr>
              </a:p>
              <a:p>
                <a:endParaRPr lang="en-GB" sz="1800" dirty="0">
                  <a:effectLst/>
                </a:endParaRPr>
              </a:p>
            </p:txBody>
          </p:sp>
        </mc:Choice>
        <mc:Fallback xmlns="">
          <p:sp>
            <p:nvSpPr>
              <p:cNvPr id="39" name="Espace réservé du contenu 2">
                <a:extLst>
                  <a:ext uri="{FF2B5EF4-FFF2-40B4-BE49-F238E27FC236}">
                    <a16:creationId xmlns:a16="http://schemas.microsoft.com/office/drawing/2014/main" id="{7D3E7283-9153-4AC7-B22B-17E4A6661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407" y="2088107"/>
                <a:ext cx="5951764" cy="3950999"/>
              </a:xfrm>
              <a:prstGeom prst="rect">
                <a:avLst/>
              </a:prstGeom>
              <a:blipFill>
                <a:blip r:embed="rId5"/>
                <a:stretch>
                  <a:fillRect l="-307" t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6EE0117-3B0B-4BD4-A150-C3C822B44612}"/>
              </a:ext>
            </a:extLst>
          </p:cNvPr>
          <p:cNvSpPr/>
          <p:nvPr/>
        </p:nvSpPr>
        <p:spPr>
          <a:xfrm>
            <a:off x="7888514" y="3190874"/>
            <a:ext cx="3795486" cy="827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1A8B96F-9858-4EA9-92E1-9FAC1720FD42}"/>
              </a:ext>
            </a:extLst>
          </p:cNvPr>
          <p:cNvSpPr/>
          <p:nvPr/>
        </p:nvSpPr>
        <p:spPr>
          <a:xfrm>
            <a:off x="7888514" y="4023292"/>
            <a:ext cx="3795486" cy="827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F18FA63-FBBB-484B-B47C-9E7D68AEF81D}"/>
              </a:ext>
            </a:extLst>
          </p:cNvPr>
          <p:cNvSpPr/>
          <p:nvPr/>
        </p:nvSpPr>
        <p:spPr>
          <a:xfrm>
            <a:off x="2555443" y="3906671"/>
            <a:ext cx="2340385" cy="827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BC564ED-EF70-435A-B1DE-750C53933C5B}"/>
              </a:ext>
            </a:extLst>
          </p:cNvPr>
          <p:cNvCxnSpPr/>
          <p:nvPr/>
        </p:nvCxnSpPr>
        <p:spPr>
          <a:xfrm>
            <a:off x="5580743" y="2058429"/>
            <a:ext cx="0" cy="3696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6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81BD4208-EB50-49B2-AC68-82D385FCA6EF}"/>
              </a:ext>
            </a:extLst>
          </p:cNvPr>
          <p:cNvSpPr txBox="1">
            <a:spLocks/>
          </p:cNvSpPr>
          <p:nvPr/>
        </p:nvSpPr>
        <p:spPr>
          <a:xfrm>
            <a:off x="1559340" y="2689229"/>
            <a:ext cx="9601200" cy="3755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1st bar of Come </a:t>
            </a:r>
            <a:r>
              <a:rPr lang="fr-FR" dirty="0" err="1"/>
              <a:t>Together</a:t>
            </a:r>
            <a:endParaRPr lang="fr-FR" dirty="0"/>
          </a:p>
          <a:p>
            <a:endParaRPr lang="fr-FR" dirty="0"/>
          </a:p>
          <a:p>
            <a:r>
              <a:rPr lang="fr-FR" dirty="0"/>
              <a:t>Hand-</a:t>
            </a:r>
            <a:r>
              <a:rPr lang="fr-FR" dirty="0" err="1"/>
              <a:t>picked</a:t>
            </a:r>
            <a:r>
              <a:rPr lang="fr-FR" dirty="0"/>
              <a:t> pattern </a:t>
            </a:r>
            <a:r>
              <a:rPr lang="fr-FR" dirty="0" err="1"/>
              <a:t>from</a:t>
            </a:r>
            <a:r>
              <a:rPr lang="fr-FR" dirty="0"/>
              <a:t> NTD</a:t>
            </a:r>
          </a:p>
          <a:p>
            <a:pPr lvl="1"/>
            <a:r>
              <a:rPr lang="fr-FR" dirty="0" err="1"/>
              <a:t>Euclidean</a:t>
            </a:r>
            <a:r>
              <a:rPr lang="fr-FR" dirty="0"/>
              <a:t> </a:t>
            </a:r>
            <a:r>
              <a:rPr lang="fr-FR" dirty="0" err="1"/>
              <a:t>norm</a:t>
            </a:r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Kullback-Leibler</a:t>
            </a:r>
            <a:r>
              <a:rPr lang="fr-FR" dirty="0"/>
              <a:t> divergence </a:t>
            </a:r>
          </a:p>
          <a:p>
            <a:endParaRPr lang="fr-FR" dirty="0"/>
          </a:p>
          <a:p>
            <a:pPr lvl="1"/>
            <a:r>
              <a:rPr lang="fr-FR" dirty="0" err="1"/>
              <a:t>Itakura</a:t>
            </a:r>
            <a:r>
              <a:rPr lang="fr-FR" dirty="0"/>
              <a:t>-Saito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2F67A65-515A-4ECB-8816-2340B5F154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463121" y="255998"/>
                <a:ext cx="9601200" cy="1485900"/>
              </a:xfrm>
            </p:spPr>
            <p:txBody>
              <a:bodyPr/>
              <a:lstStyle/>
              <a:p>
                <a:r>
                  <a:rPr lang="fr-FR" dirty="0"/>
                  <a:t>Musical patterns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FR" dirty="0">
                            <a:latin typeface="French Script MT" panose="03020402040607040605" pitchFamily="66" charset="0"/>
                          </a:rPr>
                          <m:t>G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[::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fr-FR" dirty="0"/>
                  <a:t>? 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2F67A65-515A-4ECB-8816-2340B5F15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63121" y="255998"/>
                <a:ext cx="9601200" cy="1485900"/>
              </a:xfrm>
              <a:blipFill>
                <a:blip r:embed="rId11"/>
                <a:stretch>
                  <a:fillRect l="-2540" t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BD6051-8802-445F-B636-7972E36B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DD8E250D-9BEC-4EED-B304-447F4AF2B446}"/>
                  </a:ext>
                </a:extLst>
              </p:cNvPr>
              <p:cNvSpPr txBox="1"/>
              <p:nvPr/>
            </p:nvSpPr>
            <p:spPr>
              <a:xfrm>
                <a:off x="6543855" y="1339866"/>
                <a:ext cx="2215404" cy="497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sz="2400" dirty="0">
                              <a:latin typeface="French Script MT" panose="03020402040607040605" pitchFamily="66" charset="0"/>
                            </a:rPr>
                            <m:t>G</m:t>
                          </m:r>
                        </m:e>
                        <m:sub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[::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DD8E250D-9BEC-4EED-B304-447F4AF2B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855" y="1339866"/>
                <a:ext cx="2215404" cy="497893"/>
              </a:xfrm>
              <a:prstGeom prst="rect">
                <a:avLst/>
              </a:prstGeom>
              <a:blipFill>
                <a:blip r:embed="rId1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>
            <a:extLst>
              <a:ext uri="{FF2B5EF4-FFF2-40B4-BE49-F238E27FC236}">
                <a16:creationId xmlns:a16="http://schemas.microsoft.com/office/drawing/2014/main" id="{4B5E5975-B827-4941-9D34-F7D4F75D6767}"/>
              </a:ext>
            </a:extLst>
          </p:cNvPr>
          <p:cNvSpPr txBox="1"/>
          <p:nvPr/>
        </p:nvSpPr>
        <p:spPr>
          <a:xfrm>
            <a:off x="10005431" y="1337977"/>
            <a:ext cx="2269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Audio signal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70766FA3-12F1-48FB-AAF7-68FD8366A940}"/>
              </a:ext>
            </a:extLst>
          </p:cNvPr>
          <p:cNvSpPr/>
          <p:nvPr/>
        </p:nvSpPr>
        <p:spPr>
          <a:xfrm>
            <a:off x="2804294" y="1245968"/>
            <a:ext cx="1031572" cy="646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STFT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3347805-40F0-4C1D-A9F7-C5630497F38C}"/>
              </a:ext>
            </a:extLst>
          </p:cNvPr>
          <p:cNvSpPr txBox="1"/>
          <p:nvPr/>
        </p:nvSpPr>
        <p:spPr>
          <a:xfrm>
            <a:off x="956047" y="1294394"/>
            <a:ext cx="177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Audio signal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6CB39B4-6B3A-4B09-94F6-F2D882281A4F}"/>
              </a:ext>
            </a:extLst>
          </p:cNvPr>
          <p:cNvSpPr txBox="1"/>
          <p:nvPr/>
        </p:nvSpPr>
        <p:spPr>
          <a:xfrm>
            <a:off x="3910034" y="1318458"/>
            <a:ext cx="2215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spectrogram</a:t>
            </a:r>
            <a:endParaRPr lang="fr-FR" sz="2400" dirty="0"/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DACC2889-EEF0-4B78-8394-749BC3F9840A}"/>
              </a:ext>
            </a:extLst>
          </p:cNvPr>
          <p:cNvSpPr/>
          <p:nvPr/>
        </p:nvSpPr>
        <p:spPr>
          <a:xfrm>
            <a:off x="5834521" y="1265831"/>
            <a:ext cx="1031572" cy="646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NTD</a:t>
            </a: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6AD2E275-91CA-4DB6-B71F-C5FFBC1A9457}"/>
              </a:ext>
            </a:extLst>
          </p:cNvPr>
          <p:cNvSpPr/>
          <p:nvPr/>
        </p:nvSpPr>
        <p:spPr>
          <a:xfrm>
            <a:off x="8402587" y="1266807"/>
            <a:ext cx="1567324" cy="646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ISTFT*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1927670-3AAE-4D3D-B4E4-90F3FCB514A6}"/>
              </a:ext>
            </a:extLst>
          </p:cNvPr>
          <p:cNvSpPr txBox="1"/>
          <p:nvPr/>
        </p:nvSpPr>
        <p:spPr>
          <a:xfrm>
            <a:off x="6692921" y="1806762"/>
            <a:ext cx="2058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(One musical pattern)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53890E7-BF83-4841-AB61-07A610468E24}"/>
              </a:ext>
            </a:extLst>
          </p:cNvPr>
          <p:cNvSpPr txBox="1"/>
          <p:nvPr/>
        </p:nvSpPr>
        <p:spPr>
          <a:xfrm>
            <a:off x="3910034" y="6393498"/>
            <a:ext cx="4626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*Phase information: </a:t>
            </a:r>
            <a:r>
              <a:rPr lang="fr-FR" sz="1600" dirty="0" err="1"/>
              <a:t>from</a:t>
            </a:r>
            <a:r>
              <a:rPr lang="fr-FR" sz="1600" dirty="0"/>
              <a:t> the original STFT</a:t>
            </a:r>
          </a:p>
        </p:txBody>
      </p:sp>
      <p:pic>
        <p:nvPicPr>
          <p:cNvPr id="18" name="Intro ComeTogether">
            <a:hlinkClick r:id="" action="ppaction://media"/>
            <a:extLst>
              <a:ext uri="{FF2B5EF4-FFF2-40B4-BE49-F238E27FC236}">
                <a16:creationId xmlns:a16="http://schemas.microsoft.com/office/drawing/2014/main" id="{1889D0EE-829F-42EF-AF8E-63BF5BCC6E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857321" y="2700897"/>
            <a:ext cx="406400" cy="406400"/>
          </a:xfrm>
          <a:prstGeom prst="rect">
            <a:avLst/>
          </a:prstGeom>
        </p:spPr>
      </p:pic>
      <p:pic>
        <p:nvPicPr>
          <p:cNvPr id="3" name="intro_ntd_euc">
            <a:hlinkClick r:id="" action="ppaction://media"/>
            <a:extLst>
              <a:ext uri="{FF2B5EF4-FFF2-40B4-BE49-F238E27FC236}">
                <a16:creationId xmlns:a16="http://schemas.microsoft.com/office/drawing/2014/main" id="{FD65FBEC-0A95-445C-BA2B-9E72FDAA7FC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857321" y="3931764"/>
            <a:ext cx="406400" cy="406400"/>
          </a:xfrm>
          <a:prstGeom prst="rect">
            <a:avLst/>
          </a:prstGeom>
        </p:spPr>
      </p:pic>
      <p:pic>
        <p:nvPicPr>
          <p:cNvPr id="4" name="intro_ntd_b1">
            <a:hlinkClick r:id="" action="ppaction://media"/>
            <a:extLst>
              <a:ext uri="{FF2B5EF4-FFF2-40B4-BE49-F238E27FC236}">
                <a16:creationId xmlns:a16="http://schemas.microsoft.com/office/drawing/2014/main" id="{A13F0D8F-3BAB-43EB-9B00-94AD187A215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842759" y="4726660"/>
            <a:ext cx="406400" cy="406400"/>
          </a:xfrm>
          <a:prstGeom prst="rect">
            <a:avLst/>
          </a:prstGeom>
        </p:spPr>
      </p:pic>
      <p:pic>
        <p:nvPicPr>
          <p:cNvPr id="5" name="intro_ntd_b0">
            <a:hlinkClick r:id="" action="ppaction://media"/>
            <a:extLst>
              <a:ext uri="{FF2B5EF4-FFF2-40B4-BE49-F238E27FC236}">
                <a16:creationId xmlns:a16="http://schemas.microsoft.com/office/drawing/2014/main" id="{2D5705DA-90C5-4300-8FF0-2D6AAEBCCDE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857321" y="5502311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0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84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384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84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Image 1044">
            <a:extLst>
              <a:ext uri="{FF2B5EF4-FFF2-40B4-BE49-F238E27FC236}">
                <a16:creationId xmlns:a16="http://schemas.microsoft.com/office/drawing/2014/main" id="{11416552-2285-4724-870A-EDDFE9CEA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841" y="3132142"/>
            <a:ext cx="975201" cy="951702"/>
          </a:xfrm>
          <a:prstGeom prst="rect">
            <a:avLst/>
          </a:prstGeom>
        </p:spPr>
      </p:pic>
      <p:pic>
        <p:nvPicPr>
          <p:cNvPr id="1043" name="Image 1042">
            <a:extLst>
              <a:ext uri="{FF2B5EF4-FFF2-40B4-BE49-F238E27FC236}">
                <a16:creationId xmlns:a16="http://schemas.microsoft.com/office/drawing/2014/main" id="{B1AA93BD-F81F-4033-AC60-D36092839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729" y="3341307"/>
            <a:ext cx="975201" cy="951702"/>
          </a:xfrm>
          <a:prstGeom prst="rect">
            <a:avLst/>
          </a:prstGeom>
        </p:spPr>
      </p:pic>
      <p:pic>
        <p:nvPicPr>
          <p:cNvPr id="1041" name="Image 1040">
            <a:extLst>
              <a:ext uri="{FF2B5EF4-FFF2-40B4-BE49-F238E27FC236}">
                <a16:creationId xmlns:a16="http://schemas.microsoft.com/office/drawing/2014/main" id="{434B632F-D8E7-4525-AEDF-FDB4C1787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043" y="3429000"/>
            <a:ext cx="979171" cy="955577"/>
          </a:xfrm>
          <a:prstGeom prst="rect">
            <a:avLst/>
          </a:prstGeom>
        </p:spPr>
      </p:pic>
      <p:pic>
        <p:nvPicPr>
          <p:cNvPr id="1027" name="Image 1026">
            <a:extLst>
              <a:ext uri="{FF2B5EF4-FFF2-40B4-BE49-F238E27FC236}">
                <a16:creationId xmlns:a16="http://schemas.microsoft.com/office/drawing/2014/main" id="{E83906FB-4A19-4716-96AA-33B9BA7B5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19" y="2575667"/>
            <a:ext cx="2658702" cy="1338858"/>
          </a:xfrm>
          <a:prstGeom prst="rect">
            <a:avLst/>
          </a:prstGeom>
        </p:spPr>
      </p:pic>
      <p:pic>
        <p:nvPicPr>
          <p:cNvPr id="1029" name="Image 1028">
            <a:extLst>
              <a:ext uri="{FF2B5EF4-FFF2-40B4-BE49-F238E27FC236}">
                <a16:creationId xmlns:a16="http://schemas.microsoft.com/office/drawing/2014/main" id="{8FA86359-1D4D-47DD-BFEB-B71F263EB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80" y="2807940"/>
            <a:ext cx="2676159" cy="1298017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4CEF47D7-13A7-47F7-B4DD-DCD2497208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905" y="3048195"/>
            <a:ext cx="2691221" cy="1280662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FFEC1C1D-E64A-4F6B-87A7-92D33AE247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90" y="3172913"/>
            <a:ext cx="2640378" cy="129661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002BF64-C755-4A40-8FE6-A7F3DC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3391"/>
          </a:xfrm>
        </p:spPr>
        <p:txBody>
          <a:bodyPr/>
          <a:lstStyle/>
          <a:p>
            <a:r>
              <a:rPr lang="fr-FR" dirty="0"/>
              <a:t>NTD in practice: </a:t>
            </a:r>
            <a:r>
              <a:rPr lang="fr-FR" dirty="0" err="1"/>
              <a:t>chromagram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54AE99E-08FB-4C76-A40C-8B220A93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45</a:t>
            </a:fld>
            <a:endParaRPr lang="fr-FR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9FEA3DF-DABF-474A-8975-0C1DF7DCB829}"/>
              </a:ext>
            </a:extLst>
          </p:cNvPr>
          <p:cNvSpPr/>
          <p:nvPr/>
        </p:nvSpPr>
        <p:spPr>
          <a:xfrm>
            <a:off x="6923452" y="3130658"/>
            <a:ext cx="1366590" cy="1341216"/>
          </a:xfrm>
          <a:prstGeom prst="cube">
            <a:avLst>
              <a:gd name="adj" fmla="val 2872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G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8AD6A6F9-961D-44F2-B17B-18C2CB797987}"/>
                  </a:ext>
                </a:extLst>
              </p:cNvPr>
              <p:cNvSpPr txBox="1"/>
              <p:nvPr/>
            </p:nvSpPr>
            <p:spPr>
              <a:xfrm>
                <a:off x="4946953" y="3841358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8AD6A6F9-961D-44F2-B17B-18C2CB79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953" y="3841358"/>
                <a:ext cx="227626" cy="276999"/>
              </a:xfrm>
              <a:prstGeom prst="rect">
                <a:avLst/>
              </a:prstGeom>
              <a:blipFill>
                <a:blip r:embed="rId10"/>
                <a:stretch>
                  <a:fillRect l="-10811" r="-13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B197E26F-2EA1-4138-A22B-50CA8A01D4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7" y="3295189"/>
            <a:ext cx="2658143" cy="1309686"/>
          </a:xfrm>
          <a:prstGeom prst="rect">
            <a:avLst/>
          </a:prstGeom>
        </p:spPr>
      </p:pic>
      <p:sp>
        <p:nvSpPr>
          <p:cNvPr id="11" name="Cube 10">
            <a:extLst>
              <a:ext uri="{FF2B5EF4-FFF2-40B4-BE49-F238E27FC236}">
                <a16:creationId xmlns:a16="http://schemas.microsoft.com/office/drawing/2014/main" id="{F2844E4B-5701-4EC0-B513-E3E07DFBB843}"/>
              </a:ext>
            </a:extLst>
          </p:cNvPr>
          <p:cNvSpPr/>
          <p:nvPr/>
        </p:nvSpPr>
        <p:spPr>
          <a:xfrm>
            <a:off x="1371598" y="2575668"/>
            <a:ext cx="3370523" cy="2029206"/>
          </a:xfrm>
          <a:prstGeom prst="cube">
            <a:avLst>
              <a:gd name="adj" fmla="val 3490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33" name="Image 1032">
            <a:extLst>
              <a:ext uri="{FF2B5EF4-FFF2-40B4-BE49-F238E27FC236}">
                <a16:creationId xmlns:a16="http://schemas.microsoft.com/office/drawing/2014/main" id="{070825DB-AE9B-4E3D-9451-C2FD56AAC4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295" y="3347791"/>
            <a:ext cx="2941017" cy="949093"/>
          </a:xfrm>
          <a:prstGeom prst="rect">
            <a:avLst/>
          </a:prstGeom>
        </p:spPr>
      </p:pic>
      <p:pic>
        <p:nvPicPr>
          <p:cNvPr id="1037" name="Image 1036">
            <a:extLst>
              <a:ext uri="{FF2B5EF4-FFF2-40B4-BE49-F238E27FC236}">
                <a16:creationId xmlns:a16="http://schemas.microsoft.com/office/drawing/2014/main" id="{47CC6B92-E312-4364-B688-6C16C1EA39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07378">
            <a:off x="7178915" y="1659740"/>
            <a:ext cx="2218011" cy="882617"/>
          </a:xfrm>
          <a:prstGeom prst="rect">
            <a:avLst/>
          </a:prstGeom>
          <a:scene3d>
            <a:camera prst="orthographicFront">
              <a:rot lat="19493437" lon="18509148" rev="2703872"/>
            </a:camera>
            <a:lightRig rig="threePt" dir="t"/>
          </a:scene3d>
        </p:spPr>
      </p:pic>
      <p:pic>
        <p:nvPicPr>
          <p:cNvPr id="1047" name="Image 1046">
            <a:extLst>
              <a:ext uri="{FF2B5EF4-FFF2-40B4-BE49-F238E27FC236}">
                <a16:creationId xmlns:a16="http://schemas.microsoft.com/office/drawing/2014/main" id="{4AAF7438-E5EA-4CE2-971C-B708B58DEA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647" y="3438412"/>
            <a:ext cx="1066178" cy="1040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9CA7CEF-60F2-4D12-81F5-E7C23C953E47}"/>
                  </a:ext>
                </a:extLst>
              </p:cNvPr>
              <p:cNvSpPr/>
              <p:nvPr/>
            </p:nvSpPr>
            <p:spPr>
              <a:xfrm>
                <a:off x="5743030" y="4665824"/>
                <a:ext cx="5654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C9CA7CEF-60F2-4D12-81F5-E7C23C953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030" y="4665824"/>
                <a:ext cx="56541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2798E36-669E-4DD6-AF3B-B2071502D337}"/>
              </a:ext>
            </a:extLst>
          </p:cNvPr>
          <p:cNvSpPr/>
          <p:nvPr/>
        </p:nvSpPr>
        <p:spPr>
          <a:xfrm>
            <a:off x="7162857" y="4665824"/>
            <a:ext cx="3722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French Script MT" panose="03020402040607040605" pitchFamily="66" charset="0"/>
              </a:rPr>
              <a:t>G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6CC63CCD-C082-4F85-B44F-B220C93A1475}"/>
                  </a:ext>
                </a:extLst>
              </p:cNvPr>
              <p:cNvSpPr/>
              <p:nvPr/>
            </p:nvSpPr>
            <p:spPr>
              <a:xfrm>
                <a:off x="10132436" y="4665824"/>
                <a:ext cx="4950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6CC63CCD-C082-4F85-B44F-B220C93A1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436" y="4665824"/>
                <a:ext cx="495071" cy="461665"/>
              </a:xfrm>
              <a:prstGeom prst="rect">
                <a:avLst/>
              </a:prstGeom>
              <a:blipFill>
                <a:blip r:embed="rId17"/>
                <a:stretch>
                  <a:fillRect l="-24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3C7E7AB6-5354-489D-86FE-3E9F6782442A}"/>
                  </a:ext>
                </a:extLst>
              </p:cNvPr>
              <p:cNvSpPr/>
              <p:nvPr/>
            </p:nvSpPr>
            <p:spPr>
              <a:xfrm>
                <a:off x="7423486" y="1658851"/>
                <a:ext cx="4790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51" name="Rectangle 1050">
                <a:extLst>
                  <a:ext uri="{FF2B5EF4-FFF2-40B4-BE49-F238E27FC236}">
                    <a16:creationId xmlns:a16="http://schemas.microsoft.com/office/drawing/2014/main" id="{3C7E7AB6-5354-489D-86FE-3E9F67824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486" y="1658851"/>
                <a:ext cx="479042" cy="461665"/>
              </a:xfrm>
              <a:prstGeom prst="rect">
                <a:avLst/>
              </a:prstGeom>
              <a:blipFill>
                <a:blip r:embed="rId18"/>
                <a:stretch>
                  <a:fillRect l="-7692" b="-157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2" name="Rectangle 1051">
            <a:extLst>
              <a:ext uri="{FF2B5EF4-FFF2-40B4-BE49-F238E27FC236}">
                <a16:creationId xmlns:a16="http://schemas.microsoft.com/office/drawing/2014/main" id="{38974DCA-9BCC-4DB6-8770-7F058024ACFB}"/>
              </a:ext>
            </a:extLst>
          </p:cNvPr>
          <p:cNvSpPr/>
          <p:nvPr/>
        </p:nvSpPr>
        <p:spPr>
          <a:xfrm>
            <a:off x="2566413" y="4665824"/>
            <a:ext cx="417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>
                <a:latin typeface="French Script MT" panose="03020402040607040605" pitchFamily="66" charset="0"/>
              </a:rPr>
              <a:t>X</a:t>
            </a:r>
            <a:endParaRPr lang="fr-FR" sz="2800" dirty="0"/>
          </a:p>
        </p:txBody>
      </p:sp>
      <p:sp>
        <p:nvSpPr>
          <p:cNvPr id="1054" name="Parallélogramme 1053">
            <a:extLst>
              <a:ext uri="{FF2B5EF4-FFF2-40B4-BE49-F238E27FC236}">
                <a16:creationId xmlns:a16="http://schemas.microsoft.com/office/drawing/2014/main" id="{CFA9B476-D061-428B-84E3-D339314CE1D0}"/>
              </a:ext>
            </a:extLst>
          </p:cNvPr>
          <p:cNvSpPr/>
          <p:nvPr/>
        </p:nvSpPr>
        <p:spPr>
          <a:xfrm>
            <a:off x="7314841" y="1371601"/>
            <a:ext cx="1996427" cy="1436340"/>
          </a:xfrm>
          <a:prstGeom prst="parallelogram">
            <a:avLst>
              <a:gd name="adj" fmla="val 7752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5" name="Flèche : droite 1054">
            <a:extLst>
              <a:ext uri="{FF2B5EF4-FFF2-40B4-BE49-F238E27FC236}">
                <a16:creationId xmlns:a16="http://schemas.microsoft.com/office/drawing/2014/main" id="{C81364E6-CDA7-4795-9309-BCF9B9E173ED}"/>
              </a:ext>
            </a:extLst>
          </p:cNvPr>
          <p:cNvSpPr/>
          <p:nvPr/>
        </p:nvSpPr>
        <p:spPr>
          <a:xfrm>
            <a:off x="9054111" y="1870907"/>
            <a:ext cx="2941017" cy="2496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BAF89-6189-427C-B55D-B67795105CAC}"/>
              </a:ext>
            </a:extLst>
          </p:cNvPr>
          <p:cNvSpPr/>
          <p:nvPr/>
        </p:nvSpPr>
        <p:spPr>
          <a:xfrm>
            <a:off x="1371597" y="1276083"/>
            <a:ext cx="1789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"Come </a:t>
            </a:r>
            <a:r>
              <a:rPr lang="fr-FR" dirty="0" err="1"/>
              <a:t>Together</a:t>
            </a:r>
            <a:r>
              <a:rPr lang="fr-FR" dirty="0"/>
              <a:t>"</a:t>
            </a:r>
            <a:endParaRPr lang="en-GB" i="1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A096BE51-51D3-4491-8D09-0749F8FC470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799" y="3525616"/>
            <a:ext cx="968286" cy="92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2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105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>
            <a:extLst>
              <a:ext uri="{FF2B5EF4-FFF2-40B4-BE49-F238E27FC236}">
                <a16:creationId xmlns:a16="http://schemas.microsoft.com/office/drawing/2014/main" id="{0E48766C-B245-4FC6-B7B4-961427C13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557" y="2399295"/>
            <a:ext cx="9968255" cy="198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002BF64-C755-4A40-8FE6-A7F3DC66C3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600" y="685800"/>
                <a:ext cx="9601200" cy="8133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fr-FR" dirty="0"/>
                  <a:t> matrix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002BF64-C755-4A40-8FE6-A7F3DC66C3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600" y="685800"/>
                <a:ext cx="9601200" cy="813391"/>
              </a:xfrm>
              <a:blipFill>
                <a:blip r:embed="rId3"/>
                <a:stretch>
                  <a:fillRect t="-24812" b="-2030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60085D5-CAA0-4958-A070-7CC1A16DC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082" y="5240075"/>
            <a:ext cx="7389845" cy="454631"/>
          </a:xfrm>
        </p:spPr>
        <p:txBody>
          <a:bodyPr>
            <a:normAutofit/>
          </a:bodyPr>
          <a:lstStyle/>
          <a:p>
            <a:r>
              <a:rPr lang="en-GB" dirty="0"/>
              <a:t>Most bars appear as a sparse combination of musical patterns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AA0A4F-C831-4925-8808-A3CD5C0F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46</a:t>
            </a:fld>
            <a:endParaRPr lang="fr-FR"/>
          </a:p>
        </p:txBody>
      </p:sp>
      <p:sp>
        <p:nvSpPr>
          <p:cNvPr id="7" name="Flèche : virage 6">
            <a:extLst>
              <a:ext uri="{FF2B5EF4-FFF2-40B4-BE49-F238E27FC236}">
                <a16:creationId xmlns:a16="http://schemas.microsoft.com/office/drawing/2014/main" id="{17C487E3-A096-446E-B620-64FA265C202D}"/>
              </a:ext>
            </a:extLst>
          </p:cNvPr>
          <p:cNvSpPr/>
          <p:nvPr/>
        </p:nvSpPr>
        <p:spPr>
          <a:xfrm rot="5400000">
            <a:off x="1015084" y="484105"/>
            <a:ext cx="813392" cy="284356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91FECD-EF19-4954-8405-B0E637096C38}"/>
              </a:ext>
            </a:extLst>
          </p:cNvPr>
          <p:cNvSpPr/>
          <p:nvPr/>
        </p:nvSpPr>
        <p:spPr>
          <a:xfrm>
            <a:off x="2159793" y="2758320"/>
            <a:ext cx="398660" cy="9956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1BBB7-2F2B-421B-B398-D8141619D21F}"/>
              </a:ext>
            </a:extLst>
          </p:cNvPr>
          <p:cNvSpPr/>
          <p:nvPr/>
        </p:nvSpPr>
        <p:spPr>
          <a:xfrm>
            <a:off x="3372035" y="2755938"/>
            <a:ext cx="392306" cy="99562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A17ABF-6495-4C96-90D0-15E1CE609916}"/>
              </a:ext>
            </a:extLst>
          </p:cNvPr>
          <p:cNvSpPr/>
          <p:nvPr/>
        </p:nvSpPr>
        <p:spPr>
          <a:xfrm>
            <a:off x="4778271" y="2760704"/>
            <a:ext cx="406400" cy="9980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737A1-B0F5-468E-9F8A-626162943711}"/>
              </a:ext>
            </a:extLst>
          </p:cNvPr>
          <p:cNvSpPr/>
          <p:nvPr/>
        </p:nvSpPr>
        <p:spPr>
          <a:xfrm>
            <a:off x="8424015" y="2754299"/>
            <a:ext cx="406400" cy="9956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B18703-D75D-41D9-B329-B77E601662A1}"/>
              </a:ext>
            </a:extLst>
          </p:cNvPr>
          <p:cNvSpPr/>
          <p:nvPr/>
        </p:nvSpPr>
        <p:spPr>
          <a:xfrm>
            <a:off x="7204578" y="2753556"/>
            <a:ext cx="204960" cy="100245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AB46FB-06E2-4EF1-B673-E29CDD6D08FD}"/>
              </a:ext>
            </a:extLst>
          </p:cNvPr>
          <p:cNvSpPr/>
          <p:nvPr/>
        </p:nvSpPr>
        <p:spPr>
          <a:xfrm>
            <a:off x="6198466" y="2758319"/>
            <a:ext cx="215114" cy="100006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43ED7E-3F65-46BC-8E10-E32E48C53980}"/>
              </a:ext>
            </a:extLst>
          </p:cNvPr>
          <p:cNvSpPr/>
          <p:nvPr/>
        </p:nvSpPr>
        <p:spPr>
          <a:xfrm>
            <a:off x="2558257" y="2756016"/>
            <a:ext cx="406400" cy="100276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A2C83C-25CA-4040-84C2-E853428084AA}"/>
              </a:ext>
            </a:extLst>
          </p:cNvPr>
          <p:cNvSpPr/>
          <p:nvPr/>
        </p:nvSpPr>
        <p:spPr>
          <a:xfrm>
            <a:off x="3762425" y="2758319"/>
            <a:ext cx="406400" cy="9980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F64F27-93FC-4B18-9D3F-27B334E1E745}"/>
              </a:ext>
            </a:extLst>
          </p:cNvPr>
          <p:cNvSpPr/>
          <p:nvPr/>
        </p:nvSpPr>
        <p:spPr>
          <a:xfrm>
            <a:off x="5186979" y="2758318"/>
            <a:ext cx="406400" cy="100014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67562F-E13A-4C93-9670-FD791F8602A1}"/>
              </a:ext>
            </a:extLst>
          </p:cNvPr>
          <p:cNvSpPr/>
          <p:nvPr/>
        </p:nvSpPr>
        <p:spPr>
          <a:xfrm>
            <a:off x="7410686" y="2755937"/>
            <a:ext cx="398660" cy="100245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4773E9-D31B-490C-9E08-0595508B12F3}"/>
              </a:ext>
            </a:extLst>
          </p:cNvPr>
          <p:cNvSpPr/>
          <p:nvPr/>
        </p:nvSpPr>
        <p:spPr>
          <a:xfrm>
            <a:off x="2964666" y="2755938"/>
            <a:ext cx="406400" cy="100276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68722C-F93D-43A8-922E-CE72A323A677}"/>
              </a:ext>
            </a:extLst>
          </p:cNvPr>
          <p:cNvSpPr/>
          <p:nvPr/>
        </p:nvSpPr>
        <p:spPr>
          <a:xfrm>
            <a:off x="4165729" y="2757548"/>
            <a:ext cx="413781" cy="100115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F0A4DA-2D3F-485E-B7C3-6F417DD48B10}"/>
              </a:ext>
            </a:extLst>
          </p:cNvPr>
          <p:cNvSpPr/>
          <p:nvPr/>
        </p:nvSpPr>
        <p:spPr>
          <a:xfrm>
            <a:off x="5593306" y="2758394"/>
            <a:ext cx="406400" cy="100006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D59B15-AAB2-433C-A7F2-4B880E22E341}"/>
              </a:ext>
            </a:extLst>
          </p:cNvPr>
          <p:cNvSpPr/>
          <p:nvPr/>
        </p:nvSpPr>
        <p:spPr>
          <a:xfrm>
            <a:off x="7809346" y="2755937"/>
            <a:ext cx="409168" cy="100284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5B006B-8030-4930-8DB8-B88EE3DF22EB}"/>
              </a:ext>
            </a:extLst>
          </p:cNvPr>
          <p:cNvSpPr/>
          <p:nvPr/>
        </p:nvSpPr>
        <p:spPr>
          <a:xfrm>
            <a:off x="4579841" y="2758561"/>
            <a:ext cx="200811" cy="10001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72CEE-0EAA-448D-8FCE-AC6477094196}"/>
              </a:ext>
            </a:extLst>
          </p:cNvPr>
          <p:cNvSpPr/>
          <p:nvPr/>
        </p:nvSpPr>
        <p:spPr>
          <a:xfrm>
            <a:off x="6000244" y="2758395"/>
            <a:ext cx="199143" cy="1000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A31815-99D2-4DA9-BBB3-D5EAACFE903C}"/>
              </a:ext>
            </a:extLst>
          </p:cNvPr>
          <p:cNvSpPr/>
          <p:nvPr/>
        </p:nvSpPr>
        <p:spPr>
          <a:xfrm>
            <a:off x="8217709" y="2756178"/>
            <a:ext cx="208231" cy="99983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656B05-E1F3-4A95-A8C6-16B0022821BE}"/>
              </a:ext>
            </a:extLst>
          </p:cNvPr>
          <p:cNvSpPr/>
          <p:nvPr/>
        </p:nvSpPr>
        <p:spPr>
          <a:xfrm>
            <a:off x="8830414" y="2755938"/>
            <a:ext cx="2347173" cy="100046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11C748-CA4F-40BC-AB21-2AFA59E9E43C}"/>
              </a:ext>
            </a:extLst>
          </p:cNvPr>
          <p:cNvSpPr/>
          <p:nvPr/>
        </p:nvSpPr>
        <p:spPr>
          <a:xfrm>
            <a:off x="6806855" y="2755937"/>
            <a:ext cx="400912" cy="100245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092C0-91EF-44FD-A5C6-7973DEC0A779}"/>
              </a:ext>
            </a:extLst>
          </p:cNvPr>
          <p:cNvSpPr/>
          <p:nvPr/>
        </p:nvSpPr>
        <p:spPr>
          <a:xfrm>
            <a:off x="6407567" y="2758393"/>
            <a:ext cx="400912" cy="99999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29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53">
            <a:extLst>
              <a:ext uri="{FF2B5EF4-FFF2-40B4-BE49-F238E27FC236}">
                <a16:creationId xmlns:a16="http://schemas.microsoft.com/office/drawing/2014/main" id="{92C7E00D-A9E9-46A6-A6FA-3835B18FC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83" y="1713963"/>
            <a:ext cx="4010652" cy="39677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002BF64-C755-4A40-8FE6-A7F3DC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257" y="271307"/>
            <a:ext cx="9601200" cy="1299780"/>
          </a:xfrm>
        </p:spPr>
        <p:txBody>
          <a:bodyPr>
            <a:normAutofit/>
          </a:bodyPr>
          <a:lstStyle/>
          <a:p>
            <a:r>
              <a:rPr lang="fr-FR" dirty="0"/>
              <a:t>Autosimilarities: </a:t>
            </a:r>
            <a:r>
              <a:rPr lang="fr-FR" dirty="0" err="1"/>
              <a:t>Uncompressed</a:t>
            </a:r>
            <a:r>
              <a:rPr lang="fr-FR" dirty="0"/>
              <a:t> vs NTD</a:t>
            </a:r>
            <a:br>
              <a:rPr lang="fr-FR" dirty="0"/>
            </a:br>
            <a:r>
              <a:rPr lang="fr-FR" sz="2400" dirty="0"/>
              <a:t>(</a:t>
            </a:r>
            <a:r>
              <a:rPr lang="fr-FR" sz="2400" dirty="0" err="1"/>
              <a:t>Cosine</a:t>
            </a:r>
            <a:r>
              <a:rPr lang="fr-FR" sz="2400" dirty="0"/>
              <a:t>)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0CD277-F911-4F21-85E2-D7B78242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D4D46E-47F0-499E-9DD8-CB0B11348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00" y="1730083"/>
            <a:ext cx="3937621" cy="38578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F6DBF6-B576-4857-8B5B-055168A3CB5D}"/>
              </a:ext>
            </a:extLst>
          </p:cNvPr>
          <p:cNvSpPr/>
          <p:nvPr/>
        </p:nvSpPr>
        <p:spPr>
          <a:xfrm>
            <a:off x="1826889" y="1854994"/>
            <a:ext cx="150019" cy="14763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524BC8-B380-4EC6-830A-C93CAB177C08}"/>
              </a:ext>
            </a:extLst>
          </p:cNvPr>
          <p:cNvSpPr/>
          <p:nvPr/>
        </p:nvSpPr>
        <p:spPr>
          <a:xfrm>
            <a:off x="1972146" y="1993107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BA6F8-9DF9-417D-A806-A6E348947065}"/>
              </a:ext>
            </a:extLst>
          </p:cNvPr>
          <p:cNvSpPr/>
          <p:nvPr/>
        </p:nvSpPr>
        <p:spPr>
          <a:xfrm>
            <a:off x="2122165" y="2138364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25323-CAF6-44AB-891D-DB94D6CD3C61}"/>
              </a:ext>
            </a:extLst>
          </p:cNvPr>
          <p:cNvSpPr/>
          <p:nvPr/>
        </p:nvSpPr>
        <p:spPr>
          <a:xfrm>
            <a:off x="2272184" y="2288300"/>
            <a:ext cx="150019" cy="14763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8A899-5546-4209-9517-4A852C296EE0}"/>
              </a:ext>
            </a:extLst>
          </p:cNvPr>
          <p:cNvSpPr/>
          <p:nvPr/>
        </p:nvSpPr>
        <p:spPr>
          <a:xfrm>
            <a:off x="2417441" y="2426413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F653B-9347-4AC4-B207-D0A318E2282F}"/>
              </a:ext>
            </a:extLst>
          </p:cNvPr>
          <p:cNvSpPr/>
          <p:nvPr/>
        </p:nvSpPr>
        <p:spPr>
          <a:xfrm>
            <a:off x="2567460" y="2571670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AFB49F-3612-41FB-A983-BFB740ACEC2F}"/>
              </a:ext>
            </a:extLst>
          </p:cNvPr>
          <p:cNvSpPr/>
          <p:nvPr/>
        </p:nvSpPr>
        <p:spPr>
          <a:xfrm>
            <a:off x="2800635" y="2795723"/>
            <a:ext cx="150019" cy="154781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6DC38-C928-48FB-909F-3D0171234C3A}"/>
              </a:ext>
            </a:extLst>
          </p:cNvPr>
          <p:cNvSpPr/>
          <p:nvPr/>
        </p:nvSpPr>
        <p:spPr>
          <a:xfrm>
            <a:off x="2945892" y="2940980"/>
            <a:ext cx="150019" cy="154781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9F09F0-55D5-484B-BEA0-1FAC26F1769C}"/>
              </a:ext>
            </a:extLst>
          </p:cNvPr>
          <p:cNvSpPr/>
          <p:nvPr/>
        </p:nvSpPr>
        <p:spPr>
          <a:xfrm>
            <a:off x="3095911" y="3086237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1FAB8E-993F-49E6-800E-2D516CFE16A6}"/>
              </a:ext>
            </a:extLst>
          </p:cNvPr>
          <p:cNvSpPr/>
          <p:nvPr/>
        </p:nvSpPr>
        <p:spPr>
          <a:xfrm>
            <a:off x="2719860" y="2724070"/>
            <a:ext cx="80775" cy="7165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8F6D2C-DF83-40FF-8F26-46F937DD11D0}"/>
              </a:ext>
            </a:extLst>
          </p:cNvPr>
          <p:cNvSpPr/>
          <p:nvPr/>
        </p:nvSpPr>
        <p:spPr>
          <a:xfrm>
            <a:off x="3245930" y="3233874"/>
            <a:ext cx="80775" cy="83207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A9DB04-7E76-42D8-9475-CD1E924B500F}"/>
              </a:ext>
            </a:extLst>
          </p:cNvPr>
          <p:cNvSpPr/>
          <p:nvPr/>
        </p:nvSpPr>
        <p:spPr>
          <a:xfrm>
            <a:off x="3322894" y="3312985"/>
            <a:ext cx="80776" cy="8320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4542F-4F63-4E18-A3F5-D092E816F1E2}"/>
              </a:ext>
            </a:extLst>
          </p:cNvPr>
          <p:cNvSpPr/>
          <p:nvPr/>
        </p:nvSpPr>
        <p:spPr>
          <a:xfrm>
            <a:off x="3396810" y="3381894"/>
            <a:ext cx="150019" cy="14763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670FA4-18D8-4735-A060-AE0245D30C65}"/>
              </a:ext>
            </a:extLst>
          </p:cNvPr>
          <p:cNvSpPr/>
          <p:nvPr/>
        </p:nvSpPr>
        <p:spPr>
          <a:xfrm>
            <a:off x="3549210" y="3528198"/>
            <a:ext cx="150019" cy="147637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B80CEF-D24C-4121-977B-5376D1EA5FF3}"/>
              </a:ext>
            </a:extLst>
          </p:cNvPr>
          <p:cNvSpPr/>
          <p:nvPr/>
        </p:nvSpPr>
        <p:spPr>
          <a:xfrm>
            <a:off x="3699229" y="3675835"/>
            <a:ext cx="82382" cy="79886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61F525-A18A-4493-A413-14E4C62D4BEF}"/>
              </a:ext>
            </a:extLst>
          </p:cNvPr>
          <p:cNvSpPr/>
          <p:nvPr/>
        </p:nvSpPr>
        <p:spPr>
          <a:xfrm>
            <a:off x="3776849" y="3746197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38C407-6162-4D9E-8FED-B23DACA8ED38}"/>
              </a:ext>
            </a:extLst>
          </p:cNvPr>
          <p:cNvSpPr/>
          <p:nvPr/>
        </p:nvSpPr>
        <p:spPr>
          <a:xfrm>
            <a:off x="3926868" y="3891454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AB15B7-AA5C-456D-A6D0-B5993E974FEA}"/>
              </a:ext>
            </a:extLst>
          </p:cNvPr>
          <p:cNvSpPr/>
          <p:nvPr/>
        </p:nvSpPr>
        <p:spPr>
          <a:xfrm>
            <a:off x="4148848" y="4109295"/>
            <a:ext cx="150019" cy="154781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974030-B131-4E8B-AADC-41EFDDB74AC9}"/>
              </a:ext>
            </a:extLst>
          </p:cNvPr>
          <p:cNvSpPr/>
          <p:nvPr/>
        </p:nvSpPr>
        <p:spPr>
          <a:xfrm>
            <a:off x="4068073" y="4037642"/>
            <a:ext cx="80775" cy="7165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A61CB5-D67E-4084-A6A4-DA4728F267E7}"/>
              </a:ext>
            </a:extLst>
          </p:cNvPr>
          <p:cNvSpPr/>
          <p:nvPr/>
        </p:nvSpPr>
        <p:spPr>
          <a:xfrm>
            <a:off x="4301248" y="4261695"/>
            <a:ext cx="873822" cy="863838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4DFAB-7064-4593-9473-0C7286510BF8}"/>
              </a:ext>
            </a:extLst>
          </p:cNvPr>
          <p:cNvSpPr/>
          <p:nvPr/>
        </p:nvSpPr>
        <p:spPr>
          <a:xfrm>
            <a:off x="7158565" y="1854994"/>
            <a:ext cx="150019" cy="14763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5A996-6C63-4477-854F-DA6C99CA3624}"/>
              </a:ext>
            </a:extLst>
          </p:cNvPr>
          <p:cNvSpPr/>
          <p:nvPr/>
        </p:nvSpPr>
        <p:spPr>
          <a:xfrm>
            <a:off x="7303822" y="2000250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DDB56F-54FE-4195-A805-99B980F20E45}"/>
              </a:ext>
            </a:extLst>
          </p:cNvPr>
          <p:cNvSpPr/>
          <p:nvPr/>
        </p:nvSpPr>
        <p:spPr>
          <a:xfrm>
            <a:off x="7451460" y="2145507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BBB8F4-C816-4EF0-80BD-CB43F42FDEAE}"/>
              </a:ext>
            </a:extLst>
          </p:cNvPr>
          <p:cNvSpPr/>
          <p:nvPr/>
        </p:nvSpPr>
        <p:spPr>
          <a:xfrm>
            <a:off x="7603860" y="2293062"/>
            <a:ext cx="150019" cy="14763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5A4D4B-D4C0-4CAB-9E29-833EB2C193E5}"/>
              </a:ext>
            </a:extLst>
          </p:cNvPr>
          <p:cNvSpPr/>
          <p:nvPr/>
        </p:nvSpPr>
        <p:spPr>
          <a:xfrm>
            <a:off x="7753879" y="2438318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B955C3-9568-4C5E-9B15-2236097F7EA4}"/>
              </a:ext>
            </a:extLst>
          </p:cNvPr>
          <p:cNvSpPr/>
          <p:nvPr/>
        </p:nvSpPr>
        <p:spPr>
          <a:xfrm>
            <a:off x="7901517" y="2585956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D16CAF-7B21-453A-82D3-B6CB94B522FE}"/>
              </a:ext>
            </a:extLst>
          </p:cNvPr>
          <p:cNvSpPr/>
          <p:nvPr/>
        </p:nvSpPr>
        <p:spPr>
          <a:xfrm>
            <a:off x="8127549" y="2802866"/>
            <a:ext cx="150019" cy="154781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E2EB06-C551-4790-B5AF-F42E22ED16FB}"/>
              </a:ext>
            </a:extLst>
          </p:cNvPr>
          <p:cNvSpPr/>
          <p:nvPr/>
        </p:nvSpPr>
        <p:spPr>
          <a:xfrm>
            <a:off x="8277568" y="2950504"/>
            <a:ext cx="150019" cy="154781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0B4ED1-8CB3-4414-91F5-B3DDC970948B}"/>
              </a:ext>
            </a:extLst>
          </p:cNvPr>
          <p:cNvSpPr/>
          <p:nvPr/>
        </p:nvSpPr>
        <p:spPr>
          <a:xfrm>
            <a:off x="8429968" y="3102904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A94B51-6C87-4464-9B79-7898CD10F604}"/>
              </a:ext>
            </a:extLst>
          </p:cNvPr>
          <p:cNvSpPr/>
          <p:nvPr/>
        </p:nvSpPr>
        <p:spPr>
          <a:xfrm>
            <a:off x="8046774" y="2735975"/>
            <a:ext cx="80775" cy="7165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046C31-ED4E-4CFB-90E5-DAE64A99BF9F}"/>
              </a:ext>
            </a:extLst>
          </p:cNvPr>
          <p:cNvSpPr/>
          <p:nvPr/>
        </p:nvSpPr>
        <p:spPr>
          <a:xfrm>
            <a:off x="8575225" y="3248160"/>
            <a:ext cx="80775" cy="83207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57AB27-759E-4541-BBF6-E5DF7723445D}"/>
              </a:ext>
            </a:extLst>
          </p:cNvPr>
          <p:cNvSpPr/>
          <p:nvPr/>
        </p:nvSpPr>
        <p:spPr>
          <a:xfrm>
            <a:off x="8652189" y="3320128"/>
            <a:ext cx="80776" cy="8320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DFA34C-ABBC-4C81-8497-25B25F40D5A1}"/>
              </a:ext>
            </a:extLst>
          </p:cNvPr>
          <p:cNvSpPr/>
          <p:nvPr/>
        </p:nvSpPr>
        <p:spPr>
          <a:xfrm>
            <a:off x="8728486" y="3400942"/>
            <a:ext cx="150019" cy="14763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5CD9284-EF57-49B9-B291-F90366C31113}"/>
              </a:ext>
            </a:extLst>
          </p:cNvPr>
          <p:cNvSpPr/>
          <p:nvPr/>
        </p:nvSpPr>
        <p:spPr>
          <a:xfrm>
            <a:off x="8880886" y="3547246"/>
            <a:ext cx="150019" cy="147637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2CCC28-7700-481F-86A1-1024D73327F2}"/>
              </a:ext>
            </a:extLst>
          </p:cNvPr>
          <p:cNvSpPr/>
          <p:nvPr/>
        </p:nvSpPr>
        <p:spPr>
          <a:xfrm>
            <a:off x="9030905" y="3692502"/>
            <a:ext cx="82382" cy="79886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F6C497-7577-4B95-BE60-2BF940F815AF}"/>
              </a:ext>
            </a:extLst>
          </p:cNvPr>
          <p:cNvSpPr/>
          <p:nvPr/>
        </p:nvSpPr>
        <p:spPr>
          <a:xfrm>
            <a:off x="9108525" y="3770007"/>
            <a:ext cx="150019" cy="14763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1B1AAF-2AD2-46A1-8959-788CA336A119}"/>
              </a:ext>
            </a:extLst>
          </p:cNvPr>
          <p:cNvSpPr/>
          <p:nvPr/>
        </p:nvSpPr>
        <p:spPr>
          <a:xfrm>
            <a:off x="9258544" y="3912883"/>
            <a:ext cx="150019" cy="147637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6240D2-ECC1-4412-A60E-E34E022E200D}"/>
              </a:ext>
            </a:extLst>
          </p:cNvPr>
          <p:cNvSpPr/>
          <p:nvPr/>
        </p:nvSpPr>
        <p:spPr>
          <a:xfrm>
            <a:off x="9480524" y="4128343"/>
            <a:ext cx="150019" cy="154781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E0FB504-1196-41D7-B1CC-0AA68980BCDB}"/>
              </a:ext>
            </a:extLst>
          </p:cNvPr>
          <p:cNvSpPr/>
          <p:nvPr/>
        </p:nvSpPr>
        <p:spPr>
          <a:xfrm>
            <a:off x="9404511" y="4061452"/>
            <a:ext cx="80775" cy="71653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996313-ED36-4552-A78C-98FA9439F558}"/>
              </a:ext>
            </a:extLst>
          </p:cNvPr>
          <p:cNvSpPr/>
          <p:nvPr/>
        </p:nvSpPr>
        <p:spPr>
          <a:xfrm>
            <a:off x="9632924" y="4280744"/>
            <a:ext cx="868389" cy="864894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04FCA1-BF21-4C66-9818-A6C5660A7D7B}"/>
              </a:ext>
            </a:extLst>
          </p:cNvPr>
          <p:cNvSpPr txBox="1"/>
          <p:nvPr/>
        </p:nvSpPr>
        <p:spPr>
          <a:xfrm>
            <a:off x="4455672" y="6053276"/>
            <a:ext cx="4522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ym typeface="Wingdings" panose="05000000000000000000" pitchFamily="2" charset="2"/>
              </a:rPr>
              <a:t> </a:t>
            </a:r>
            <a:r>
              <a:rPr lang="en-GB" sz="2000" b="1" dirty="0"/>
              <a:t>Higher contrast with NTD </a:t>
            </a:r>
            <a:r>
              <a:rPr lang="en-GB" sz="2000" dirty="0"/>
              <a:t>(as desired)</a:t>
            </a:r>
          </a:p>
        </p:txBody>
      </p:sp>
    </p:spTree>
    <p:extLst>
      <p:ext uri="{BB962C8B-B14F-4D97-AF65-F5344CB8AC3E}">
        <p14:creationId xmlns:p14="http://schemas.microsoft.com/office/powerpoint/2010/main" val="163537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0CD277-F911-4F21-85E2-D7B78242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48</a:t>
            </a:fld>
            <a:endParaRPr lang="fr-FR"/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921881D9-CE64-42DD-AB90-FDF69171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318" y="4020719"/>
            <a:ext cx="2462043" cy="2565974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850FA1F0-DD47-4864-A560-7598B7C35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230" y="1336793"/>
            <a:ext cx="2615131" cy="2565974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3E085080-AC7E-4DFA-BEC1-35BDECE213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887" y="1336793"/>
            <a:ext cx="2619017" cy="2565974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23CC878B-90E0-4A84-BBA8-7B714F069F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61" y="4020719"/>
            <a:ext cx="2462044" cy="2534073"/>
          </a:xfrm>
          <a:prstGeom prst="rect">
            <a:avLst/>
          </a:prstGeom>
        </p:spPr>
      </p:pic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C1909398-2BC4-4357-95D3-51E1C11AEFB8}"/>
              </a:ext>
            </a:extLst>
          </p:cNvPr>
          <p:cNvCxnSpPr/>
          <p:nvPr/>
        </p:nvCxnSpPr>
        <p:spPr>
          <a:xfrm>
            <a:off x="6606209" y="343771"/>
            <a:ext cx="0" cy="6109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DDF49027-D805-45D2-99B6-E144B73EBD82}"/>
              </a:ext>
            </a:extLst>
          </p:cNvPr>
          <p:cNvCxnSpPr>
            <a:cxnSpLocks/>
          </p:cNvCxnSpPr>
          <p:nvPr/>
        </p:nvCxnSpPr>
        <p:spPr>
          <a:xfrm>
            <a:off x="913275" y="3932403"/>
            <a:ext cx="10155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466FD10D-9D2E-433F-BE66-7BA111E087D4}"/>
              </a:ext>
            </a:extLst>
          </p:cNvPr>
          <p:cNvSpPr txBox="1"/>
          <p:nvPr/>
        </p:nvSpPr>
        <p:spPr>
          <a:xfrm>
            <a:off x="913275" y="2170935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Cosine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48DA28D4-5CEB-4D59-8CD6-A1FA5D7F2AE1}"/>
              </a:ext>
            </a:extLst>
          </p:cNvPr>
          <p:cNvSpPr txBox="1"/>
          <p:nvPr/>
        </p:nvSpPr>
        <p:spPr>
          <a:xfrm>
            <a:off x="952488" y="5042096"/>
            <a:ext cx="803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RBF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5148F30F-D6B7-402A-B54D-847D8CA131A8}"/>
              </a:ext>
            </a:extLst>
          </p:cNvPr>
          <p:cNvSpPr txBox="1"/>
          <p:nvPr/>
        </p:nvSpPr>
        <p:spPr>
          <a:xfrm>
            <a:off x="3240751" y="227101"/>
            <a:ext cx="2449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Uncompressed</a:t>
            </a:r>
            <a:endParaRPr lang="en-GB" dirty="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E95190F1-0967-4EB0-A4D2-975765EA32AA}"/>
              </a:ext>
            </a:extLst>
          </p:cNvPr>
          <p:cNvSpPr txBox="1"/>
          <p:nvPr/>
        </p:nvSpPr>
        <p:spPr>
          <a:xfrm>
            <a:off x="8493603" y="271307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NTD</a:t>
            </a:r>
            <a:endParaRPr lang="en-GB" dirty="0"/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75E56AC3-5293-485D-89EC-E437A7FA3136}"/>
              </a:ext>
            </a:extLst>
          </p:cNvPr>
          <p:cNvCxnSpPr/>
          <p:nvPr/>
        </p:nvCxnSpPr>
        <p:spPr>
          <a:xfrm>
            <a:off x="2392018" y="343771"/>
            <a:ext cx="0" cy="6109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19506B6A-3631-4570-9A77-B53226F37DA6}"/>
              </a:ext>
            </a:extLst>
          </p:cNvPr>
          <p:cNvCxnSpPr>
            <a:cxnSpLocks/>
          </p:cNvCxnSpPr>
          <p:nvPr/>
        </p:nvCxnSpPr>
        <p:spPr>
          <a:xfrm>
            <a:off x="860267" y="1169325"/>
            <a:ext cx="10155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381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3FEBC-1E43-425C-AC39-63F51A16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NTD segmentation </a:t>
            </a:r>
            <a:r>
              <a:rPr lang="fr-FR" dirty="0" err="1"/>
              <a:t>results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78048B9F-9579-403F-98D9-13649D5F1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54234" y="2676004"/>
                <a:ext cx="3921676" cy="24224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Similarity function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Objective function</a:t>
                </a:r>
              </a:p>
              <a:p>
                <a:pPr lvl="1"/>
                <a:r>
                  <a:rPr lang="en-GB" dirty="0" err="1"/>
                  <a:t>Kullback-Leibler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78048B9F-9579-403F-98D9-13649D5F1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4234" y="2676004"/>
                <a:ext cx="3921676" cy="2422477"/>
              </a:xfrm>
              <a:blipFill>
                <a:blip r:embed="rId3"/>
                <a:stretch>
                  <a:fillRect l="-1553" t="-2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DE6C4-C4D2-4E22-AE11-C9957265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49</a:t>
            </a:fld>
            <a:endParaRPr lang="fr-FR"/>
          </a:p>
        </p:txBody>
      </p:sp>
      <p:pic>
        <p:nvPicPr>
          <p:cNvPr id="14" name="Graphique 13" descr="Point d’interrogation">
            <a:extLst>
              <a:ext uri="{FF2B5EF4-FFF2-40B4-BE49-F238E27FC236}">
                <a16:creationId xmlns:a16="http://schemas.microsoft.com/office/drawing/2014/main" id="{E69CF111-DB4D-4876-8D3D-9A52E661F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7865" y="2484984"/>
            <a:ext cx="699897" cy="699897"/>
          </a:xfrm>
          <a:prstGeom prst="rect">
            <a:avLst/>
          </a:prstGeom>
        </p:spPr>
      </p:pic>
      <p:pic>
        <p:nvPicPr>
          <p:cNvPr id="16" name="Graphique 15" descr="Point d’exclamation">
            <a:extLst>
              <a:ext uri="{FF2B5EF4-FFF2-40B4-BE49-F238E27FC236}">
                <a16:creationId xmlns:a16="http://schemas.microsoft.com/office/drawing/2014/main" id="{6B808B15-F70E-4B9B-9359-FA66DC761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7866" y="4023067"/>
            <a:ext cx="699896" cy="69989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54B085A-89C3-4917-A645-B35735D6A13F}"/>
              </a:ext>
            </a:extLst>
          </p:cNvPr>
          <p:cNvSpPr/>
          <p:nvPr/>
        </p:nvSpPr>
        <p:spPr>
          <a:xfrm>
            <a:off x="985783" y="5288981"/>
            <a:ext cx="70618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Segmentation </a:t>
            </a:r>
            <a:r>
              <a:rPr lang="fr-FR" sz="1600" dirty="0" err="1"/>
              <a:t>results</a:t>
            </a:r>
            <a:r>
              <a:rPr lang="fr-FR" sz="1600" dirty="0"/>
              <a:t>, </a:t>
            </a:r>
            <a:r>
              <a:rPr lang="fr-FR" sz="1600" dirty="0" err="1"/>
              <a:t>according</a:t>
            </a:r>
            <a:r>
              <a:rPr lang="fr-FR" sz="1600" dirty="0"/>
              <a:t> to </a:t>
            </a:r>
            <a:r>
              <a:rPr lang="fr-FR" sz="1600" dirty="0" err="1"/>
              <a:t>parameters</a:t>
            </a:r>
            <a:r>
              <a:rPr lang="fr-FR" sz="1600" dirty="0"/>
              <a:t> (RWC Pop </a:t>
            </a:r>
            <a:r>
              <a:rPr lang="fr-FR" sz="1600" dirty="0" err="1"/>
              <a:t>dataset</a:t>
            </a:r>
            <a:r>
              <a:rPr lang="fr-FR" sz="1600" dirty="0"/>
              <a:t>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413FC39-5C07-487F-82B0-DB631BCBBA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96" y="2067209"/>
            <a:ext cx="5822269" cy="310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37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3FEBC-1E43-425C-AC39-63F51A16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92460"/>
            <a:ext cx="9601200" cy="1021859"/>
          </a:xfrm>
        </p:spPr>
        <p:txBody>
          <a:bodyPr>
            <a:normAutofit/>
          </a:bodyPr>
          <a:lstStyle/>
          <a:p>
            <a:r>
              <a:rPr lang="fr-FR" dirty="0"/>
              <a:t>NTD segmentation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DE6C4-C4D2-4E22-AE11-C9957265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50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A0492C58-4A61-40FD-93A7-B5562B861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742" y="5004692"/>
            <a:ext cx="5059640" cy="845122"/>
          </a:xfrm>
        </p:spPr>
        <p:txBody>
          <a:bodyPr>
            <a:normAutofit/>
          </a:bodyPr>
          <a:lstStyle/>
          <a:p>
            <a:r>
              <a:rPr lang="en-GB" u="sng" dirty="0"/>
              <a:t>Cosine</a:t>
            </a:r>
            <a:r>
              <a:rPr lang="en-GB" dirty="0"/>
              <a:t>: </a:t>
            </a:r>
            <a:r>
              <a:rPr lang="en-GB" sz="1800" dirty="0"/>
              <a:t>NTD improves uncompressed results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F6447-A75D-4F8A-92F3-36C1353E5250}"/>
              </a:ext>
            </a:extLst>
          </p:cNvPr>
          <p:cNvSpPr/>
          <p:nvPr/>
        </p:nvSpPr>
        <p:spPr>
          <a:xfrm>
            <a:off x="2981091" y="4162549"/>
            <a:ext cx="70618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Segmentation </a:t>
            </a:r>
            <a:r>
              <a:rPr lang="fr-FR" sz="1600" dirty="0" err="1"/>
              <a:t>results</a:t>
            </a:r>
            <a:r>
              <a:rPr lang="fr-FR" sz="1600" dirty="0"/>
              <a:t>, </a:t>
            </a:r>
            <a:r>
              <a:rPr lang="fr-FR" sz="1600" dirty="0" err="1"/>
              <a:t>compared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State-of-the-art (RWC Pop </a:t>
            </a:r>
            <a:r>
              <a:rPr lang="fr-FR" sz="1600" dirty="0" err="1"/>
              <a:t>dataset</a:t>
            </a:r>
            <a:r>
              <a:rPr lang="fr-FR" sz="1600" dirty="0"/>
              <a:t>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4DBB3F2-9217-4680-998D-323C58C4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28" y="903929"/>
            <a:ext cx="9753600" cy="3295472"/>
          </a:xfrm>
          <a:prstGeom prst="rect">
            <a:avLst/>
          </a:prstGeom>
        </p:spPr>
      </p:pic>
      <p:sp>
        <p:nvSpPr>
          <p:cNvPr id="9" name="Espace réservé du contenu 7">
            <a:extLst>
              <a:ext uri="{FF2B5EF4-FFF2-40B4-BE49-F238E27FC236}">
                <a16:creationId xmlns:a16="http://schemas.microsoft.com/office/drawing/2014/main" id="{228CE64D-F500-45DB-A0ED-89A8EB35D699}"/>
              </a:ext>
            </a:extLst>
          </p:cNvPr>
          <p:cNvSpPr txBox="1">
            <a:spLocks/>
          </p:cNvSpPr>
          <p:nvPr/>
        </p:nvSpPr>
        <p:spPr>
          <a:xfrm>
            <a:off x="6608619" y="5004692"/>
            <a:ext cx="5583379" cy="163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u="sng" dirty="0"/>
              <a:t>RBF</a:t>
            </a:r>
            <a:r>
              <a:rPr lang="en-GB" dirty="0"/>
              <a:t>: </a:t>
            </a:r>
            <a:r>
              <a:rPr lang="en-GB" sz="1800" dirty="0"/>
              <a:t>NTD does not improve uncompressed results</a:t>
            </a:r>
            <a:endParaRPr lang="en-GB" dirty="0"/>
          </a:p>
          <a:p>
            <a:pPr lvl="1"/>
            <a:r>
              <a:rPr lang="en-GB" sz="1800" dirty="0"/>
              <a:t>NTD dimensions are hard to fit</a:t>
            </a:r>
          </a:p>
          <a:p>
            <a:pPr lvl="1"/>
            <a:r>
              <a:rPr lang="en-GB" sz="1800" dirty="0"/>
              <a:t>hyperparameters for CBM were fitted for uncompressed matrices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910D529-902A-4338-BB12-6640B54953EE}"/>
              </a:ext>
            </a:extLst>
          </p:cNvPr>
          <p:cNvCxnSpPr>
            <a:cxnSpLocks/>
          </p:cNvCxnSpPr>
          <p:nvPr/>
        </p:nvCxnSpPr>
        <p:spPr>
          <a:xfrm>
            <a:off x="6504382" y="4817124"/>
            <a:ext cx="0" cy="1857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2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51</a:t>
            </a:fld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E1512E2-E2E4-4925-B80F-738AE9E21B9C}"/>
              </a:ext>
            </a:extLst>
          </p:cNvPr>
          <p:cNvSpPr/>
          <p:nvPr/>
        </p:nvSpPr>
        <p:spPr>
          <a:xfrm>
            <a:off x="9633976" y="690524"/>
            <a:ext cx="2431644" cy="343821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8E80A8-A40F-4693-9D8C-F4E6D7C80314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C91CCC-40C1-427E-9146-7D258A3F70E4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</p:spTree>
    <p:extLst>
      <p:ext uri="{BB962C8B-B14F-4D97-AF65-F5344CB8AC3E}">
        <p14:creationId xmlns:p14="http://schemas.microsoft.com/office/powerpoint/2010/main" val="2666133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15" name="Titre 3">
            <a:extLst>
              <a:ext uri="{FF2B5EF4-FFF2-40B4-BE49-F238E27FC236}">
                <a16:creationId xmlns:a16="http://schemas.microsoft.com/office/drawing/2014/main" id="{7D5E2DE6-C853-46EF-87FD-3C74432A66DE}"/>
              </a:ext>
            </a:extLst>
          </p:cNvPr>
          <p:cNvSpPr txBox="1">
            <a:spLocks/>
          </p:cNvSpPr>
          <p:nvPr/>
        </p:nvSpPr>
        <p:spPr>
          <a:xfrm>
            <a:off x="3217066" y="1800232"/>
            <a:ext cx="5757864" cy="27937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err="1">
                <a:solidFill>
                  <a:srgbClr val="1A2E40"/>
                </a:solidFill>
              </a:rPr>
              <a:t>Linear</a:t>
            </a:r>
            <a:r>
              <a:rPr lang="fr-FR" b="1" dirty="0">
                <a:solidFill>
                  <a:srgbClr val="1A2E40"/>
                </a:solidFill>
              </a:rPr>
              <a:t> and </a:t>
            </a:r>
            <a:r>
              <a:rPr lang="fr-FR" b="1" dirty="0" err="1">
                <a:solidFill>
                  <a:srgbClr val="1A2E40"/>
                </a:solidFill>
              </a:rPr>
              <a:t>Nonlinear</a:t>
            </a:r>
            <a:endParaRPr lang="fr-FR" b="1" dirty="0">
              <a:solidFill>
                <a:srgbClr val="1A2E40"/>
              </a:solidFill>
            </a:endParaRPr>
          </a:p>
          <a:p>
            <a:pPr algn="ctr"/>
            <a:r>
              <a:rPr lang="fr-FR" b="1" dirty="0">
                <a:solidFill>
                  <a:srgbClr val="1A2E40"/>
                </a:solidFill>
              </a:rPr>
              <a:t>Barwise Compression </a:t>
            </a:r>
            <a:r>
              <a:rPr lang="fr-FR" b="1" dirty="0" err="1">
                <a:solidFill>
                  <a:srgbClr val="1A2E40"/>
                </a:solidFill>
              </a:rPr>
              <a:t>Schemes</a:t>
            </a:r>
            <a:br>
              <a:rPr lang="fr-FR" b="1" dirty="0">
                <a:solidFill>
                  <a:srgbClr val="1A2E40"/>
                </a:solidFill>
              </a:rPr>
            </a:br>
            <a:r>
              <a:rPr lang="fr-FR" sz="2000" dirty="0">
                <a:solidFill>
                  <a:srgbClr val="1A2E40"/>
                </a:solidFill>
              </a:rPr>
              <a:t>[</a:t>
            </a:r>
            <a:r>
              <a:rPr lang="fr-FR" sz="2000" b="1" u="sng" dirty="0">
                <a:solidFill>
                  <a:srgbClr val="1A2E40"/>
                </a:solidFill>
              </a:rPr>
              <a:t>MCB22b</a:t>
            </a:r>
            <a:r>
              <a:rPr lang="fr-FR" sz="2000" dirty="0">
                <a:solidFill>
                  <a:srgbClr val="1A2E40"/>
                </a:solidFill>
              </a:rPr>
              <a:t>]</a:t>
            </a:r>
            <a:endParaRPr lang="en-GB" sz="2000" dirty="0">
              <a:solidFill>
                <a:srgbClr val="1A2E4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79281-9C4C-4274-B4AF-E87E7A9548B3}"/>
              </a:ext>
            </a:extLst>
          </p:cNvPr>
          <p:cNvSpPr/>
          <p:nvPr/>
        </p:nvSpPr>
        <p:spPr>
          <a:xfrm>
            <a:off x="917002" y="5759737"/>
            <a:ext cx="103579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dirty="0"/>
              <a:t>[</a:t>
            </a:r>
            <a:r>
              <a:rPr lang="fr-FR" sz="1050" b="1" u="sng" dirty="0"/>
              <a:t>MCB22b</a:t>
            </a:r>
            <a:r>
              <a:rPr lang="fr-FR" sz="1050" dirty="0"/>
              <a:t>] </a:t>
            </a:r>
            <a:r>
              <a:rPr lang="en-GB" sz="1050" b="1" dirty="0"/>
              <a:t>Marmoret, A</a:t>
            </a:r>
            <a:r>
              <a:rPr lang="en-GB" sz="1050" dirty="0"/>
              <a:t>., Cohen, J.E., and </a:t>
            </a:r>
            <a:r>
              <a:rPr lang="en-GB" sz="1050" dirty="0" err="1"/>
              <a:t>Bimbot</a:t>
            </a:r>
            <a:r>
              <a:rPr lang="en-GB" sz="1050" dirty="0"/>
              <a:t>, F., « Barwise Compression </a:t>
            </a:r>
            <a:r>
              <a:rPr lang="en-US" sz="1050" dirty="0"/>
              <a:t>Schemes for Audio-Based Music Structure Analysis », </a:t>
            </a:r>
            <a:r>
              <a:rPr lang="en-US" sz="1050" i="1" dirty="0"/>
              <a:t>in</a:t>
            </a:r>
            <a:r>
              <a:rPr lang="en-US" sz="1050" dirty="0"/>
              <a:t>: </a:t>
            </a:r>
            <a:r>
              <a:rPr lang="en-US" sz="1050" i="1" dirty="0"/>
              <a:t>19th Sound and Music Computing Conference, SMC 2022</a:t>
            </a:r>
            <a:r>
              <a:rPr lang="en-US" sz="1050" dirty="0"/>
              <a:t>, Sound and music Computing </a:t>
            </a:r>
            <a:r>
              <a:rPr lang="en-GB" sz="1050" dirty="0"/>
              <a:t>network, 2022.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3911138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53</a:t>
            </a:fld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287DA2A-CE61-4F38-B29C-59C345944744}"/>
              </a:ext>
            </a:extLst>
          </p:cNvPr>
          <p:cNvSpPr/>
          <p:nvPr/>
        </p:nvSpPr>
        <p:spPr>
          <a:xfrm>
            <a:off x="699420" y="5444108"/>
            <a:ext cx="280720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dirty="0"/>
              <a:t>[</a:t>
            </a:r>
            <a:r>
              <a:rPr lang="fr-FR" sz="900" b="1" u="sng" dirty="0"/>
              <a:t>MCB22b</a:t>
            </a:r>
            <a:r>
              <a:rPr lang="fr-FR" sz="900" dirty="0"/>
              <a:t>] </a:t>
            </a:r>
            <a:r>
              <a:rPr lang="en-GB" sz="900" b="1" dirty="0"/>
              <a:t>Marmoret, A</a:t>
            </a:r>
            <a:r>
              <a:rPr lang="en-GB" sz="900" dirty="0"/>
              <a:t>., Cohen, J.E., and </a:t>
            </a:r>
            <a:r>
              <a:rPr lang="en-GB" sz="900" dirty="0" err="1"/>
              <a:t>Bimbot</a:t>
            </a:r>
            <a:r>
              <a:rPr lang="en-GB" sz="900" dirty="0"/>
              <a:t>, F., « Barwise Compression </a:t>
            </a:r>
            <a:r>
              <a:rPr lang="en-US" sz="900" dirty="0"/>
              <a:t>Schemes for Audio-Based Music Structure Analysis », </a:t>
            </a:r>
            <a:r>
              <a:rPr lang="en-US" sz="900" i="1" dirty="0"/>
              <a:t>in</a:t>
            </a:r>
            <a:r>
              <a:rPr lang="en-US" sz="900" dirty="0"/>
              <a:t>: </a:t>
            </a:r>
            <a:r>
              <a:rPr lang="en-US" sz="900" i="1" dirty="0"/>
              <a:t>19th Sound and Music Computing Conference, SMC 2022</a:t>
            </a:r>
            <a:r>
              <a:rPr lang="en-US" sz="900" dirty="0"/>
              <a:t>, Sound and music Computing </a:t>
            </a:r>
            <a:r>
              <a:rPr lang="en-GB" sz="900" dirty="0"/>
              <a:t>network, 2022.</a:t>
            </a:r>
            <a:endParaRPr lang="fr-FR" sz="900" dirty="0"/>
          </a:p>
        </p:txBody>
      </p:sp>
      <p:sp>
        <p:nvSpPr>
          <p:cNvPr id="37" name="Espace réservé du contenu 6">
            <a:extLst>
              <a:ext uri="{FF2B5EF4-FFF2-40B4-BE49-F238E27FC236}">
                <a16:creationId xmlns:a16="http://schemas.microsoft.com/office/drawing/2014/main" id="{1ADF9FBD-9258-480B-BE28-799A4E556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765" y="321961"/>
            <a:ext cx="3182112" cy="1399032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fr-FR" dirty="0"/>
              <a:t>Barwise </a:t>
            </a:r>
            <a:r>
              <a:rPr lang="fr-FR" dirty="0" err="1"/>
              <a:t>spectrograms</a:t>
            </a:r>
            <a:endParaRPr lang="fr-FR" dirty="0"/>
          </a:p>
        </p:txBody>
      </p:sp>
      <p:sp>
        <p:nvSpPr>
          <p:cNvPr id="38" name="Espace réservé du contenu 6">
            <a:extLst>
              <a:ext uri="{FF2B5EF4-FFF2-40B4-BE49-F238E27FC236}">
                <a16:creationId xmlns:a16="http://schemas.microsoft.com/office/drawing/2014/main" id="{3B643604-4391-4DCF-9595-26BB509D7D4B}"/>
              </a:ext>
            </a:extLst>
          </p:cNvPr>
          <p:cNvSpPr txBox="1">
            <a:spLocks/>
          </p:cNvSpPr>
          <p:nvPr/>
        </p:nvSpPr>
        <p:spPr>
          <a:xfrm>
            <a:off x="6494765" y="4387514"/>
            <a:ext cx="3182112" cy="594360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fr-FR" dirty="0"/>
              <a:t>Q</a:t>
            </a:r>
          </a:p>
        </p:txBody>
      </p: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8CA47B65-0AA5-4DF2-9D79-E9FF7A6B934E}"/>
              </a:ext>
            </a:extLst>
          </p:cNvPr>
          <p:cNvSpPr/>
          <p:nvPr/>
        </p:nvSpPr>
        <p:spPr>
          <a:xfrm rot="5400000">
            <a:off x="7116104" y="2654091"/>
            <a:ext cx="1939434" cy="671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NTD</a:t>
            </a:r>
          </a:p>
        </p:txBody>
      </p:sp>
      <p:sp>
        <p:nvSpPr>
          <p:cNvPr id="47" name="Flèche : droite 46">
            <a:extLst>
              <a:ext uri="{FF2B5EF4-FFF2-40B4-BE49-F238E27FC236}">
                <a16:creationId xmlns:a16="http://schemas.microsoft.com/office/drawing/2014/main" id="{7F650273-6F7F-4CD7-85F8-C6E44BD5D4E2}"/>
              </a:ext>
            </a:extLst>
          </p:cNvPr>
          <p:cNvSpPr/>
          <p:nvPr/>
        </p:nvSpPr>
        <p:spPr>
          <a:xfrm rot="5400000">
            <a:off x="6681716" y="2654091"/>
            <a:ext cx="1939434" cy="671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NMF</a:t>
            </a:r>
          </a:p>
        </p:txBody>
      </p:sp>
      <p:sp>
        <p:nvSpPr>
          <p:cNvPr id="48" name="Flèche : droite 47">
            <a:extLst>
              <a:ext uri="{FF2B5EF4-FFF2-40B4-BE49-F238E27FC236}">
                <a16:creationId xmlns:a16="http://schemas.microsoft.com/office/drawing/2014/main" id="{D59119F5-05B3-4B8F-8699-2A65DEB90E4F}"/>
              </a:ext>
            </a:extLst>
          </p:cNvPr>
          <p:cNvSpPr/>
          <p:nvPr/>
        </p:nvSpPr>
        <p:spPr>
          <a:xfrm rot="5400000">
            <a:off x="7479545" y="2654091"/>
            <a:ext cx="1939434" cy="671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PCA</a:t>
            </a:r>
          </a:p>
        </p:txBody>
      </p:sp>
      <p:sp>
        <p:nvSpPr>
          <p:cNvPr id="49" name="Flèche : droite 48">
            <a:extLst>
              <a:ext uri="{FF2B5EF4-FFF2-40B4-BE49-F238E27FC236}">
                <a16:creationId xmlns:a16="http://schemas.microsoft.com/office/drawing/2014/main" id="{A324B535-23DC-47CB-9DA6-7B5F8D28ADAA}"/>
              </a:ext>
            </a:extLst>
          </p:cNvPr>
          <p:cNvSpPr/>
          <p:nvPr/>
        </p:nvSpPr>
        <p:spPr>
          <a:xfrm rot="5400000">
            <a:off x="8234243" y="2654091"/>
            <a:ext cx="1939434" cy="671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2"/>
                </a:solidFill>
              </a:rPr>
              <a:t>Autoencoders</a:t>
            </a:r>
            <a:endParaRPr lang="fr-FR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7ED8F-2CA9-4B16-BF98-446B6F42CC87}"/>
              </a:ext>
            </a:extLst>
          </p:cNvPr>
          <p:cNvSpPr/>
          <p:nvPr/>
        </p:nvSpPr>
        <p:spPr>
          <a:xfrm>
            <a:off x="672507" y="1021477"/>
            <a:ext cx="305952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 err="1">
                <a:solidFill>
                  <a:srgbClr val="1A2E40"/>
                </a:solidFill>
              </a:rPr>
              <a:t>Linear</a:t>
            </a:r>
            <a:r>
              <a:rPr lang="fr-FR" sz="4000" b="1" dirty="0">
                <a:solidFill>
                  <a:srgbClr val="1A2E40"/>
                </a:solidFill>
              </a:rPr>
              <a:t> and </a:t>
            </a:r>
            <a:r>
              <a:rPr lang="fr-FR" sz="4000" b="1" dirty="0" err="1">
                <a:solidFill>
                  <a:srgbClr val="1A2E40"/>
                </a:solidFill>
              </a:rPr>
              <a:t>Nonlinear</a:t>
            </a:r>
            <a:endParaRPr lang="fr-FR" sz="4000" b="1" dirty="0">
              <a:solidFill>
                <a:srgbClr val="1A2E40"/>
              </a:solidFill>
            </a:endParaRPr>
          </a:p>
          <a:p>
            <a:r>
              <a:rPr lang="fr-FR" sz="4000" b="1" dirty="0">
                <a:solidFill>
                  <a:srgbClr val="1A2E40"/>
                </a:solidFill>
              </a:rPr>
              <a:t>Barwise Compression </a:t>
            </a:r>
            <a:r>
              <a:rPr lang="fr-FR" sz="4000" b="1" dirty="0" err="1">
                <a:solidFill>
                  <a:srgbClr val="1A2E40"/>
                </a:solidFill>
              </a:rPr>
              <a:t>Schemes</a:t>
            </a:r>
            <a:br>
              <a:rPr lang="fr-FR" sz="4000" b="1" dirty="0">
                <a:solidFill>
                  <a:srgbClr val="1A2E40"/>
                </a:solidFill>
              </a:rPr>
            </a:br>
            <a:r>
              <a:rPr lang="fr-FR" sz="2000" dirty="0">
                <a:solidFill>
                  <a:srgbClr val="1A2E40"/>
                </a:solidFill>
              </a:rPr>
              <a:t>[</a:t>
            </a:r>
            <a:r>
              <a:rPr lang="fr-FR" sz="2000" b="1" u="sng" dirty="0">
                <a:solidFill>
                  <a:srgbClr val="1A2E40"/>
                </a:solidFill>
              </a:rPr>
              <a:t>MCB22b</a:t>
            </a:r>
            <a:r>
              <a:rPr lang="fr-FR" sz="2000" dirty="0">
                <a:solidFill>
                  <a:srgbClr val="1A2E40"/>
                </a:solidFill>
              </a:rPr>
              <a:t>]</a:t>
            </a:r>
            <a:endParaRPr lang="en-GB" sz="4400" dirty="0">
              <a:solidFill>
                <a:srgbClr val="1A2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14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7 L -0.1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 animBg="1"/>
      <p:bldP spid="47" grpId="1" animBg="1"/>
      <p:bldP spid="48" grpId="0" animBg="1"/>
      <p:bldP spid="49" grpId="0" animBg="1"/>
      <p:bldP spid="49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82BB9-1883-4863-BD0B-135276C0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6896"/>
            <a:ext cx="9601200" cy="832374"/>
          </a:xfrm>
        </p:spPr>
        <p:txBody>
          <a:bodyPr>
            <a:normAutofit/>
          </a:bodyPr>
          <a:lstStyle/>
          <a:p>
            <a:r>
              <a:rPr lang="fr-FR" dirty="0"/>
              <a:t>PCA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5270BC-DF01-4E1D-B1BC-75A52FD72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12817"/>
            <a:ext cx="5247564" cy="4281443"/>
          </a:xfrm>
        </p:spPr>
        <p:txBody>
          <a:bodyPr/>
          <a:lstStyle/>
          <a:p>
            <a:endParaRPr lang="fr-FR" dirty="0"/>
          </a:p>
          <a:p>
            <a:r>
              <a:rPr lang="fr-FR" dirty="0" err="1"/>
              <a:t>Computes</a:t>
            </a:r>
            <a:r>
              <a:rPr lang="fr-FR" dirty="0"/>
              <a:t> directions of maximal variance ("principal components")</a:t>
            </a:r>
          </a:p>
          <a:p>
            <a:pPr lvl="1"/>
            <a:r>
              <a:rPr lang="fr-FR" b="1" dirty="0"/>
              <a:t>Not </a:t>
            </a:r>
            <a:r>
              <a:rPr lang="fr-FR" b="1" dirty="0" err="1"/>
              <a:t>intepretable</a:t>
            </a:r>
            <a:r>
              <a:rPr lang="fr-FR" b="1" dirty="0"/>
              <a:t>!</a:t>
            </a:r>
          </a:p>
          <a:p>
            <a:pPr lvl="1"/>
            <a:endParaRPr lang="fr-FR" b="1" dirty="0"/>
          </a:p>
          <a:p>
            <a:r>
              <a:rPr lang="fr-FR" dirty="0"/>
              <a:t>Projection on </a:t>
            </a:r>
            <a:r>
              <a:rPr lang="fr-FR" dirty="0" err="1"/>
              <a:t>these</a:t>
            </a:r>
            <a:r>
              <a:rPr lang="fr-FR" dirty="0"/>
              <a:t> principal components</a:t>
            </a:r>
          </a:p>
          <a:p>
            <a:endParaRPr lang="fr-FR" dirty="0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CB2BE267-BC37-4C41-8E42-B14474F2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54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4B7AAAC-D114-49BB-B617-635C8347A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508" y="1134635"/>
            <a:ext cx="3196251" cy="31962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8335B88-E8E0-463E-B95C-1CBEBD5B43FA}"/>
              </a:ext>
            </a:extLst>
          </p:cNvPr>
          <p:cNvSpPr/>
          <p:nvPr/>
        </p:nvSpPr>
        <p:spPr>
          <a:xfrm>
            <a:off x="7425508" y="4397685"/>
            <a:ext cx="3849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Image by </a:t>
            </a:r>
            <a:r>
              <a:rPr lang="en-GB" sz="1000" dirty="0" err="1"/>
              <a:t>Nicoguaro</a:t>
            </a:r>
            <a:r>
              <a:rPr lang="en-GB" sz="1000" dirty="0"/>
              <a:t> - Own work, CC BY 4.0, https://commons.wikimedia.org/w/index.php?curid=46871195</a:t>
            </a:r>
          </a:p>
        </p:txBody>
      </p:sp>
    </p:spTree>
    <p:extLst>
      <p:ext uri="{BB962C8B-B14F-4D97-AF65-F5344CB8AC3E}">
        <p14:creationId xmlns:p14="http://schemas.microsoft.com/office/powerpoint/2010/main" val="28579338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E53543-10BD-4BB0-9D08-0EF9A0F9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85878"/>
            <a:ext cx="9601200" cy="838200"/>
          </a:xfrm>
        </p:spPr>
        <p:txBody>
          <a:bodyPr/>
          <a:lstStyle/>
          <a:p>
            <a:r>
              <a:rPr lang="fr-FR" dirty="0"/>
              <a:t>PCA segmentation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197A006C-199E-4202-912B-FD5E617EC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4718694"/>
            <a:ext cx="9601200" cy="2057244"/>
          </a:xfrm>
        </p:spPr>
        <p:txBody>
          <a:bodyPr>
            <a:normAutofit/>
          </a:bodyPr>
          <a:lstStyle/>
          <a:p>
            <a:r>
              <a:rPr lang="fr-FR" dirty="0" err="1"/>
              <a:t>Improves</a:t>
            </a:r>
            <a:r>
              <a:rPr lang="fr-FR" dirty="0"/>
              <a:t> NTD </a:t>
            </a:r>
            <a:r>
              <a:rPr lang="fr-FR" dirty="0" err="1"/>
              <a:t>results</a:t>
            </a:r>
            <a:r>
              <a:rPr lang="fr-FR" dirty="0"/>
              <a:t>, at the </a:t>
            </a:r>
            <a:r>
              <a:rPr lang="fr-FR" dirty="0" err="1"/>
              <a:t>cost</a:t>
            </a:r>
            <a:r>
              <a:rPr lang="fr-FR" dirty="0"/>
              <a:t> of </a:t>
            </a:r>
            <a:r>
              <a:rPr lang="fr-FR" b="1" dirty="0" err="1"/>
              <a:t>interpretability</a:t>
            </a:r>
            <a:endParaRPr lang="fr-FR" b="1" dirty="0"/>
          </a:p>
          <a:p>
            <a:pPr lvl="1"/>
            <a:endParaRPr lang="fr-FR" dirty="0"/>
          </a:p>
          <a:p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outperform</a:t>
            </a:r>
            <a:r>
              <a:rPr lang="fr-FR" dirty="0"/>
              <a:t> best condition for </a:t>
            </a:r>
            <a:r>
              <a:rPr lang="en-GB" dirty="0"/>
              <a:t>uncompressed representations</a:t>
            </a:r>
            <a:endParaRPr lang="fr-FR" dirty="0"/>
          </a:p>
          <a:p>
            <a:pPr lvl="1"/>
            <a:r>
              <a:rPr lang="en-GB" dirty="0"/>
              <a:t>Compression dimension is hard to fit</a:t>
            </a:r>
          </a:p>
          <a:p>
            <a:pPr lvl="1"/>
            <a:r>
              <a:rPr lang="en-GB" dirty="0"/>
              <a:t>Parameters for CBM were fitted for uncompressed matrices</a:t>
            </a:r>
          </a:p>
          <a:p>
            <a:pPr lvl="1"/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C4A3CE-CE3C-448F-91C2-3924FDE5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F4A627-B5E1-49FC-A652-F58134AC8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427225"/>
            <a:ext cx="9601201" cy="315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90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56</a:t>
            </a:fld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E1512E2-E2E4-4925-B80F-738AE9E21B9C}"/>
              </a:ext>
            </a:extLst>
          </p:cNvPr>
          <p:cNvSpPr/>
          <p:nvPr/>
        </p:nvSpPr>
        <p:spPr>
          <a:xfrm>
            <a:off x="9633976" y="690524"/>
            <a:ext cx="2431644" cy="343821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8E80A8-A40F-4693-9D8C-F4E6D7C80314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C91CCC-40C1-427E-9146-7D258A3F70E4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solidFill>
            <a:srgbClr val="EBE7DD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</p:spTree>
    <p:extLst>
      <p:ext uri="{BB962C8B-B14F-4D97-AF65-F5344CB8AC3E}">
        <p14:creationId xmlns:p14="http://schemas.microsoft.com/office/powerpoint/2010/main" val="3668042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1A2E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19CAC-EAEA-4B1E-9299-A34F103370C0}"/>
              </a:ext>
            </a:extLst>
          </p:cNvPr>
          <p:cNvSpPr/>
          <p:nvPr/>
        </p:nvSpPr>
        <p:spPr>
          <a:xfrm>
            <a:off x="4626865" y="2196015"/>
            <a:ext cx="29382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rgbClr val="1A2E40"/>
                </a:solidFill>
              </a:rPr>
              <a:t>AE-NTD</a:t>
            </a:r>
            <a:br>
              <a:rPr lang="fr-FR" b="1" dirty="0">
                <a:solidFill>
                  <a:srgbClr val="1A2E40"/>
                </a:solidFill>
              </a:rPr>
            </a:br>
            <a:r>
              <a:rPr lang="fr-FR" sz="2400" dirty="0" err="1">
                <a:solidFill>
                  <a:srgbClr val="1A2E40"/>
                </a:solidFill>
              </a:rPr>
              <a:t>Autoencoder</a:t>
            </a:r>
            <a:r>
              <a:rPr lang="fr-FR" sz="2400" dirty="0">
                <a:solidFill>
                  <a:srgbClr val="1A2E40"/>
                </a:solidFill>
              </a:rPr>
              <a:t> &amp; NTD</a:t>
            </a:r>
            <a:endParaRPr lang="en-GB" sz="2400" dirty="0">
              <a:solidFill>
                <a:srgbClr val="1A2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4163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D6F7278-9B30-4261-83A3-DBA07528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58</a:t>
            </a:fld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001586-FEC1-4670-8E88-B3A6C8F7C8E0}"/>
              </a:ext>
            </a:extLst>
          </p:cNvPr>
          <p:cNvSpPr/>
          <p:nvPr/>
        </p:nvSpPr>
        <p:spPr>
          <a:xfrm>
            <a:off x="-471043" y="-533397"/>
            <a:ext cx="4675888" cy="7924793"/>
          </a:xfrm>
          <a:prstGeom prst="rect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D8A961C-1DEC-462D-B8A0-B5B8024C85D8}"/>
                  </a:ext>
                </a:extLst>
              </p:cNvPr>
              <p:cNvSpPr/>
              <p:nvPr/>
            </p:nvSpPr>
            <p:spPr>
              <a:xfrm>
                <a:off x="5282308" y="1903706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D8A961C-1DEC-462D-B8A0-B5B8024C8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308" y="1903706"/>
                <a:ext cx="403260" cy="2916930"/>
              </a:xfrm>
              <a:prstGeom prst="rect">
                <a:avLst/>
              </a:prstGeom>
              <a:blipFill>
                <a:blip r:embed="rId2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D47BC45-DB71-4DA9-B888-7BE220896B37}"/>
                  </a:ext>
                </a:extLst>
              </p:cNvPr>
              <p:cNvSpPr txBox="1"/>
              <p:nvPr/>
            </p:nvSpPr>
            <p:spPr>
              <a:xfrm>
                <a:off x="4160748" y="317750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D47BC45-DB71-4DA9-B888-7BE220896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748" y="3177505"/>
                <a:ext cx="923636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5CAFDD8-7FA5-4B4D-88C0-25FB7E8414BD}"/>
              </a:ext>
            </a:extLst>
          </p:cNvPr>
          <p:cNvCxnSpPr>
            <a:cxnSpLocks/>
          </p:cNvCxnSpPr>
          <p:nvPr/>
        </p:nvCxnSpPr>
        <p:spPr>
          <a:xfrm flipV="1">
            <a:off x="5066004" y="1903706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B47005-8E18-4C54-AED8-A8DD1CA15119}"/>
                  </a:ext>
                </a:extLst>
              </p:cNvPr>
              <p:cNvSpPr/>
              <p:nvPr/>
            </p:nvSpPr>
            <p:spPr>
              <a:xfrm>
                <a:off x="7244784" y="3004487"/>
                <a:ext cx="403260" cy="740664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B47005-8E18-4C54-AED8-A8DD1CA15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84" y="3004487"/>
                <a:ext cx="403260" cy="740664"/>
              </a:xfrm>
              <a:prstGeom prst="rect">
                <a:avLst/>
              </a:prstGeom>
              <a:blipFill>
                <a:blip r:embed="rId4"/>
                <a:stretch>
                  <a:fillRect l="-8696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rapèze 20">
            <a:extLst>
              <a:ext uri="{FF2B5EF4-FFF2-40B4-BE49-F238E27FC236}">
                <a16:creationId xmlns:a16="http://schemas.microsoft.com/office/drawing/2014/main" id="{0CFF5407-FDAD-4694-94B1-EA970B59265A}"/>
              </a:ext>
            </a:extLst>
          </p:cNvPr>
          <p:cNvSpPr/>
          <p:nvPr/>
        </p:nvSpPr>
        <p:spPr>
          <a:xfrm rot="16200000">
            <a:off x="8586419" y="2872403"/>
            <a:ext cx="2752441" cy="1071145"/>
          </a:xfrm>
          <a:prstGeom prst="trapezoid">
            <a:avLst>
              <a:gd name="adj" fmla="val 4229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6CB6F97-DB51-4AD9-BF12-247B0AF71E03}"/>
                  </a:ext>
                </a:extLst>
              </p:cNvPr>
              <p:cNvSpPr/>
              <p:nvPr/>
            </p:nvSpPr>
            <p:spPr>
              <a:xfrm>
                <a:off x="11032454" y="1940649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6CB6F97-DB51-4AD9-BF12-247B0AF71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454" y="1940649"/>
                <a:ext cx="403260" cy="2916930"/>
              </a:xfrm>
              <a:prstGeom prst="rect">
                <a:avLst/>
              </a:prstGeom>
              <a:blipFill>
                <a:blip r:embed="rId5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0E8BEB6-FF46-4F64-8786-DB8BDE0EEAAA}"/>
                  </a:ext>
                </a:extLst>
              </p:cNvPr>
              <p:cNvSpPr txBox="1"/>
              <p:nvPr/>
            </p:nvSpPr>
            <p:spPr>
              <a:xfrm>
                <a:off x="11352195" y="3190153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0E8BEB6-FF46-4F64-8786-DB8BDE0E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2195" y="3190153"/>
                <a:ext cx="923636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5DCA03D-C699-4B45-8D8E-39FD3C7D76DF}"/>
              </a:ext>
            </a:extLst>
          </p:cNvPr>
          <p:cNvCxnSpPr>
            <a:cxnSpLocks/>
          </p:cNvCxnSpPr>
          <p:nvPr/>
        </p:nvCxnSpPr>
        <p:spPr>
          <a:xfrm flipV="1">
            <a:off x="11574847" y="1903705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rapèze 24">
            <a:extLst>
              <a:ext uri="{FF2B5EF4-FFF2-40B4-BE49-F238E27FC236}">
                <a16:creationId xmlns:a16="http://schemas.microsoft.com/office/drawing/2014/main" id="{42D2FA58-2009-42B2-B758-E47768DFA92B}"/>
              </a:ext>
            </a:extLst>
          </p:cNvPr>
          <p:cNvSpPr/>
          <p:nvPr/>
        </p:nvSpPr>
        <p:spPr>
          <a:xfrm rot="16200000">
            <a:off x="7664229" y="2868887"/>
            <a:ext cx="1485899" cy="1071145"/>
          </a:xfrm>
          <a:prstGeom prst="trapezoid">
            <a:avLst>
              <a:gd name="adj" fmla="val 4229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43F3CE-B3C0-467E-9E18-DA5C749A0B3A}"/>
                  </a:ext>
                </a:extLst>
              </p:cNvPr>
              <p:cNvSpPr/>
              <p:nvPr/>
            </p:nvSpPr>
            <p:spPr>
              <a:xfrm>
                <a:off x="8048860" y="3183635"/>
                <a:ext cx="750975" cy="5329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fr-FR" sz="2400" dirty="0">
                              <a:latin typeface="French Script MT" panose="03020402040607040605" pitchFamily="66" charset="0"/>
                            </a:rPr>
                            <m:t>G</m:t>
                          </m:r>
                        </m:e>
                        <m:sub>
                          <m:d>
                            <m:d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43F3CE-B3C0-467E-9E18-DA5C749A0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860" y="3183635"/>
                <a:ext cx="750975" cy="5329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FC314F3-46D5-43FC-ADB8-26F7AD6F6F2E}"/>
              </a:ext>
            </a:extLst>
          </p:cNvPr>
          <p:cNvCxnSpPr>
            <a:stCxn id="25" idx="2"/>
            <a:endCxn id="21" idx="0"/>
          </p:cNvCxnSpPr>
          <p:nvPr/>
        </p:nvCxnSpPr>
        <p:spPr>
          <a:xfrm>
            <a:off x="8942751" y="3404459"/>
            <a:ext cx="484316" cy="3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492CE3D-EC9F-4BE6-9106-3B881B4DBD20}"/>
                  </a:ext>
                </a:extLst>
              </p:cNvPr>
              <p:cNvSpPr/>
              <p:nvPr/>
            </p:nvSpPr>
            <p:spPr>
              <a:xfrm>
                <a:off x="8920723" y="2933245"/>
                <a:ext cx="568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492CE3D-EC9F-4BE6-9106-3B881B4DB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0723" y="2933245"/>
                <a:ext cx="568617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617B49C-7114-4D63-83C2-BD273185D852}"/>
                  </a:ext>
                </a:extLst>
              </p:cNvPr>
              <p:cNvSpPr/>
              <p:nvPr/>
            </p:nvSpPr>
            <p:spPr>
              <a:xfrm>
                <a:off x="9337762" y="3214448"/>
                <a:ext cx="1169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617B49C-7114-4D63-83C2-BD273185D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762" y="3214448"/>
                <a:ext cx="1169487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1F422831-7A33-4CBF-954D-B75A2E2C8202}"/>
              </a:ext>
            </a:extLst>
          </p:cNvPr>
          <p:cNvCxnSpPr>
            <a:cxnSpLocks/>
            <a:stCxn id="21" idx="2"/>
            <a:endCxn id="22" idx="1"/>
          </p:cNvCxnSpPr>
          <p:nvPr/>
        </p:nvCxnSpPr>
        <p:spPr>
          <a:xfrm flipV="1">
            <a:off x="10498212" y="3399114"/>
            <a:ext cx="534242" cy="8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EDD1BAF-3D9A-47E3-8062-7D9C7A12A587}"/>
                  </a:ext>
                </a:extLst>
              </p:cNvPr>
              <p:cNvSpPr/>
              <p:nvPr/>
            </p:nvSpPr>
            <p:spPr>
              <a:xfrm>
                <a:off x="10528785" y="2931780"/>
                <a:ext cx="568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EDD1BAF-3D9A-47E3-8062-7D9C7A12A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785" y="2931780"/>
                <a:ext cx="568617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rapèze 5">
            <a:extLst>
              <a:ext uri="{FF2B5EF4-FFF2-40B4-BE49-F238E27FC236}">
                <a16:creationId xmlns:a16="http://schemas.microsoft.com/office/drawing/2014/main" id="{29DE2229-162E-4C47-B6D9-EDC226A26D5F}"/>
              </a:ext>
            </a:extLst>
          </p:cNvPr>
          <p:cNvSpPr/>
          <p:nvPr/>
        </p:nvSpPr>
        <p:spPr>
          <a:xfrm rot="5400000">
            <a:off x="5154657" y="2863544"/>
            <a:ext cx="2752439" cy="1071143"/>
          </a:xfrm>
          <a:prstGeom prst="trapezoid">
            <a:avLst>
              <a:gd name="adj" fmla="val 96353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0FF45D-6EDA-49B7-8C45-E08556DF61E1}"/>
              </a:ext>
            </a:extLst>
          </p:cNvPr>
          <p:cNvSpPr/>
          <p:nvPr/>
        </p:nvSpPr>
        <p:spPr>
          <a:xfrm>
            <a:off x="6133501" y="3177504"/>
            <a:ext cx="736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/>
              <a:t>Encoder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9E4AA-6007-4E0C-BDC5-DF280DDB457E}"/>
              </a:ext>
            </a:extLst>
          </p:cNvPr>
          <p:cNvSpPr/>
          <p:nvPr/>
        </p:nvSpPr>
        <p:spPr>
          <a:xfrm>
            <a:off x="425969" y="1462368"/>
            <a:ext cx="29382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rgbClr val="1A2E40"/>
                </a:solidFill>
              </a:rPr>
              <a:t>AE-NTD</a:t>
            </a:r>
            <a:br>
              <a:rPr lang="fr-FR" b="1" dirty="0">
                <a:solidFill>
                  <a:srgbClr val="1A2E40"/>
                </a:solidFill>
              </a:rPr>
            </a:br>
            <a:r>
              <a:rPr lang="fr-FR" sz="2400" dirty="0" err="1">
                <a:solidFill>
                  <a:srgbClr val="1A2E40"/>
                </a:solidFill>
              </a:rPr>
              <a:t>Autoencoder</a:t>
            </a:r>
            <a:r>
              <a:rPr lang="fr-FR" sz="2400" dirty="0">
                <a:solidFill>
                  <a:srgbClr val="1A2E40"/>
                </a:solidFill>
              </a:rPr>
              <a:t> &amp; NTD</a:t>
            </a:r>
            <a:endParaRPr lang="en-GB" sz="2400" dirty="0">
              <a:solidFill>
                <a:srgbClr val="1A2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090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9C5D0-AA4D-453C-BD31-F8D8B7F5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0664"/>
          </a:xfrm>
        </p:spPr>
        <p:txBody>
          <a:bodyPr/>
          <a:lstStyle/>
          <a:p>
            <a:r>
              <a:rPr lang="fr-FR" dirty="0"/>
              <a:t>AutoEncoders</a:t>
            </a:r>
            <a:endParaRPr lang="fr-F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D0B5AD-4BFF-4C8C-8E17-6A5FD068B457}"/>
                  </a:ext>
                </a:extLst>
              </p:cNvPr>
              <p:cNvSpPr/>
              <p:nvPr/>
            </p:nvSpPr>
            <p:spPr>
              <a:xfrm>
                <a:off x="1901591" y="1924436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D0B5AD-4BFF-4C8C-8E17-6A5FD068B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591" y="1924436"/>
                <a:ext cx="403260" cy="2916930"/>
              </a:xfrm>
              <a:prstGeom prst="rect">
                <a:avLst/>
              </a:prstGeom>
              <a:blipFill>
                <a:blip r:embed="rId2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C6D4780-BB25-42D0-BEFD-3D776F98C61E}"/>
                  </a:ext>
                </a:extLst>
              </p:cNvPr>
              <p:cNvSpPr txBox="1"/>
              <p:nvPr/>
            </p:nvSpPr>
            <p:spPr>
              <a:xfrm>
                <a:off x="990215" y="319392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C6D4780-BB25-42D0-BEFD-3D776F98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15" y="3193925"/>
                <a:ext cx="92363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1964AF2-1CC6-414D-ADCD-DFB4B8F40904}"/>
              </a:ext>
            </a:extLst>
          </p:cNvPr>
          <p:cNvCxnSpPr>
            <a:cxnSpLocks/>
          </p:cNvCxnSpPr>
          <p:nvPr/>
        </p:nvCxnSpPr>
        <p:spPr>
          <a:xfrm flipV="1">
            <a:off x="1685287" y="1924436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2422F61-3153-4D12-BCE1-8E3586184CD1}"/>
              </a:ext>
            </a:extLst>
          </p:cNvPr>
          <p:cNvGrpSpPr/>
          <p:nvPr/>
        </p:nvGrpSpPr>
        <p:grpSpPr>
          <a:xfrm>
            <a:off x="2608923" y="2189607"/>
            <a:ext cx="1357792" cy="2468880"/>
            <a:chOff x="3109052" y="2542032"/>
            <a:chExt cx="1357792" cy="2468880"/>
          </a:xfrm>
        </p:grpSpPr>
        <p:sp>
          <p:nvSpPr>
            <p:cNvPr id="13" name="Trapèze 12">
              <a:extLst>
                <a:ext uri="{FF2B5EF4-FFF2-40B4-BE49-F238E27FC236}">
                  <a16:creationId xmlns:a16="http://schemas.microsoft.com/office/drawing/2014/main" id="{0F728563-11F1-447D-BCB3-832EB3C71174}"/>
                </a:ext>
              </a:extLst>
            </p:cNvPr>
            <p:cNvSpPr/>
            <p:nvPr/>
          </p:nvSpPr>
          <p:spPr>
            <a:xfrm rot="5400000">
              <a:off x="2553508" y="3097576"/>
              <a:ext cx="2468880" cy="1357792"/>
            </a:xfrm>
            <a:prstGeom prst="trapezoid">
              <a:avLst>
                <a:gd name="adj" fmla="val 5799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C6EE7EF-6F6E-4409-A502-921BC02314AD}"/>
                    </a:ext>
                  </a:extLst>
                </p:cNvPr>
                <p:cNvSpPr/>
                <p:nvPr/>
              </p:nvSpPr>
              <p:spPr>
                <a:xfrm>
                  <a:off x="3295665" y="3550660"/>
                  <a:ext cx="984565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fr-FR" dirty="0"/>
                    <a:t>Encoder</a:t>
                  </a:r>
                </a:p>
                <a:p>
                  <a:pPr algn="ctr"/>
                  <a:r>
                    <a:rPr lang="fr-FR" dirty="0"/>
                    <a:t>(</a:t>
                  </a:r>
                  <a14:m>
                    <m:oMath xmlns:m="http://schemas.openxmlformats.org/officeDocument/2006/math">
                      <m:r>
                        <a:rPr lang="fr-FR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fr-FR" dirty="0"/>
                    <a:t>)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C6EE7EF-6F6E-4409-A502-921BC02314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5665" y="3550660"/>
                  <a:ext cx="984565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6211" t="-5660" r="-5590" b="-141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09E662D-1AEE-4C15-9DC7-EA94A69FBDD6}"/>
                  </a:ext>
                </a:extLst>
              </p:cNvPr>
              <p:cNvSpPr/>
              <p:nvPr/>
            </p:nvSpPr>
            <p:spPr>
              <a:xfrm>
                <a:off x="4481160" y="3050928"/>
                <a:ext cx="403260" cy="740664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09E662D-1AEE-4C15-9DC7-EA94A69FB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60" y="3050928"/>
                <a:ext cx="403260" cy="740664"/>
              </a:xfrm>
              <a:prstGeom prst="rect">
                <a:avLst/>
              </a:prstGeom>
              <a:blipFill>
                <a:blip r:embed="rId5"/>
                <a:stretch>
                  <a:fillRect l="-10294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rapèze 17">
            <a:extLst>
              <a:ext uri="{FF2B5EF4-FFF2-40B4-BE49-F238E27FC236}">
                <a16:creationId xmlns:a16="http://schemas.microsoft.com/office/drawing/2014/main" id="{3A4655A2-F23F-4502-A4BE-417F6D7E3643}"/>
              </a:ext>
            </a:extLst>
          </p:cNvPr>
          <p:cNvSpPr/>
          <p:nvPr/>
        </p:nvSpPr>
        <p:spPr>
          <a:xfrm rot="16200000">
            <a:off x="4546157" y="2745151"/>
            <a:ext cx="2468880" cy="1357792"/>
          </a:xfrm>
          <a:prstGeom prst="trapezoid">
            <a:avLst>
              <a:gd name="adj" fmla="val 5799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6CEC8C0-8CEE-4214-8579-35CA7A07E52E}"/>
                  </a:ext>
                </a:extLst>
              </p:cNvPr>
              <p:cNvSpPr/>
              <p:nvPr/>
            </p:nvSpPr>
            <p:spPr>
              <a:xfrm>
                <a:off x="5299625" y="3239380"/>
                <a:ext cx="100219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FR" dirty="0"/>
                  <a:t>Decoder</a:t>
                </a:r>
              </a:p>
              <a:p>
                <a:pPr algn="ctr"/>
                <a:r>
                  <a:rPr lang="fr-FR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fr-FR" dirty="0"/>
                  <a:t>)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6CEC8C0-8CEE-4214-8579-35CA7A07E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625" y="3239380"/>
                <a:ext cx="1002197" cy="646331"/>
              </a:xfrm>
              <a:prstGeom prst="rect">
                <a:avLst/>
              </a:prstGeom>
              <a:blipFill>
                <a:blip r:embed="rId6"/>
                <a:stretch>
                  <a:fillRect l="-5455" t="-4717" r="-5455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6BCA78A-FB1A-40F7-8CB6-4303EECD1C34}"/>
                  </a:ext>
                </a:extLst>
              </p:cNvPr>
              <p:cNvSpPr/>
              <p:nvPr/>
            </p:nvSpPr>
            <p:spPr>
              <a:xfrm>
                <a:off x="6763565" y="1924436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6BCA78A-FB1A-40F7-8CB6-4303EECD1C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565" y="1924436"/>
                <a:ext cx="403260" cy="2916930"/>
              </a:xfrm>
              <a:prstGeom prst="rect">
                <a:avLst/>
              </a:prstGeom>
              <a:blipFill>
                <a:blip r:embed="rId7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38D419C1-855A-4E77-974D-5CB7DFDF37C3}"/>
                  </a:ext>
                </a:extLst>
              </p:cNvPr>
              <p:cNvSpPr txBox="1"/>
              <p:nvPr/>
            </p:nvSpPr>
            <p:spPr>
              <a:xfrm>
                <a:off x="7185288" y="319392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38D419C1-855A-4E77-974D-5CB7DFDF3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88" y="3193925"/>
                <a:ext cx="923636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0258F18-0898-4D97-855F-5CE4356BDDE4}"/>
              </a:ext>
            </a:extLst>
          </p:cNvPr>
          <p:cNvCxnSpPr>
            <a:cxnSpLocks/>
          </p:cNvCxnSpPr>
          <p:nvPr/>
        </p:nvCxnSpPr>
        <p:spPr>
          <a:xfrm flipV="1">
            <a:off x="7333645" y="1924435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space réservé du contenu 2">
                <a:extLst>
                  <a:ext uri="{FF2B5EF4-FFF2-40B4-BE49-F238E27FC236}">
                    <a16:creationId xmlns:a16="http://schemas.microsoft.com/office/drawing/2014/main" id="{272C88D7-F29D-4F59-B710-2FC15CF0C7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5899" y="2189606"/>
                <a:ext cx="3749503" cy="3020938"/>
              </a:xfrm>
            </p:spPr>
            <p:txBody>
              <a:bodyPr>
                <a:normAutofit/>
              </a:bodyPr>
              <a:lstStyle/>
              <a:p>
                <a:r>
                  <a:rPr lang="fr-FR" dirty="0" err="1"/>
                  <a:t>Encoding</a:t>
                </a:r>
                <a:r>
                  <a:rPr lang="fr-FR" dirty="0"/>
                  <a:t>: compression</a:t>
                </a:r>
              </a:p>
              <a:p>
                <a:pPr lvl="1"/>
                <a:r>
                  <a:rPr lang="fr-FR" dirty="0"/>
                  <a:t>Latent </a:t>
                </a:r>
                <a:r>
                  <a:rPr lang="en-GB" dirty="0"/>
                  <a:t>representation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for each bar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Decoding: </a:t>
                </a:r>
                <a:r>
                  <a:rPr lang="fr-FR" dirty="0"/>
                  <a:t>reconstruction</a:t>
                </a:r>
              </a:p>
              <a:p>
                <a:endParaRPr lang="en-GB" dirty="0"/>
              </a:p>
              <a:p>
                <a:r>
                  <a:rPr lang="en-GB" dirty="0"/>
                  <a:t>Both are based on matrix products</a:t>
                </a:r>
              </a:p>
            </p:txBody>
          </p:sp>
        </mc:Choice>
        <mc:Fallback xmlns="">
          <p:sp>
            <p:nvSpPr>
              <p:cNvPr id="23" name="Espace réservé du contenu 2">
                <a:extLst>
                  <a:ext uri="{FF2B5EF4-FFF2-40B4-BE49-F238E27FC236}">
                    <a16:creationId xmlns:a16="http://schemas.microsoft.com/office/drawing/2014/main" id="{272C88D7-F29D-4F59-B710-2FC15CF0C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5899" y="2189606"/>
                <a:ext cx="3749503" cy="3020938"/>
              </a:xfrm>
              <a:blipFill>
                <a:blip r:embed="rId9"/>
                <a:stretch>
                  <a:fillRect l="-1463" t="-1613" b="-36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6520F8F-7574-42CE-BAD1-A3669A5F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59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399700CC-02E9-43A1-9FB9-92C1E5027C7E}"/>
                  </a:ext>
                </a:extLst>
              </p:cNvPr>
              <p:cNvSpPr txBox="1"/>
              <p:nvPr/>
            </p:nvSpPr>
            <p:spPr>
              <a:xfrm>
                <a:off x="3768878" y="3249417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399700CC-02E9-43A1-9FB9-92C1E502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878" y="3249417"/>
                <a:ext cx="9236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E030040-9607-48CA-8C4D-C0D794DE7748}"/>
              </a:ext>
            </a:extLst>
          </p:cNvPr>
          <p:cNvCxnSpPr>
            <a:cxnSpLocks/>
          </p:cNvCxnSpPr>
          <p:nvPr/>
        </p:nvCxnSpPr>
        <p:spPr>
          <a:xfrm flipV="1">
            <a:off x="4375905" y="3076575"/>
            <a:ext cx="0" cy="715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24FEA3A-F6FA-4F4E-A61C-1322B9636177}"/>
                  </a:ext>
                </a:extLst>
              </p:cNvPr>
              <p:cNvSpPr/>
              <p:nvPr/>
            </p:nvSpPr>
            <p:spPr>
              <a:xfrm>
                <a:off x="2001579" y="5339338"/>
                <a:ext cx="5456366" cy="42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2000" dirty="0"/>
                  <a:t>Objective </a:t>
                </a:r>
                <a:r>
                  <a:rPr lang="fr-FR" sz="2000" dirty="0" err="1"/>
                  <a:t>function</a:t>
                </a:r>
                <a:r>
                  <a:rPr lang="fr-FR" sz="20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Ψ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24FEA3A-F6FA-4F4E-A61C-1322B9636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579" y="5339338"/>
                <a:ext cx="5456366" cy="428964"/>
              </a:xfrm>
              <a:prstGeom prst="rect">
                <a:avLst/>
              </a:prstGeom>
              <a:blipFill>
                <a:blip r:embed="rId11"/>
                <a:stretch>
                  <a:fillRect l="-1117" t="-7143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1592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48729B2-BAF5-4B40-B53E-CF78C6D15BAC}"/>
              </a:ext>
            </a:extLst>
          </p:cNvPr>
          <p:cNvSpPr/>
          <p:nvPr/>
        </p:nvSpPr>
        <p:spPr>
          <a:xfrm>
            <a:off x="6780422" y="1779061"/>
            <a:ext cx="665018" cy="770529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95268-B85D-4EC0-82F3-F494275DCB9F}"/>
              </a:ext>
            </a:extLst>
          </p:cNvPr>
          <p:cNvSpPr/>
          <p:nvPr/>
        </p:nvSpPr>
        <p:spPr>
          <a:xfrm>
            <a:off x="7756232" y="1873244"/>
            <a:ext cx="371318" cy="485872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9774131-640A-42C0-80EF-F04A657DF092}"/>
              </a:ext>
            </a:extLst>
          </p:cNvPr>
          <p:cNvSpPr/>
          <p:nvPr/>
        </p:nvSpPr>
        <p:spPr>
          <a:xfrm>
            <a:off x="8035566" y="1870079"/>
            <a:ext cx="591198" cy="557995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EBF9A25-AA2F-4E71-939C-B3169220DDE6}"/>
              </a:ext>
            </a:extLst>
          </p:cNvPr>
          <p:cNvSpPr/>
          <p:nvPr/>
        </p:nvSpPr>
        <p:spPr>
          <a:xfrm>
            <a:off x="8512718" y="1792215"/>
            <a:ext cx="1891406" cy="62456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B22E8-24BC-497D-AD36-22918347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56673"/>
          </a:xfrm>
        </p:spPr>
        <p:txBody>
          <a:bodyPr/>
          <a:lstStyle/>
          <a:p>
            <a:r>
              <a:rPr lang="fr-FR" dirty="0"/>
              <a:t>NTD </a:t>
            </a:r>
            <a:r>
              <a:rPr lang="fr-FR" dirty="0" err="1"/>
              <a:t>matricisation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0BA2F9-E41F-4479-B244-DD8CA20F5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33418"/>
                <a:ext cx="9601200" cy="3581400"/>
              </a:xfrm>
            </p:spPr>
            <p:txBody>
              <a:bodyPr/>
              <a:lstStyle/>
              <a:p>
                <a:r>
                  <a:rPr lang="fr-FR" dirty="0"/>
                  <a:t>NTD: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800" dirty="0">
                        <a:latin typeface="French Script MT" panose="03020402040607040605" pitchFamily="66" charset="0"/>
                      </a:rPr>
                      <m:t>X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fr-FR" sz="2800" dirty="0">
                        <a:latin typeface="French Script MT" panose="03020402040607040605" pitchFamily="66" charset="0"/>
                      </a:rPr>
                      <m:t>G</m:t>
                    </m:r>
                    <m:sSub>
                      <m:sSubPr>
                        <m:ctrlPr>
                          <a:rPr lang="fr-F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800" i="1" dirty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fr-F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800" i="1" dirty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fr-F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8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fr-FR" sz="2800" dirty="0"/>
                  <a:t> 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0BA2F9-E41F-4479-B244-DD8CA20F5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33418"/>
                <a:ext cx="9601200" cy="3581400"/>
              </a:xfrm>
              <a:blipFill>
                <a:blip r:embed="rId3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9A4FA61E-1CB2-48F6-9E4D-09D51131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60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814D78-DCE8-43C6-80BB-D0A65D172C1B}"/>
                  </a:ext>
                </a:extLst>
              </p:cNvPr>
              <p:cNvSpPr/>
              <p:nvPr/>
            </p:nvSpPr>
            <p:spPr>
              <a:xfrm>
                <a:off x="6172200" y="1833418"/>
                <a:ext cx="4219104" cy="5736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⟺</m:t>
                          </m:r>
                          <m:r>
                            <m:rPr>
                              <m:nor/>
                            </m:rPr>
                            <a:rPr lang="fr-FR" sz="2800" dirty="0">
                              <a:latin typeface="French Script MT" panose="03020402040607040605" pitchFamily="66" charset="0"/>
                            </a:rPr>
                            <m:t>X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  <m:r>
                        <a:rPr lang="fr-FR" sz="28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nor/>
                            </m:rPr>
                            <a:rPr lang="fr-FR" sz="2800" dirty="0">
                              <a:latin typeface="French Script MT" panose="03020402040607040605" pitchFamily="66" charset="0"/>
                            </a:rPr>
                            <m:t>G</m:t>
                          </m:r>
                        </m:e>
                        <m:sub>
                          <m:d>
                            <m:dPr>
                              <m:ctrlP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sSup>
                        <m:sSup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fr-FR" sz="28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  <m:sup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5814D78-DCE8-43C6-80BB-D0A65D172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33418"/>
                <a:ext cx="4219104" cy="5736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0F03FBA-DB61-454E-852F-93C84DC155C4}"/>
              </a:ext>
            </a:extLst>
          </p:cNvPr>
          <p:cNvSpPr/>
          <p:nvPr/>
        </p:nvSpPr>
        <p:spPr>
          <a:xfrm>
            <a:off x="6059052" y="3104825"/>
            <a:ext cx="2107756" cy="40011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r>
              <a:rPr lang="fr-FR" sz="2000" dirty="0"/>
              <a:t>Barwise TF matrix</a:t>
            </a:r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BB32412A-4F09-4741-ABF1-C941A88587B1}"/>
              </a:ext>
            </a:extLst>
          </p:cNvPr>
          <p:cNvSpPr/>
          <p:nvPr/>
        </p:nvSpPr>
        <p:spPr>
          <a:xfrm rot="10800000">
            <a:off x="7002094" y="2549129"/>
            <a:ext cx="221673" cy="554889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B2597-62B0-493A-A942-7FEE4CF28892}"/>
              </a:ext>
            </a:extLst>
          </p:cNvPr>
          <p:cNvSpPr/>
          <p:nvPr/>
        </p:nvSpPr>
        <p:spPr>
          <a:xfrm>
            <a:off x="7054823" y="615712"/>
            <a:ext cx="1773242" cy="707886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none">
            <a:spAutoFit/>
          </a:bodyPr>
          <a:lstStyle/>
          <a:p>
            <a:pPr algn="ctr"/>
            <a:r>
              <a:rPr lang="fr-FR" sz="2000" dirty="0"/>
              <a:t>Latent </a:t>
            </a:r>
          </a:p>
          <a:p>
            <a:pPr algn="ctr"/>
            <a:r>
              <a:rPr lang="fr-FR" sz="2000" dirty="0" err="1"/>
              <a:t>representation</a:t>
            </a:r>
            <a:endParaRPr lang="fr-FR" sz="2000" dirty="0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51D0E9D1-30C1-44F9-A886-54591D48746D}"/>
              </a:ext>
            </a:extLst>
          </p:cNvPr>
          <p:cNvSpPr/>
          <p:nvPr/>
        </p:nvSpPr>
        <p:spPr>
          <a:xfrm>
            <a:off x="7830608" y="1317951"/>
            <a:ext cx="221673" cy="554889"/>
          </a:xfrm>
          <a:prstGeom prst="down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9DB09-EF49-421F-8525-D57FEFE4262D}"/>
              </a:ext>
            </a:extLst>
          </p:cNvPr>
          <p:cNvSpPr/>
          <p:nvPr/>
        </p:nvSpPr>
        <p:spPr>
          <a:xfrm>
            <a:off x="5522896" y="2420581"/>
            <a:ext cx="1922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"</a:t>
            </a:r>
            <a:r>
              <a:rPr lang="fr-FR" sz="2000" dirty="0" err="1"/>
              <a:t>Matricisation</a:t>
            </a:r>
            <a:r>
              <a:rPr lang="fr-FR" sz="2000" dirty="0"/>
              <a:t>"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0748793-1958-4704-B8BB-0666CE73AFCE}"/>
              </a:ext>
            </a:extLst>
          </p:cNvPr>
          <p:cNvSpPr txBox="1"/>
          <p:nvPr/>
        </p:nvSpPr>
        <p:spPr>
          <a:xfrm>
            <a:off x="5952885" y="3499835"/>
            <a:ext cx="3045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("</a:t>
            </a:r>
            <a:r>
              <a:rPr lang="fr-FR" sz="1600" dirty="0" err="1"/>
              <a:t>unfolding</a:t>
            </a:r>
            <a:r>
              <a:rPr lang="fr-FR" sz="1600" dirty="0"/>
              <a:t>" of the </a:t>
            </a:r>
            <a:r>
              <a:rPr lang="fr-FR" sz="1600" dirty="0" err="1"/>
              <a:t>tensor</a:t>
            </a:r>
            <a:r>
              <a:rPr lang="fr-FR" sz="1600" dirty="0"/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D9975E-296D-4DFD-93A7-07BFA4EA95F5}"/>
              </a:ext>
            </a:extLst>
          </p:cNvPr>
          <p:cNvSpPr/>
          <p:nvPr/>
        </p:nvSpPr>
        <p:spPr>
          <a:xfrm>
            <a:off x="8888382" y="3096692"/>
            <a:ext cx="2084418" cy="40011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none">
            <a:spAutoFit/>
          </a:bodyPr>
          <a:lstStyle/>
          <a:p>
            <a:pPr algn="ctr"/>
            <a:r>
              <a:rPr lang="fr-FR" sz="2000" dirty="0"/>
              <a:t>2 matrix </a:t>
            </a:r>
            <a:r>
              <a:rPr lang="fr-FR" sz="2000" dirty="0" err="1"/>
              <a:t>products</a:t>
            </a:r>
            <a:endParaRPr lang="fr-FR" sz="2000" dirty="0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73F86C2F-62DA-4F4E-A7D6-F82CEF6F060F}"/>
              </a:ext>
            </a:extLst>
          </p:cNvPr>
          <p:cNvSpPr/>
          <p:nvPr/>
        </p:nvSpPr>
        <p:spPr>
          <a:xfrm rot="8747755">
            <a:off x="8544984" y="2351608"/>
            <a:ext cx="255215" cy="765254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4223BC1C-6875-4CD0-B593-2FB44F4BA8C3}"/>
              </a:ext>
            </a:extLst>
          </p:cNvPr>
          <p:cNvSpPr/>
          <p:nvPr/>
        </p:nvSpPr>
        <p:spPr>
          <a:xfrm rot="10648828">
            <a:off x="9333337" y="2436914"/>
            <a:ext cx="229975" cy="63593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D711296-204B-4724-BFDB-DF64F456D1F0}"/>
              </a:ext>
            </a:extLst>
          </p:cNvPr>
          <p:cNvSpPr txBox="1"/>
          <p:nvPr/>
        </p:nvSpPr>
        <p:spPr>
          <a:xfrm>
            <a:off x="8643959" y="1189973"/>
            <a:ext cx="1866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Kronecker </a:t>
            </a:r>
            <a:r>
              <a:rPr lang="fr-FR" sz="1600" dirty="0" err="1"/>
              <a:t>product</a:t>
            </a:r>
            <a:endParaRPr lang="fr-FR" sz="1600" dirty="0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688FA25F-AB00-4D75-95AE-FFF54ABC39C2}"/>
              </a:ext>
            </a:extLst>
          </p:cNvPr>
          <p:cNvSpPr/>
          <p:nvPr/>
        </p:nvSpPr>
        <p:spPr>
          <a:xfrm>
            <a:off x="9316724" y="1460933"/>
            <a:ext cx="116034" cy="49662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CCE5CD-1793-44F2-8A49-9E95DA71BADC}"/>
                  </a:ext>
                </a:extLst>
              </p:cNvPr>
              <p:cNvSpPr/>
              <p:nvPr/>
            </p:nvSpPr>
            <p:spPr>
              <a:xfrm>
                <a:off x="1371600" y="4643583"/>
                <a:ext cx="3302638" cy="1191491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sz="2800" dirty="0">
                              <a:latin typeface="French Script MT" panose="03020402040607040605" pitchFamily="66" charset="0"/>
                            </a:rPr>
                            <m:t>X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lang="fr-FR" sz="2800" dirty="0"/>
              </a:p>
              <a:p>
                <a:pPr algn="ctr"/>
                <a:r>
                  <a:rPr lang="fr-FR" dirty="0"/>
                  <a:t>(Barwise TF)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CCE5CD-1793-44F2-8A49-9E95DA71B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643583"/>
                <a:ext cx="3302638" cy="11914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998F5DE-347B-40EC-978D-76A4DC8F58DE}"/>
                  </a:ext>
                </a:extLst>
              </p:cNvPr>
              <p:cNvSpPr/>
              <p:nvPr/>
            </p:nvSpPr>
            <p:spPr>
              <a:xfrm>
                <a:off x="4816833" y="5054662"/>
                <a:ext cx="4122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998F5DE-347B-40EC-978D-76A4DC8F5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833" y="5054662"/>
                <a:ext cx="4122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90045DB-C411-4460-861B-88EC2D4ABD87}"/>
                  </a:ext>
                </a:extLst>
              </p:cNvPr>
              <p:cNvSpPr/>
              <p:nvPr/>
            </p:nvSpPr>
            <p:spPr>
              <a:xfrm>
                <a:off x="5407941" y="4643583"/>
                <a:ext cx="955418" cy="1191491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90045DB-C411-4460-861B-88EC2D4AB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941" y="4643583"/>
                <a:ext cx="955418" cy="11914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1F3B62-25DC-4516-BEB8-2E11B73FA530}"/>
                  </a:ext>
                </a:extLst>
              </p:cNvPr>
              <p:cNvSpPr/>
              <p:nvPr/>
            </p:nvSpPr>
            <p:spPr>
              <a:xfrm>
                <a:off x="6619352" y="4643583"/>
                <a:ext cx="1508197" cy="955418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FR" sz="2800" dirty="0">
                            <a:latin typeface="French Script MT" panose="03020402040607040605" pitchFamily="66" charset="0"/>
                          </a:rPr>
                          <m:t>G</m:t>
                        </m:r>
                      </m:e>
                      <m:sub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</m:oMath>
                </a14:m>
                <a:endParaRPr lang="fr-FR" sz="28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1F3B62-25DC-4516-BEB8-2E11B73FA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352" y="4643583"/>
                <a:ext cx="1508197" cy="9554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6E78C2B-F2D7-4BBB-8905-1C7C20711A5C}"/>
                  </a:ext>
                </a:extLst>
              </p:cNvPr>
              <p:cNvSpPr/>
              <p:nvPr/>
            </p:nvSpPr>
            <p:spPr>
              <a:xfrm>
                <a:off x="8383542" y="4641273"/>
                <a:ext cx="3302639" cy="1508196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⊗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e>
                      <m:sup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6E78C2B-F2D7-4BBB-8905-1C7C20711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542" y="4641273"/>
                <a:ext cx="3302639" cy="15081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29B-ABE0-4FD9-8EC3-8505C7D088C0}"/>
              </a:ext>
            </a:extLst>
          </p:cNvPr>
          <p:cNvSpPr/>
          <p:nvPr/>
        </p:nvSpPr>
        <p:spPr>
          <a:xfrm>
            <a:off x="2116857" y="3875441"/>
            <a:ext cx="1902690" cy="1191491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04F604-5F48-4D82-AAF2-AB99F0E78B76}"/>
              </a:ext>
            </a:extLst>
          </p:cNvPr>
          <p:cNvSpPr/>
          <p:nvPr/>
        </p:nvSpPr>
        <p:spPr>
          <a:xfrm>
            <a:off x="1964457" y="3981654"/>
            <a:ext cx="1902690" cy="1191491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B7D38E-E1A9-4169-913A-F8461950645E}"/>
              </a:ext>
            </a:extLst>
          </p:cNvPr>
          <p:cNvSpPr/>
          <p:nvPr/>
        </p:nvSpPr>
        <p:spPr>
          <a:xfrm>
            <a:off x="1812057" y="4087870"/>
            <a:ext cx="1902690" cy="1191491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EE7D8C-335B-426A-9511-F96893F799AF}"/>
              </a:ext>
            </a:extLst>
          </p:cNvPr>
          <p:cNvSpPr/>
          <p:nvPr/>
        </p:nvSpPr>
        <p:spPr>
          <a:xfrm>
            <a:off x="1659657" y="4203322"/>
            <a:ext cx="1902690" cy="1191491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DD17831-7B05-47E6-AF93-B78B43215CC4}"/>
                  </a:ext>
                </a:extLst>
              </p:cNvPr>
              <p:cNvSpPr/>
              <p:nvPr/>
            </p:nvSpPr>
            <p:spPr>
              <a:xfrm>
                <a:off x="1511877" y="4321088"/>
                <a:ext cx="1902690" cy="1191491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800" dirty="0">
                          <a:latin typeface="French Script MT" panose="03020402040607040605" pitchFamily="66" charset="0"/>
                        </a:rPr>
                        <m:t>X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DD17831-7B05-47E6-AF93-B78B43215C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877" y="4321088"/>
                <a:ext cx="1902690" cy="11914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F51900AD-768B-4D46-B11E-D85A8D3EDDA2}"/>
              </a:ext>
            </a:extLst>
          </p:cNvPr>
          <p:cNvCxnSpPr>
            <a:cxnSpLocks/>
          </p:cNvCxnSpPr>
          <p:nvPr/>
        </p:nvCxnSpPr>
        <p:spPr>
          <a:xfrm>
            <a:off x="1618086" y="5664979"/>
            <a:ext cx="1727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931232CD-7043-4A48-9A64-7CF408057F15}"/>
                  </a:ext>
                </a:extLst>
              </p:cNvPr>
              <p:cNvSpPr txBox="1"/>
              <p:nvPr/>
            </p:nvSpPr>
            <p:spPr>
              <a:xfrm>
                <a:off x="1964457" y="563015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931232CD-7043-4A48-9A64-7CF408057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457" y="5630155"/>
                <a:ext cx="92363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1E53D2D-9824-4B96-B732-8D5F8354D9C8}"/>
              </a:ext>
            </a:extLst>
          </p:cNvPr>
          <p:cNvCxnSpPr>
            <a:cxnSpLocks/>
          </p:cNvCxnSpPr>
          <p:nvPr/>
        </p:nvCxnSpPr>
        <p:spPr>
          <a:xfrm flipV="1">
            <a:off x="1401033" y="4396136"/>
            <a:ext cx="0" cy="1041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D0BC7FA-54CE-48FD-9F32-BCC854B631A6}"/>
              </a:ext>
            </a:extLst>
          </p:cNvPr>
          <p:cNvCxnSpPr>
            <a:cxnSpLocks/>
          </p:cNvCxnSpPr>
          <p:nvPr/>
        </p:nvCxnSpPr>
        <p:spPr>
          <a:xfrm flipV="1">
            <a:off x="1495703" y="3796995"/>
            <a:ext cx="454890" cy="35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6E7509F9-FC60-4344-9711-1226F890F3F3}"/>
                  </a:ext>
                </a:extLst>
              </p:cNvPr>
              <p:cNvSpPr txBox="1"/>
              <p:nvPr/>
            </p:nvSpPr>
            <p:spPr>
              <a:xfrm>
                <a:off x="1156268" y="366774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6E7509F9-FC60-4344-9711-1226F890F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68" y="3667745"/>
                <a:ext cx="92363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62DCD289-8D17-44A3-B7E0-154E0BC4F808}"/>
              </a:ext>
            </a:extLst>
          </p:cNvPr>
          <p:cNvSpPr/>
          <p:nvPr/>
        </p:nvSpPr>
        <p:spPr>
          <a:xfrm>
            <a:off x="5062615" y="4519356"/>
            <a:ext cx="99289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2262289-8407-4020-8E53-604C1B62A218}"/>
                  </a:ext>
                </a:extLst>
              </p:cNvPr>
              <p:cNvSpPr/>
              <p:nvPr/>
            </p:nvSpPr>
            <p:spPr>
              <a:xfrm>
                <a:off x="7131538" y="3812267"/>
                <a:ext cx="4229637" cy="1817205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sz="2800" dirty="0">
                              <a:latin typeface="French Script MT" panose="03020402040607040605" pitchFamily="66" charset="0"/>
                            </a:rPr>
                            <m:t>X</m:t>
                          </m:r>
                        </m:e>
                        <m:sub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2262289-8407-4020-8E53-604C1B62A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538" y="3812267"/>
                <a:ext cx="4229637" cy="18172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F2020430-7762-49EA-9C1F-F54045424ABC}"/>
              </a:ext>
            </a:extLst>
          </p:cNvPr>
          <p:cNvCxnSpPr>
            <a:cxnSpLocks/>
          </p:cNvCxnSpPr>
          <p:nvPr/>
        </p:nvCxnSpPr>
        <p:spPr>
          <a:xfrm flipV="1">
            <a:off x="6996761" y="3903202"/>
            <a:ext cx="0" cy="174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C4FC7457-51EE-425A-971F-C31990D3A316}"/>
                  </a:ext>
                </a:extLst>
              </p:cNvPr>
              <p:cNvSpPr txBox="1"/>
              <p:nvPr/>
            </p:nvSpPr>
            <p:spPr>
              <a:xfrm>
                <a:off x="6624569" y="4508254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C4FC7457-51EE-425A-971F-C31990D3A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69" y="4508254"/>
                <a:ext cx="33711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729895E-6BA4-4DC8-976B-DAE8985F59E9}"/>
                  </a:ext>
                </a:extLst>
              </p:cNvPr>
              <p:cNvSpPr/>
              <p:nvPr/>
            </p:nvSpPr>
            <p:spPr>
              <a:xfrm>
                <a:off x="1011365" y="4749918"/>
                <a:ext cx="3757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729895E-6BA4-4DC8-976B-DAE8985F5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65" y="4749918"/>
                <a:ext cx="375744" cy="369332"/>
              </a:xfrm>
              <a:prstGeom prst="rect">
                <a:avLst/>
              </a:prstGeom>
              <a:blipFill>
                <a:blip r:embed="rId1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76C1FFFE-CE70-460D-80C5-33F2E96BDED9}"/>
              </a:ext>
            </a:extLst>
          </p:cNvPr>
          <p:cNvSpPr/>
          <p:nvPr/>
        </p:nvSpPr>
        <p:spPr>
          <a:xfrm>
            <a:off x="6521923" y="4526094"/>
            <a:ext cx="1663260" cy="123117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0557C4B-657B-42B2-85BB-0AF5AF11B7A9}"/>
              </a:ext>
            </a:extLst>
          </p:cNvPr>
          <p:cNvSpPr/>
          <p:nvPr/>
        </p:nvSpPr>
        <p:spPr>
          <a:xfrm>
            <a:off x="5266488" y="6087767"/>
            <a:ext cx="2580764" cy="70788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/>
              <a:t>2 </a:t>
            </a:r>
            <a:r>
              <a:rPr lang="fr-FR" sz="2000" dirty="0" err="1"/>
              <a:t>fully-connected</a:t>
            </a:r>
            <a:r>
              <a:rPr lang="fr-FR" sz="2000" dirty="0"/>
              <a:t> </a:t>
            </a:r>
            <a:r>
              <a:rPr lang="fr-FR" sz="2000" dirty="0" err="1"/>
              <a:t>layers</a:t>
            </a:r>
            <a:endParaRPr lang="fr-FR" sz="2000" dirty="0"/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0A49D3EF-034D-4209-9CA9-94CABE25B9EB}"/>
              </a:ext>
            </a:extLst>
          </p:cNvPr>
          <p:cNvSpPr/>
          <p:nvPr/>
        </p:nvSpPr>
        <p:spPr>
          <a:xfrm rot="14339414">
            <a:off x="7928827" y="6220727"/>
            <a:ext cx="291073" cy="407127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5564BD9-3283-443A-83C3-28BF4A5FAF14}"/>
              </a:ext>
            </a:extLst>
          </p:cNvPr>
          <p:cNvSpPr/>
          <p:nvPr/>
        </p:nvSpPr>
        <p:spPr>
          <a:xfrm>
            <a:off x="8206012" y="4486531"/>
            <a:ext cx="3717650" cy="19366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Flèche : bas 48">
            <a:extLst>
              <a:ext uri="{FF2B5EF4-FFF2-40B4-BE49-F238E27FC236}">
                <a16:creationId xmlns:a16="http://schemas.microsoft.com/office/drawing/2014/main" id="{656D9AEA-5A96-443C-A233-13367E9A9269}"/>
              </a:ext>
            </a:extLst>
          </p:cNvPr>
          <p:cNvSpPr/>
          <p:nvPr/>
        </p:nvSpPr>
        <p:spPr>
          <a:xfrm rot="10800000">
            <a:off x="7223767" y="5784427"/>
            <a:ext cx="345124" cy="279103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3DDD6BD1-E142-4313-ACE7-FD6F44D91FFE}"/>
              </a:ext>
            </a:extLst>
          </p:cNvPr>
          <p:cNvCxnSpPr>
            <a:cxnSpLocks/>
          </p:cNvCxnSpPr>
          <p:nvPr/>
        </p:nvCxnSpPr>
        <p:spPr>
          <a:xfrm>
            <a:off x="7131538" y="5753437"/>
            <a:ext cx="4229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B946FB4D-666F-4EF7-9EFF-38FFA954E100}"/>
                  </a:ext>
                </a:extLst>
              </p:cNvPr>
              <p:cNvSpPr txBox="1"/>
              <p:nvPr/>
            </p:nvSpPr>
            <p:spPr>
              <a:xfrm>
                <a:off x="8798874" y="5776467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B946FB4D-666F-4EF7-9EFF-38FFA954E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874" y="5776467"/>
                <a:ext cx="923636" cy="369332"/>
              </a:xfrm>
              <a:prstGeom prst="rect">
                <a:avLst/>
              </a:prstGeom>
              <a:blipFill>
                <a:blip r:embed="rId1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98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3" grpId="0" animBg="1"/>
      <p:bldP spid="16" grpId="0" animBg="1"/>
      <p:bldP spid="5" grpId="0"/>
      <p:bldP spid="6" grpId="0" animBg="1"/>
      <p:bldP spid="7" grpId="0" animBg="1"/>
      <p:bldP spid="9" grpId="0" animBg="1"/>
      <p:bldP spid="10" grpId="0" animBg="1"/>
      <p:bldP spid="11" grpId="1"/>
      <p:bldP spid="11" grpId="2"/>
      <p:bldP spid="12" grpId="0"/>
      <p:bldP spid="14" grpId="0" animBg="1"/>
      <p:bldP spid="15" grpId="0" animBg="1"/>
      <p:bldP spid="17" grpId="0" animBg="1"/>
      <p:bldP spid="18" grpId="0"/>
      <p:bldP spid="18" grpId="1"/>
      <p:bldP spid="21" grpId="0" animBg="1"/>
      <p:bldP spid="21" grpId="1" animBg="1"/>
      <p:bldP spid="22" grpId="0" animBg="1"/>
      <p:bldP spid="23" grpId="0"/>
      <p:bldP spid="24" grpId="0" animBg="1"/>
      <p:bldP spid="25" grpId="0" animBg="1"/>
      <p:bldP spid="26" grpId="0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5" grpId="0"/>
      <p:bldP spid="35" grpId="1"/>
      <p:bldP spid="38" grpId="0"/>
      <p:bldP spid="38" grpId="1"/>
      <p:bldP spid="39" grpId="0" animBg="1"/>
      <p:bldP spid="39" grpId="1" animBg="1"/>
      <p:bldP spid="40" grpId="0" animBg="1"/>
      <p:bldP spid="40" grpId="1" animBg="1"/>
      <p:bldP spid="43" grpId="0"/>
      <p:bldP spid="43" grpId="1"/>
      <p:bldP spid="19" grpId="0"/>
      <p:bldP spid="19" grpId="1"/>
      <p:bldP spid="45" grpId="0" animBg="1"/>
      <p:bldP spid="46" grpId="0" animBg="1"/>
      <p:bldP spid="47" grpId="0" animBg="1"/>
      <p:bldP spid="48" grpId="0" animBg="1"/>
      <p:bldP spid="49" grpId="0" animBg="1"/>
      <p:bldP spid="41" grpId="0"/>
      <p:bldP spid="41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BC21F-CA4F-4258-9DE1-3D800DBD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773" y="41287"/>
            <a:ext cx="9601200" cy="1485900"/>
          </a:xfrm>
        </p:spPr>
        <p:txBody>
          <a:bodyPr>
            <a:normAutofit/>
          </a:bodyPr>
          <a:lstStyle/>
          <a:p>
            <a:r>
              <a:rPr lang="fr-FR" dirty="0"/>
              <a:t>NTD-</a:t>
            </a:r>
            <a:r>
              <a:rPr lang="fr-FR" dirty="0" err="1"/>
              <a:t>AutoEncoder</a:t>
            </a:r>
            <a:r>
              <a:rPr lang="fr-FR" dirty="0"/>
              <a:t>:</a:t>
            </a:r>
            <a:br>
              <a:rPr lang="fr-FR" dirty="0"/>
            </a:br>
            <a:r>
              <a:rPr lang="fr-FR" sz="3600" dirty="0"/>
              <a:t>NTD as a 2-layer </a:t>
            </a:r>
            <a:r>
              <a:rPr lang="fr-FR" sz="3600" dirty="0" err="1"/>
              <a:t>decoder</a:t>
            </a:r>
            <a:endParaRPr lang="fr-FR" dirty="0"/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6822E3C5-6808-44B2-811C-52D27819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4505C15-CF4A-47E5-95E9-139EE4EC63A7}"/>
                  </a:ext>
                </a:extLst>
              </p:cNvPr>
              <p:cNvSpPr/>
              <p:nvPr/>
            </p:nvSpPr>
            <p:spPr>
              <a:xfrm>
                <a:off x="2328875" y="2147549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4505C15-CF4A-47E5-95E9-139EE4EC6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875" y="2147549"/>
                <a:ext cx="403260" cy="2916930"/>
              </a:xfrm>
              <a:prstGeom prst="rect">
                <a:avLst/>
              </a:prstGeom>
              <a:blipFill>
                <a:blip r:embed="rId3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FB9F7A4-5BE1-4D21-8D6C-BDDBD104324E}"/>
                  </a:ext>
                </a:extLst>
              </p:cNvPr>
              <p:cNvSpPr txBox="1"/>
              <p:nvPr/>
            </p:nvSpPr>
            <p:spPr>
              <a:xfrm>
                <a:off x="1207315" y="3421348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FB9F7A4-5BE1-4D21-8D6C-BDDBD104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15" y="3421348"/>
                <a:ext cx="92363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AFC1C63D-522A-43D0-9197-0B0DE45C6D1D}"/>
              </a:ext>
            </a:extLst>
          </p:cNvPr>
          <p:cNvCxnSpPr>
            <a:cxnSpLocks/>
          </p:cNvCxnSpPr>
          <p:nvPr/>
        </p:nvCxnSpPr>
        <p:spPr>
          <a:xfrm flipV="1">
            <a:off x="2112571" y="2147549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Groupe 6">
            <a:extLst>
              <a:ext uri="{FF2B5EF4-FFF2-40B4-BE49-F238E27FC236}">
                <a16:creationId xmlns:a16="http://schemas.microsoft.com/office/drawing/2014/main" id="{5D2131D6-BB3F-4054-8C71-79574242B314}"/>
              </a:ext>
            </a:extLst>
          </p:cNvPr>
          <p:cNvGrpSpPr/>
          <p:nvPr/>
        </p:nvGrpSpPr>
        <p:grpSpPr>
          <a:xfrm>
            <a:off x="3047973" y="2266736"/>
            <a:ext cx="2557382" cy="2752442"/>
            <a:chOff x="3109052" y="2542032"/>
            <a:chExt cx="1357792" cy="2468880"/>
          </a:xfrm>
        </p:grpSpPr>
        <p:sp>
          <p:nvSpPr>
            <p:cNvPr id="8" name="Trapèze 7">
              <a:extLst>
                <a:ext uri="{FF2B5EF4-FFF2-40B4-BE49-F238E27FC236}">
                  <a16:creationId xmlns:a16="http://schemas.microsoft.com/office/drawing/2014/main" id="{4DAB6173-83FE-4C0A-B7E6-DF00DA9FFC75}"/>
                </a:ext>
              </a:extLst>
            </p:cNvPr>
            <p:cNvSpPr/>
            <p:nvPr/>
          </p:nvSpPr>
          <p:spPr>
            <a:xfrm rot="5400000">
              <a:off x="2553508" y="3097576"/>
              <a:ext cx="2468880" cy="1357792"/>
            </a:xfrm>
            <a:prstGeom prst="trapezoid">
              <a:avLst>
                <a:gd name="adj" fmla="val 4127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4107D69-6B6C-42CB-AE47-747CCF57BFC3}"/>
                    </a:ext>
                  </a:extLst>
                </p:cNvPr>
                <p:cNvSpPr/>
                <p:nvPr/>
              </p:nvSpPr>
              <p:spPr>
                <a:xfrm>
                  <a:off x="3438465" y="3550659"/>
                  <a:ext cx="522736" cy="5797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fr-FR" dirty="0"/>
                    <a:t>Encoder</a:t>
                  </a:r>
                </a:p>
                <a:p>
                  <a:pPr algn="ctr"/>
                  <a:r>
                    <a:rPr lang="fr-FR" dirty="0"/>
                    <a:t>(</a:t>
                  </a:r>
                  <a14:m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fr-FR" dirty="0"/>
                    <a:t>)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4107D69-6B6C-42CB-AE47-747CCF57B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8465" y="3550659"/>
                  <a:ext cx="522736" cy="579745"/>
                </a:xfrm>
                <a:prstGeom prst="rect">
                  <a:avLst/>
                </a:prstGeom>
                <a:blipFill>
                  <a:blip r:embed="rId5"/>
                  <a:stretch>
                    <a:fillRect l="-6211" t="-4717" r="-5590" b="-141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F557608-69FD-46C0-8E0D-8294BD57A6DE}"/>
                  </a:ext>
                </a:extLst>
              </p:cNvPr>
              <p:cNvSpPr/>
              <p:nvPr/>
            </p:nvSpPr>
            <p:spPr>
              <a:xfrm>
                <a:off x="5842291" y="3274040"/>
                <a:ext cx="403260" cy="740664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F557608-69FD-46C0-8E0D-8294BD57A6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291" y="3274040"/>
                <a:ext cx="403260" cy="740664"/>
              </a:xfrm>
              <a:prstGeom prst="rect">
                <a:avLst/>
              </a:prstGeom>
              <a:blipFill>
                <a:blip r:embed="rId6"/>
                <a:stretch>
                  <a:fillRect l="-8696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rapèze 10">
            <a:extLst>
              <a:ext uri="{FF2B5EF4-FFF2-40B4-BE49-F238E27FC236}">
                <a16:creationId xmlns:a16="http://schemas.microsoft.com/office/drawing/2014/main" id="{97A7E3BD-FC2F-43C3-84D2-3F5B99D7265F}"/>
              </a:ext>
            </a:extLst>
          </p:cNvPr>
          <p:cNvSpPr/>
          <p:nvPr/>
        </p:nvSpPr>
        <p:spPr>
          <a:xfrm rot="16200000">
            <a:off x="7201661" y="3116246"/>
            <a:ext cx="2752441" cy="1071145"/>
          </a:xfrm>
          <a:prstGeom prst="trapezoid">
            <a:avLst>
              <a:gd name="adj" fmla="val 4229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6A1EAE7-3840-487A-B0A3-B7556F009F1F}"/>
                  </a:ext>
                </a:extLst>
              </p:cNvPr>
              <p:cNvSpPr/>
              <p:nvPr/>
            </p:nvSpPr>
            <p:spPr>
              <a:xfrm>
                <a:off x="9647696" y="2184492"/>
                <a:ext cx="403260" cy="2916930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6A1EAE7-3840-487A-B0A3-B7556F009F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696" y="2184492"/>
                <a:ext cx="403260" cy="2916930"/>
              </a:xfrm>
              <a:prstGeom prst="rect">
                <a:avLst/>
              </a:prstGeom>
              <a:blipFill>
                <a:blip r:embed="rId7"/>
                <a:stretch>
                  <a:fillRect l="-441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DFA512B-C5CC-4F6E-9C28-85B2FF39465D}"/>
                  </a:ext>
                </a:extLst>
              </p:cNvPr>
              <p:cNvSpPr txBox="1"/>
              <p:nvPr/>
            </p:nvSpPr>
            <p:spPr>
              <a:xfrm>
                <a:off x="10033337" y="3412111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𝑓𝑡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DFA512B-C5CC-4F6E-9C28-85B2FF394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337" y="3412111"/>
                <a:ext cx="923636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E69E90F-9376-48D1-9F5F-7049C5B91020}"/>
              </a:ext>
            </a:extLst>
          </p:cNvPr>
          <p:cNvCxnSpPr>
            <a:cxnSpLocks/>
          </p:cNvCxnSpPr>
          <p:nvPr/>
        </p:nvCxnSpPr>
        <p:spPr>
          <a:xfrm flipV="1">
            <a:off x="10190089" y="2147548"/>
            <a:ext cx="0" cy="2916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677A0499-189C-479A-8638-7ABDED7A4550}"/>
              </a:ext>
            </a:extLst>
          </p:cNvPr>
          <p:cNvSpPr/>
          <p:nvPr/>
        </p:nvSpPr>
        <p:spPr>
          <a:xfrm rot="11600816">
            <a:off x="6844881" y="2207498"/>
            <a:ext cx="359986" cy="8116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71CDFC8-11E3-48C8-AE67-379F0E7658E1}"/>
              </a:ext>
            </a:extLst>
          </p:cNvPr>
          <p:cNvSpPr txBox="1"/>
          <p:nvPr/>
        </p:nvSpPr>
        <p:spPr>
          <a:xfrm>
            <a:off x="6355983" y="1533965"/>
            <a:ext cx="528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Intialization</a:t>
            </a:r>
            <a:r>
              <a:rPr lang="fr-FR" dirty="0"/>
              <a:t>: NTD </a:t>
            </a:r>
            <a:r>
              <a:rPr lang="fr-FR" dirty="0" err="1"/>
              <a:t>results</a:t>
            </a:r>
            <a:r>
              <a:rPr lang="fr-FR" dirty="0"/>
              <a:t>,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sz="1600" dirty="0"/>
              <a:t>(… or in </a:t>
            </a:r>
            <a:r>
              <a:rPr lang="fr-FR" sz="1600" dirty="0" err="1"/>
              <a:t>between</a:t>
            </a:r>
            <a:r>
              <a:rPr lang="fr-FR" sz="1600" dirty="0"/>
              <a:t>)</a:t>
            </a:r>
            <a:endParaRPr lang="fr-FR" dirty="0"/>
          </a:p>
        </p:txBody>
      </p:sp>
      <p:sp>
        <p:nvSpPr>
          <p:cNvPr id="21" name="Trapèze 20">
            <a:extLst>
              <a:ext uri="{FF2B5EF4-FFF2-40B4-BE49-F238E27FC236}">
                <a16:creationId xmlns:a16="http://schemas.microsoft.com/office/drawing/2014/main" id="{A6837778-5751-4339-87CD-94C06196F5BA}"/>
              </a:ext>
            </a:extLst>
          </p:cNvPr>
          <p:cNvSpPr/>
          <p:nvPr/>
        </p:nvSpPr>
        <p:spPr>
          <a:xfrm rot="16200000">
            <a:off x="6279471" y="3112730"/>
            <a:ext cx="1485899" cy="1071145"/>
          </a:xfrm>
          <a:prstGeom prst="trapezoid">
            <a:avLst>
              <a:gd name="adj" fmla="val 4229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D02C7-FFB2-40DC-B52C-6F2F9AEE97AA}"/>
                  </a:ext>
                </a:extLst>
              </p:cNvPr>
              <p:cNvSpPr/>
              <p:nvPr/>
            </p:nvSpPr>
            <p:spPr>
              <a:xfrm>
                <a:off x="6664102" y="3427478"/>
                <a:ext cx="750975" cy="5329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fr-FR" sz="2400" dirty="0">
                              <a:latin typeface="French Script MT" panose="03020402040607040605" pitchFamily="66" charset="0"/>
                            </a:rPr>
                            <m:t>G</m:t>
                          </m:r>
                        </m:e>
                        <m:sub>
                          <m:d>
                            <m:d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3D02C7-FFB2-40DC-B52C-6F2F9AEE9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02" y="3427478"/>
                <a:ext cx="750975" cy="5329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8ABE6C29-6E4B-49D0-A30B-3FAB6F815EB9}"/>
              </a:ext>
            </a:extLst>
          </p:cNvPr>
          <p:cNvCxnSpPr>
            <a:stCxn id="21" idx="2"/>
            <a:endCxn id="11" idx="0"/>
          </p:cNvCxnSpPr>
          <p:nvPr/>
        </p:nvCxnSpPr>
        <p:spPr>
          <a:xfrm>
            <a:off x="7557993" y="3648302"/>
            <a:ext cx="484316" cy="3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1198ECC-922A-4E9F-AFBA-A5D8B2FE483F}"/>
                  </a:ext>
                </a:extLst>
              </p:cNvPr>
              <p:cNvSpPr/>
              <p:nvPr/>
            </p:nvSpPr>
            <p:spPr>
              <a:xfrm>
                <a:off x="7535965" y="3177088"/>
                <a:ext cx="568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1198ECC-922A-4E9F-AFBA-A5D8B2FE4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965" y="3177088"/>
                <a:ext cx="568617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50089E8C-F1B6-450A-BBF0-6286BFC6B6AF}"/>
              </a:ext>
            </a:extLst>
          </p:cNvPr>
          <p:cNvSpPr/>
          <p:nvPr/>
        </p:nvSpPr>
        <p:spPr>
          <a:xfrm rot="7481731">
            <a:off x="7927953" y="1966723"/>
            <a:ext cx="390892" cy="6467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131C834-E22F-4EDE-A255-22E550E22AD3}"/>
                  </a:ext>
                </a:extLst>
              </p:cNvPr>
              <p:cNvSpPr/>
              <p:nvPr/>
            </p:nvSpPr>
            <p:spPr>
              <a:xfrm>
                <a:off x="7953004" y="3458291"/>
                <a:ext cx="11694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131C834-E22F-4EDE-A255-22E550E22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004" y="3458291"/>
                <a:ext cx="1169487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4B28BC60-90BB-4451-89A6-94A2FC04F278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 flipV="1">
            <a:off x="9113454" y="3642957"/>
            <a:ext cx="534242" cy="8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1F6D832-74FC-4A1E-ACFC-8925116E3914}"/>
                  </a:ext>
                </a:extLst>
              </p:cNvPr>
              <p:cNvSpPr/>
              <p:nvPr/>
            </p:nvSpPr>
            <p:spPr>
              <a:xfrm>
                <a:off x="9144027" y="3175623"/>
                <a:ext cx="568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1F6D832-74FC-4A1E-ACFC-8925116E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27" y="3175623"/>
                <a:ext cx="568617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74DA5EF-0049-4D11-9840-D85A9063D1F3}"/>
                  </a:ext>
                </a:extLst>
              </p:cNvPr>
              <p:cNvSpPr/>
              <p:nvPr/>
            </p:nvSpPr>
            <p:spPr>
              <a:xfrm>
                <a:off x="9520676" y="5382633"/>
                <a:ext cx="227127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fr-FR" dirty="0"/>
                  <a:t>: nonnegative activation </a:t>
                </a:r>
                <a:r>
                  <a:rPr lang="fr-FR" dirty="0" err="1"/>
                  <a:t>function</a:t>
                </a:r>
                <a:r>
                  <a:rPr lang="fr-FR" dirty="0"/>
                  <a:t> (</a:t>
                </a:r>
                <a:r>
                  <a:rPr lang="fr-FR" dirty="0" err="1"/>
                  <a:t>ReLU</a:t>
                </a:r>
                <a:r>
                  <a:rPr lang="fr-FR" dirty="0"/>
                  <a:t>, </a:t>
                </a:r>
                <a:r>
                  <a:rPr lang="fr-FR" dirty="0" err="1"/>
                  <a:t>sotfplus</a:t>
                </a:r>
                <a:r>
                  <a:rPr lang="fr-FR" dirty="0"/>
                  <a:t>, …)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74DA5EF-0049-4D11-9840-D85A9063D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676" y="5382633"/>
                <a:ext cx="2271270" cy="923330"/>
              </a:xfrm>
              <a:prstGeom prst="rect">
                <a:avLst/>
              </a:prstGeom>
              <a:blipFill>
                <a:blip r:embed="rId13"/>
                <a:stretch>
                  <a:fillRect l="-2419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7D189E1-0C51-40A6-929C-96DD1CD0E52B}"/>
              </a:ext>
            </a:extLst>
          </p:cNvPr>
          <p:cNvCxnSpPr>
            <a:cxnSpLocks/>
          </p:cNvCxnSpPr>
          <p:nvPr/>
        </p:nvCxnSpPr>
        <p:spPr>
          <a:xfrm>
            <a:off x="9375112" y="3806968"/>
            <a:ext cx="263547" cy="1575649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2B2250-4BFF-47AD-93DD-8630237D9334}"/>
                  </a:ext>
                </a:extLst>
              </p:cNvPr>
              <p:cNvSpPr/>
              <p:nvPr/>
            </p:nvSpPr>
            <p:spPr>
              <a:xfrm>
                <a:off x="3047973" y="5569045"/>
                <a:ext cx="7148399" cy="457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2000" dirty="0"/>
                  <a:t>Objective </a:t>
                </a:r>
                <a:r>
                  <a:rPr lang="fr-FR" sz="2000" dirty="0" err="1"/>
                  <a:t>function</a:t>
                </a:r>
                <a:r>
                  <a:rPr lang="fr-FR" sz="20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fr-FR" sz="20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fr-FR" sz="2000" dirty="0">
                            <a:latin typeface="French Script MT" panose="03020402040607040605" pitchFamily="66" charset="0"/>
                          </a:rPr>
                          <m:t>G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2000" dirty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2000" dirty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2000" dirty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fr-FR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2B2250-4BFF-47AD-93DD-8630237D9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73" y="5569045"/>
                <a:ext cx="7148399" cy="457176"/>
              </a:xfrm>
              <a:prstGeom prst="rect">
                <a:avLst/>
              </a:prstGeom>
              <a:blipFill>
                <a:blip r:embed="rId14"/>
                <a:stretch>
                  <a:fillRect l="-938"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65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968E1D-7427-4A24-A9AA-4C4B7D7C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982" y="288647"/>
            <a:ext cx="9601200" cy="773545"/>
          </a:xfrm>
        </p:spPr>
        <p:txBody>
          <a:bodyPr/>
          <a:lstStyle/>
          <a:p>
            <a:r>
              <a:rPr lang="fr-FR" dirty="0" err="1"/>
              <a:t>Exploratory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AE457AB6-675B-4BB9-B580-E5D91F1D28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118" y="1699496"/>
                <a:ext cx="10391663" cy="4959922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Segmentation:</a:t>
                </a:r>
              </a:p>
              <a:p>
                <a:pPr marL="0" indent="0">
                  <a:buNone/>
                </a:pPr>
                <a:r>
                  <a:rPr lang="fr-FR" dirty="0"/>
                  <a:t>        (RWC Pop)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Pattern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FR" dirty="0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fr-FR" dirty="0">
                            <a:latin typeface="French Script MT" panose="03020402040607040605" pitchFamily="66" charset="0"/>
                          </a:rPr>
                          <m:t>G</m:t>
                        </m:r>
                      </m:e>
                      <m:sub>
                        <m:r>
                          <m:rPr>
                            <m:nor/>
                          </m:rPr>
                          <a:rPr lang="fr-FR" dirty="0">
                            <a:latin typeface="French Script MT" panose="03020402040607040605" pitchFamily="66" charset="0"/>
                          </a:rPr>
                          <m:t>[::</m:t>
                        </m:r>
                        <m:r>
                          <m:rPr>
                            <m:nor/>
                          </m:rPr>
                          <a:rPr lang="fr-FR" dirty="0">
                            <a:latin typeface="French Script MT" panose="03020402040607040605" pitchFamily="66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fr-FR" dirty="0">
                            <a:latin typeface="French Script MT" panose="03020402040607040605" pitchFamily="66" charset="0"/>
                          </a:rPr>
                          <m:t>]</m:t>
                        </m:r>
                      </m:sub>
                    </m:sSub>
                    <m:r>
                      <a:rPr lang="fr-FR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nor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fr-FR" dirty="0">
                        <a:latin typeface="French Script MT" panose="03020402040607040605" pitchFamily="66" charset="0"/>
                      </a:rPr>
                      <m:t> 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pPr marL="0" indent="0">
                  <a:buNone/>
                </a:pPr>
                <a:r>
                  <a:rPr lang="fr-FR" dirty="0">
                    <a:sym typeface="Wingdings" panose="05000000000000000000" pitchFamily="2" charset="2"/>
                  </a:rPr>
                  <a:t>	 </a:t>
                </a:r>
                <a:r>
                  <a:rPr lang="fr-FR" dirty="0" err="1">
                    <a:sym typeface="Wingdings" panose="05000000000000000000" pitchFamily="2" charset="2"/>
                  </a:rPr>
                  <a:t>Empirical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t</a:t>
                </a:r>
                <a:r>
                  <a:rPr lang="fr-FR" dirty="0" err="1"/>
                  <a:t>rade</a:t>
                </a:r>
                <a:r>
                  <a:rPr lang="fr-FR" dirty="0"/>
                  <a:t>-off </a:t>
                </a:r>
                <a:r>
                  <a:rPr lang="fr-FR" dirty="0" err="1"/>
                  <a:t>between</a:t>
                </a:r>
                <a:r>
                  <a:rPr lang="fr-FR" dirty="0"/>
                  <a:t> segmentation performance and </a:t>
                </a:r>
                <a:r>
                  <a:rPr lang="fr-FR" dirty="0" err="1"/>
                  <a:t>interpretability</a:t>
                </a:r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AE457AB6-675B-4BB9-B580-E5D91F1D2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118" y="1699496"/>
                <a:ext cx="10391663" cy="4959922"/>
              </a:xfrm>
              <a:blipFill>
                <a:blip r:embed="rId9"/>
                <a:stretch>
                  <a:fillRect l="-528" t="-1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9939673-7F75-400E-A2F9-103CA118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62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35EE8FB9-2FAB-4718-84E1-D6D2A3A33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50984"/>
              </p:ext>
            </p:extLst>
          </p:nvPr>
        </p:nvGraphicFramePr>
        <p:xfrm>
          <a:off x="4587576" y="4529922"/>
          <a:ext cx="7027636" cy="1166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108">
                  <a:extLst>
                    <a:ext uri="{9D8B030D-6E8A-4147-A177-3AD203B41FA5}">
                      <a16:colId xmlns:a16="http://schemas.microsoft.com/office/drawing/2014/main" val="1810123781"/>
                    </a:ext>
                  </a:extLst>
                </a:gridCol>
                <a:gridCol w="2313108">
                  <a:extLst>
                    <a:ext uri="{9D8B030D-6E8A-4147-A177-3AD203B41FA5}">
                      <a16:colId xmlns:a16="http://schemas.microsoft.com/office/drawing/2014/main" val="1222627471"/>
                    </a:ext>
                  </a:extLst>
                </a:gridCol>
                <a:gridCol w="2401420">
                  <a:extLst>
                    <a:ext uri="{9D8B030D-6E8A-4147-A177-3AD203B41FA5}">
                      <a16:colId xmlns:a16="http://schemas.microsoft.com/office/drawing/2014/main" val="3624191828"/>
                    </a:ext>
                  </a:extLst>
                </a:gridCol>
              </a:tblGrid>
              <a:tr h="50259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NTD (original)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Decoder:</a:t>
                      </a:r>
                    </a:p>
                    <a:p>
                      <a:pPr algn="ctr"/>
                      <a:r>
                        <a:rPr lang="fr-FR" dirty="0"/>
                        <a:t>NTD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Decoder: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Random</a:t>
                      </a:r>
                      <a:r>
                        <a:rPr lang="fr-FR" dirty="0"/>
                        <a:t> init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252382"/>
                  </a:ext>
                </a:extLst>
              </a:tr>
              <a:tr h="52680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154541"/>
                  </a:ext>
                </a:extLst>
              </a:tr>
            </a:tbl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A72127F0-CA20-42D4-8D66-B491F7B444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953" y="884690"/>
            <a:ext cx="5363849" cy="3007928"/>
          </a:xfrm>
          <a:prstGeom prst="rect">
            <a:avLst/>
          </a:prstGeom>
        </p:spPr>
      </p:pic>
      <p:pic>
        <p:nvPicPr>
          <p:cNvPr id="4" name="intro_ntd_euc">
            <a:hlinkClick r:id="" action="ppaction://media"/>
            <a:extLst>
              <a:ext uri="{FF2B5EF4-FFF2-40B4-BE49-F238E27FC236}">
                <a16:creationId xmlns:a16="http://schemas.microsoft.com/office/drawing/2014/main" id="{CECDFB47-FE74-4510-B69A-D599A05431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45866" y="5232744"/>
            <a:ext cx="406400" cy="406400"/>
          </a:xfrm>
          <a:prstGeom prst="rect">
            <a:avLst/>
          </a:prstGeom>
        </p:spPr>
      </p:pic>
      <p:pic>
        <p:nvPicPr>
          <p:cNvPr id="10" name="ae_random_slides">
            <a:hlinkClick r:id="" action="ppaction://media"/>
            <a:extLst>
              <a:ext uri="{FF2B5EF4-FFF2-40B4-BE49-F238E27FC236}">
                <a16:creationId xmlns:a16="http://schemas.microsoft.com/office/drawing/2014/main" id="{8EE9FF8C-B562-4201-BBCB-9ECE51D82A6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270882" y="5243138"/>
            <a:ext cx="406400" cy="406400"/>
          </a:xfrm>
          <a:prstGeom prst="rect">
            <a:avLst/>
          </a:prstGeom>
        </p:spPr>
      </p:pic>
      <p:pic>
        <p:nvPicPr>
          <p:cNvPr id="6" name="aentd_slides">
            <a:hlinkClick r:id="" action="ppaction://media"/>
            <a:extLst>
              <a:ext uri="{FF2B5EF4-FFF2-40B4-BE49-F238E27FC236}">
                <a16:creationId xmlns:a16="http://schemas.microsoft.com/office/drawing/2014/main" id="{E614A8D6-1438-4E06-8CA8-0DE98399C0C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898194" y="52327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4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84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B180201-FB05-4EFE-834F-61B432164E98}"/>
              </a:ext>
            </a:extLst>
          </p:cNvPr>
          <p:cNvCxnSpPr>
            <a:cxnSpLocks/>
          </p:cNvCxnSpPr>
          <p:nvPr/>
        </p:nvCxnSpPr>
        <p:spPr>
          <a:xfrm>
            <a:off x="6006000" y="2662862"/>
            <a:ext cx="15627" cy="2740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D2A341-3B96-4C18-8F7F-B9843E5955F8}"/>
              </a:ext>
            </a:extLst>
          </p:cNvPr>
          <p:cNvSpPr/>
          <p:nvPr/>
        </p:nvSpPr>
        <p:spPr>
          <a:xfrm>
            <a:off x="4746000" y="362685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Music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C9A22A-41B1-4C12-A636-416E22ADF8C2}"/>
              </a:ext>
            </a:extLst>
          </p:cNvPr>
          <p:cNvSpPr/>
          <p:nvPr/>
        </p:nvSpPr>
        <p:spPr>
          <a:xfrm>
            <a:off x="4746000" y="1745322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Barwise spectrograms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C331F6-4C32-4C95-AB79-860B5FF6E44A}"/>
              </a:ext>
            </a:extLst>
          </p:cNvPr>
          <p:cNvSpPr/>
          <p:nvPr/>
        </p:nvSpPr>
        <p:spPr>
          <a:xfrm>
            <a:off x="1953138" y="3806098"/>
            <a:ext cx="2520000" cy="720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CBM algorithm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4D5F5E-AB1F-4B79-93E5-00FB780A8488}"/>
              </a:ext>
            </a:extLst>
          </p:cNvPr>
          <p:cNvSpPr/>
          <p:nvPr/>
        </p:nvSpPr>
        <p:spPr>
          <a:xfrm>
            <a:off x="6632471" y="3666854"/>
            <a:ext cx="2520000" cy="720000"/>
          </a:xfrm>
          <a:prstGeom prst="rect">
            <a:avLst/>
          </a:prstGeom>
          <a:solidFill>
            <a:srgbClr val="69A1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Compressed representations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EDB1FB-C369-45DA-8394-2F941F6AA029}"/>
              </a:ext>
            </a:extLst>
          </p:cNvPr>
          <p:cNvSpPr/>
          <p:nvPr/>
        </p:nvSpPr>
        <p:spPr>
          <a:xfrm>
            <a:off x="4771783" y="5441536"/>
            <a:ext cx="252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Structure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D3D2ADC-422A-4BAB-A083-C48C634BF093}"/>
              </a:ext>
            </a:extLst>
          </p:cNvPr>
          <p:cNvSpPr/>
          <p:nvPr/>
        </p:nvSpPr>
        <p:spPr>
          <a:xfrm>
            <a:off x="9821795" y="1771716"/>
            <a:ext cx="2061020" cy="20791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GB" sz="2400" dirty="0"/>
              <a:t>NTD</a:t>
            </a:r>
          </a:p>
          <a:p>
            <a:pPr algn="ctr"/>
            <a:r>
              <a:rPr lang="en-GB" sz="2400" dirty="0"/>
              <a:t>NMF</a:t>
            </a:r>
          </a:p>
          <a:p>
            <a:pPr algn="ctr"/>
            <a:r>
              <a:rPr lang="en-GB" sz="2400" dirty="0"/>
              <a:t>PCA</a:t>
            </a:r>
          </a:p>
          <a:p>
            <a:pPr algn="ctr"/>
            <a:r>
              <a:rPr lang="en-GB" sz="2400" dirty="0"/>
              <a:t>AutoEncoders</a:t>
            </a:r>
          </a:p>
          <a:p>
            <a:pPr algn="ctr"/>
            <a:r>
              <a:rPr lang="en-GB" sz="2400" dirty="0"/>
              <a:t>AE-NTD</a:t>
            </a:r>
          </a:p>
        </p:txBody>
      </p: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C1989F8-A3F6-46D5-8306-3E7D179124DD}"/>
              </a:ext>
            </a:extLst>
          </p:cNvPr>
          <p:cNvCxnSpPr>
            <a:cxnSpLocks/>
          </p:cNvCxnSpPr>
          <p:nvPr/>
        </p:nvCxnSpPr>
        <p:spPr>
          <a:xfrm>
            <a:off x="6571940" y="2552800"/>
            <a:ext cx="1260000" cy="98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BC1DAE0A-69EA-4B6C-BBBF-F7EAB8148925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7131842" y="2811312"/>
            <a:ext cx="2689953" cy="189956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554A56FE-90C4-4E18-9105-74865DD45BAB}"/>
              </a:ext>
            </a:extLst>
          </p:cNvPr>
          <p:cNvCxnSpPr>
            <a:cxnSpLocks/>
          </p:cNvCxnSpPr>
          <p:nvPr/>
        </p:nvCxnSpPr>
        <p:spPr>
          <a:xfrm flipH="1">
            <a:off x="6439221" y="4454195"/>
            <a:ext cx="1333179" cy="94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5D8E2F6-7F2F-4964-8FB5-C32C019E4C86}"/>
              </a:ext>
            </a:extLst>
          </p:cNvPr>
          <p:cNvCxnSpPr>
            <a:cxnSpLocks/>
          </p:cNvCxnSpPr>
          <p:nvPr/>
        </p:nvCxnSpPr>
        <p:spPr>
          <a:xfrm flipH="1">
            <a:off x="4469826" y="3920689"/>
            <a:ext cx="1536174" cy="208047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BB1D92B-C623-4671-9738-B5EBE6B86EF5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6006000" y="1082685"/>
            <a:ext cx="0" cy="662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C7781E7-D93E-466C-8D2A-F4F3B62AE4EE}"/>
              </a:ext>
            </a:extLst>
          </p:cNvPr>
          <p:cNvCxnSpPr>
            <a:cxnSpLocks/>
          </p:cNvCxnSpPr>
          <p:nvPr/>
        </p:nvCxnSpPr>
        <p:spPr>
          <a:xfrm flipH="1" flipV="1">
            <a:off x="4466512" y="4169411"/>
            <a:ext cx="2665330" cy="758189"/>
          </a:xfrm>
          <a:prstGeom prst="line">
            <a:avLst/>
          </a:prstGeom>
          <a:ln w="44450" cap="flat" cmpd="sng">
            <a:solidFill>
              <a:schemeClr val="accent1">
                <a:lumMod val="50000"/>
              </a:schemeClr>
            </a:solidFill>
            <a:miter lim="800000"/>
            <a:headEnd type="oval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C05FEC5-324F-4B4A-958A-2897C7732CF2}"/>
              </a:ext>
            </a:extLst>
          </p:cNvPr>
          <p:cNvSpPr/>
          <p:nvPr/>
        </p:nvSpPr>
        <p:spPr>
          <a:xfrm>
            <a:off x="9821795" y="940719"/>
            <a:ext cx="2061020" cy="83099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/>
              <a:t>Machine Learning</a:t>
            </a:r>
            <a:endParaRPr lang="en-GB" sz="2400" dirty="0"/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4905122-8C58-4FE9-AA32-C7A389E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/>
          <a:lstStyle/>
          <a:p>
            <a:fld id="{704D9920-31A3-4B34-AAFA-0D666CFA796E}" type="slidenum">
              <a:rPr lang="fr-FR" smtClean="0"/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18278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1" grpId="0" animBg="1"/>
      <p:bldP spid="65" grpId="0" animBg="1"/>
      <p:bldP spid="98" grpId="0" animBg="1"/>
      <p:bldP spid="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48F83-5B76-46AA-91E3-FEA1D17E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22027"/>
            <a:ext cx="9601200" cy="815741"/>
          </a:xfrm>
        </p:spPr>
        <p:txBody>
          <a:bodyPr/>
          <a:lstStyle/>
          <a:p>
            <a:r>
              <a:rPr lang="fr-FR" dirty="0" err="1"/>
              <a:t>Overview</a:t>
            </a:r>
            <a:r>
              <a:rPr lang="fr-FR" dirty="0"/>
              <a:t> of segmentation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C69CDE-877F-4DA5-84BA-8432C94B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66130"/>
            <a:ext cx="9601200" cy="4787256"/>
          </a:xfrm>
        </p:spPr>
        <p:txBody>
          <a:bodyPr>
            <a:normAutofit/>
          </a:bodyPr>
          <a:lstStyle/>
          <a:p>
            <a:r>
              <a:rPr lang="fr-FR" dirty="0"/>
              <a:t>Structure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exhibited</a:t>
            </a:r>
            <a:r>
              <a:rPr lang="fr-FR" dirty="0"/>
              <a:t> in </a:t>
            </a:r>
            <a:r>
              <a:rPr lang="fr-FR" b="1" dirty="0" err="1"/>
              <a:t>similarity</a:t>
            </a:r>
            <a:r>
              <a:rPr lang="fr-FR" dirty="0"/>
              <a:t> and </a:t>
            </a:r>
            <a:r>
              <a:rPr lang="fr-FR" b="1" dirty="0" err="1"/>
              <a:t>dissimilarity</a:t>
            </a:r>
            <a:r>
              <a:rPr lang="fr-FR" b="1" dirty="0"/>
              <a:t> </a:t>
            </a:r>
            <a:r>
              <a:rPr lang="fr-FR" dirty="0"/>
              <a:t>notions </a:t>
            </a:r>
          </a:p>
          <a:p>
            <a:endParaRPr lang="fr-FR" dirty="0"/>
          </a:p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strategies</a:t>
            </a:r>
            <a:r>
              <a:rPr lang="fr-FR" dirty="0"/>
              <a:t> for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representations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Kernel-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similarity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  <a:p>
            <a:pPr lvl="1"/>
            <a:r>
              <a:rPr lang="fr-FR" dirty="0"/>
              <a:t>Machine Learning (compression </a:t>
            </a:r>
            <a:r>
              <a:rPr lang="fr-FR" dirty="0" err="1"/>
              <a:t>methods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Machine Learning </a:t>
            </a:r>
            <a:r>
              <a:rPr lang="fr-FR" dirty="0" err="1"/>
              <a:t>methods</a:t>
            </a:r>
            <a:r>
              <a:rPr lang="fr-FR" dirty="0"/>
              <a:t>: </a:t>
            </a:r>
            <a:r>
              <a:rPr lang="fr-FR" dirty="0" err="1"/>
              <a:t>trade</a:t>
            </a:r>
            <a:r>
              <a:rPr lang="fr-FR" dirty="0"/>
              <a:t>-off </a:t>
            </a:r>
            <a:r>
              <a:rPr lang="fr-FR" dirty="0" err="1"/>
              <a:t>between</a:t>
            </a:r>
            <a:r>
              <a:rPr lang="fr-FR" dirty="0"/>
              <a:t> performance and </a:t>
            </a:r>
            <a:r>
              <a:rPr lang="fr-FR" dirty="0" err="1"/>
              <a:t>interpretability</a:t>
            </a:r>
            <a:endParaRPr lang="fr-FR" dirty="0"/>
          </a:p>
          <a:p>
            <a:pPr lvl="1"/>
            <a:r>
              <a:rPr lang="fr-FR" dirty="0"/>
              <a:t>Methods </a:t>
            </a:r>
            <a:r>
              <a:rPr lang="fr-FR" dirty="0" err="1"/>
              <a:t>present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pros and cons</a:t>
            </a:r>
          </a:p>
          <a:p>
            <a:pPr lvl="1"/>
            <a:endParaRPr lang="fr-FR" dirty="0"/>
          </a:p>
          <a:p>
            <a:r>
              <a:rPr lang="fr-FR" dirty="0"/>
              <a:t>NTD: </a:t>
            </a:r>
            <a:r>
              <a:rPr lang="fr-FR" dirty="0" err="1"/>
              <a:t>uncovers</a:t>
            </a:r>
            <a:r>
              <a:rPr lang="fr-FR" dirty="0"/>
              <a:t> </a:t>
            </a:r>
            <a:r>
              <a:rPr lang="fr-FR" b="1" dirty="0"/>
              <a:t>musical patterns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F4E82-D000-4251-A23A-892117C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10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48F83-5B76-46AA-91E3-FEA1D17E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5741"/>
          </a:xfrm>
        </p:spPr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F4E82-D000-4251-A23A-892117C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65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5DAE6-E582-4547-84A9-F3A9435A17BF}"/>
              </a:ext>
            </a:extLst>
          </p:cNvPr>
          <p:cNvSpPr/>
          <p:nvPr/>
        </p:nvSpPr>
        <p:spPr>
          <a:xfrm>
            <a:off x="1516487" y="1761345"/>
            <a:ext cx="3046275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rgbClr val="EBE7DD"/>
                </a:solidFill>
              </a:rPr>
              <a:t>Dimensioning</a:t>
            </a:r>
            <a:r>
              <a:rPr lang="fr-FR" dirty="0">
                <a:solidFill>
                  <a:srgbClr val="EBE7DD"/>
                </a:solidFill>
              </a:rPr>
              <a:t> compression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F1607-9B76-4A3D-97CB-1018A094D7CA}"/>
              </a:ext>
            </a:extLst>
          </p:cNvPr>
          <p:cNvSpPr/>
          <p:nvPr/>
        </p:nvSpPr>
        <p:spPr>
          <a:xfrm>
            <a:off x="1516487" y="2547018"/>
            <a:ext cx="3046275" cy="291720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Dimensions </a:t>
            </a:r>
            <a:r>
              <a:rPr lang="fr-FR" dirty="0" err="1">
                <a:solidFill>
                  <a:schemeClr val="tx1"/>
                </a:solidFill>
              </a:rPr>
              <a:t>required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prior</a:t>
            </a:r>
            <a:r>
              <a:rPr lang="fr-FR" dirty="0">
                <a:solidFill>
                  <a:schemeClr val="tx1"/>
                </a:solidFill>
              </a:rPr>
              <a:t> to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No </a:t>
            </a:r>
            <a:r>
              <a:rPr lang="fr-FR" dirty="0" err="1">
                <a:solidFill>
                  <a:schemeClr val="tx1"/>
                </a:solidFill>
              </a:rPr>
              <a:t>obvious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link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between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b="1" dirty="0">
                <a:solidFill>
                  <a:schemeClr val="tx1"/>
                </a:solidFill>
              </a:rPr>
              <a:t>dimensions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b="1" dirty="0">
                <a:solidFill>
                  <a:schemeClr val="tx1"/>
                </a:solidFill>
              </a:rPr>
              <a:t>segmentation </a:t>
            </a:r>
            <a:r>
              <a:rPr lang="fr-FR" b="1" dirty="0" err="1">
                <a:solidFill>
                  <a:schemeClr val="tx1"/>
                </a:solidFill>
              </a:rPr>
              <a:t>results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EA8E2-732B-4FB7-865D-58EDC8C0ADAF}"/>
              </a:ext>
            </a:extLst>
          </p:cNvPr>
          <p:cNvSpPr/>
          <p:nvPr/>
        </p:nvSpPr>
        <p:spPr>
          <a:xfrm>
            <a:off x="5097885" y="1761345"/>
            <a:ext cx="2847697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Domain </a:t>
            </a:r>
            <a:r>
              <a:rPr lang="fr-FR" dirty="0" err="1">
                <a:solidFill>
                  <a:srgbClr val="EBE7DD"/>
                </a:solidFill>
              </a:rPr>
              <a:t>knowledge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C0E54-7113-472D-A654-5FDE1B99C807}"/>
              </a:ext>
            </a:extLst>
          </p:cNvPr>
          <p:cNvSpPr/>
          <p:nvPr/>
        </p:nvSpPr>
        <p:spPr>
          <a:xfrm>
            <a:off x="5097886" y="2547018"/>
            <a:ext cx="2847696" cy="29172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Incorporating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domain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knowledge</a:t>
            </a:r>
            <a:r>
              <a:rPr lang="fr-FR" dirty="0">
                <a:solidFill>
                  <a:schemeClr val="tx1"/>
                </a:solidFill>
              </a:rPr>
              <a:t> to </a:t>
            </a:r>
            <a:r>
              <a:rPr lang="fr-FR" b="1" dirty="0" err="1">
                <a:solidFill>
                  <a:schemeClr val="tx1"/>
                </a:solidFill>
              </a:rPr>
              <a:t>enhance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representations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1"/>
                </a:solidFill>
              </a:rPr>
              <a:t>Constraints</a:t>
            </a:r>
            <a:endParaRPr lang="fr-FR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Supervision/semi-supervision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1"/>
                </a:solidFill>
              </a:rPr>
              <a:t>Dictionary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learning</a:t>
            </a:r>
            <a:endParaRPr lang="fr-FR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…</a:t>
            </a:r>
            <a:endParaRPr lang="fr-FR" sz="1600" i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886C2F-3159-4C44-AC6E-2600817C0335}"/>
              </a:ext>
            </a:extLst>
          </p:cNvPr>
          <p:cNvSpPr/>
          <p:nvPr/>
        </p:nvSpPr>
        <p:spPr>
          <a:xfrm>
            <a:off x="8480705" y="1761345"/>
            <a:ext cx="3044828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Extension of </a:t>
            </a:r>
            <a:r>
              <a:rPr lang="fr-FR" dirty="0" err="1">
                <a:solidFill>
                  <a:srgbClr val="EBE7DD"/>
                </a:solidFill>
              </a:rPr>
              <a:t>results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39834-6D51-4009-B822-D28D34CC30B7}"/>
              </a:ext>
            </a:extLst>
          </p:cNvPr>
          <p:cNvSpPr/>
          <p:nvPr/>
        </p:nvSpPr>
        <p:spPr>
          <a:xfrm>
            <a:off x="8480704" y="2547018"/>
            <a:ext cx="3037041" cy="29172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Different</a:t>
            </a:r>
            <a:r>
              <a:rPr lang="fr-FR" dirty="0">
                <a:solidFill>
                  <a:schemeClr val="tx1"/>
                </a:solidFill>
              </a:rPr>
              <a:t> musical </a:t>
            </a:r>
            <a:r>
              <a:rPr lang="fr-FR" dirty="0" err="1">
                <a:solidFill>
                  <a:schemeClr val="tx1"/>
                </a:solidFill>
              </a:rPr>
              <a:t>contexts</a:t>
            </a: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i="1" dirty="0" err="1">
                <a:solidFill>
                  <a:schemeClr val="tx1"/>
                </a:solidFill>
              </a:rPr>
              <a:t>Results</a:t>
            </a:r>
            <a:r>
              <a:rPr lang="fr-FR" i="1" dirty="0">
                <a:solidFill>
                  <a:schemeClr val="tx1"/>
                </a:solidFill>
              </a:rPr>
              <a:t> are </a:t>
            </a:r>
            <a:r>
              <a:rPr lang="fr-FR" i="1" dirty="0" err="1">
                <a:solidFill>
                  <a:schemeClr val="tx1"/>
                </a:solidFill>
              </a:rPr>
              <a:t>only</a:t>
            </a:r>
            <a:r>
              <a:rPr lang="fr-FR" i="1" dirty="0">
                <a:solidFill>
                  <a:schemeClr val="tx1"/>
                </a:solidFill>
              </a:rPr>
              <a:t> </a:t>
            </a:r>
            <a:r>
              <a:rPr lang="fr-FR" b="1" i="1" dirty="0">
                <a:solidFill>
                  <a:schemeClr val="tx1"/>
                </a:solidFill>
              </a:rPr>
              <a:t>quantitative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tx1"/>
                </a:solidFill>
              </a:rPr>
              <a:t>Need for </a:t>
            </a:r>
            <a:r>
              <a:rPr lang="fr-FR" sz="1600" b="1" i="1" dirty="0">
                <a:solidFill>
                  <a:schemeClr val="tx1"/>
                </a:solidFill>
              </a:rPr>
              <a:t>musical</a:t>
            </a:r>
            <a:r>
              <a:rPr lang="fr-FR" sz="1600" i="1" dirty="0">
                <a:solidFill>
                  <a:schemeClr val="tx1"/>
                </a:solidFill>
              </a:rPr>
              <a:t> </a:t>
            </a:r>
            <a:r>
              <a:rPr lang="fr-FR" sz="1600" b="1" i="1" dirty="0" err="1">
                <a:solidFill>
                  <a:schemeClr val="tx1"/>
                </a:solidFill>
              </a:rPr>
              <a:t>analysis</a:t>
            </a:r>
            <a:r>
              <a:rPr lang="fr-FR" sz="1600" i="1" dirty="0">
                <a:solidFill>
                  <a:schemeClr val="tx1"/>
                </a:solidFill>
              </a:rPr>
              <a:t> of </a:t>
            </a:r>
            <a:r>
              <a:rPr lang="fr-FR" sz="1600" i="1" dirty="0" err="1">
                <a:solidFill>
                  <a:schemeClr val="tx1"/>
                </a:solidFill>
              </a:rPr>
              <a:t>results</a:t>
            </a:r>
            <a:endParaRPr lang="fr-FR" sz="1600" i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97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39F5D-DEBB-4483-88B0-44D79B249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686" y="2209357"/>
            <a:ext cx="8876627" cy="2098226"/>
          </a:xfrm>
        </p:spPr>
        <p:txBody>
          <a:bodyPr/>
          <a:lstStyle/>
          <a:p>
            <a:r>
              <a:rPr lang="en-GB" sz="3600" b="1" dirty="0"/>
              <a:t>Unsupervised </a:t>
            </a:r>
            <a:br>
              <a:rPr lang="en-GB" sz="3600" b="1" dirty="0"/>
            </a:br>
            <a:r>
              <a:rPr lang="en-GB" sz="3600" b="1" dirty="0"/>
              <a:t>Machine Learning Paradigms </a:t>
            </a:r>
            <a:br>
              <a:rPr lang="en-GB" sz="3600" b="1" dirty="0"/>
            </a:br>
            <a:r>
              <a:rPr lang="en-GB" sz="3600" b="1" dirty="0"/>
              <a:t>for the Representation of</a:t>
            </a:r>
            <a:br>
              <a:rPr lang="en-GB" sz="3600" b="1" dirty="0"/>
            </a:br>
            <a:r>
              <a:rPr lang="en-GB" sz="3600" b="1" dirty="0"/>
              <a:t> Music Similarity and Structure</a:t>
            </a:r>
            <a:endParaRPr lang="fr-FR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9EE4B3-8A65-4C16-BD60-702644C62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14" y="4416584"/>
            <a:ext cx="1839283" cy="928838"/>
          </a:xfrm>
          <a:prstGeom prst="rect">
            <a:avLst/>
          </a:prstGeom>
        </p:spPr>
      </p:pic>
      <p:pic>
        <p:nvPicPr>
          <p:cNvPr id="9" name="Image 4" descr="logo_irisa_cmjn-fond-transp.png">
            <a:extLst>
              <a:ext uri="{FF2B5EF4-FFF2-40B4-BE49-F238E27FC236}">
                <a16:creationId xmlns:a16="http://schemas.microsoft.com/office/drawing/2014/main" id="{E9F630C6-E023-4C0C-89C2-152D09539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404" y="4626871"/>
            <a:ext cx="2018015" cy="5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476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02"/>
    </mc:Choice>
    <mc:Fallback xmlns="">
      <p:transition spd="slow" advTm="31302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79A4E-47EE-43C9-A2E4-1364EC7B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constitute</a:t>
            </a:r>
            <a:r>
              <a:rPr lang="fr-FR" dirty="0"/>
              <a:t> structure?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7C990B-6D0E-4204-B817-5F730B3E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75317"/>
            <a:ext cx="9601200" cy="3678964"/>
          </a:xfrm>
        </p:spPr>
        <p:txBody>
          <a:bodyPr>
            <a:normAutofit/>
          </a:bodyPr>
          <a:lstStyle/>
          <a:p>
            <a:r>
              <a:rPr lang="fr-FR" dirty="0"/>
              <a:t>Lyrics?</a:t>
            </a:r>
          </a:p>
          <a:p>
            <a:pPr lvl="1"/>
            <a:r>
              <a:rPr lang="fr-FR" dirty="0" err="1"/>
              <a:t>Around</a:t>
            </a:r>
            <a:r>
              <a:rPr lang="fr-FR" dirty="0"/>
              <a:t> the World - Daft Punk</a:t>
            </a:r>
          </a:p>
          <a:p>
            <a:pPr lvl="1"/>
            <a:endParaRPr lang="fr-FR" dirty="0"/>
          </a:p>
          <a:p>
            <a:r>
              <a:rPr lang="fr-FR" dirty="0"/>
              <a:t>Timbre?</a:t>
            </a:r>
          </a:p>
          <a:p>
            <a:pPr lvl="1"/>
            <a:r>
              <a:rPr lang="fr-FR" dirty="0"/>
              <a:t>Come </a:t>
            </a:r>
            <a:r>
              <a:rPr lang="fr-FR" dirty="0" err="1"/>
              <a:t>Together</a:t>
            </a:r>
            <a:r>
              <a:rPr lang="fr-FR" dirty="0"/>
              <a:t> – The Beatles</a:t>
            </a:r>
          </a:p>
          <a:p>
            <a:pPr lvl="1"/>
            <a:endParaRPr lang="fr-FR" dirty="0"/>
          </a:p>
          <a:p>
            <a:r>
              <a:rPr lang="fr-FR" dirty="0"/>
              <a:t>Melody/Harmony?</a:t>
            </a:r>
          </a:p>
          <a:p>
            <a:pPr lvl="1"/>
            <a:r>
              <a:rPr lang="fr-FR" dirty="0" err="1"/>
              <a:t>Lambé</a:t>
            </a:r>
            <a:r>
              <a:rPr lang="fr-FR" dirty="0"/>
              <a:t> An </a:t>
            </a:r>
            <a:r>
              <a:rPr lang="fr-FR" dirty="0" err="1"/>
              <a:t>Dro</a:t>
            </a:r>
            <a:r>
              <a:rPr lang="fr-FR" dirty="0"/>
              <a:t> – </a:t>
            </a:r>
            <a:r>
              <a:rPr lang="fr-FR" dirty="0" err="1"/>
              <a:t>Matmatah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EBFEE89-74CB-4F9F-9E3A-92FAAF8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67</a:t>
            </a:fld>
            <a:endParaRPr lang="fr-FR"/>
          </a:p>
        </p:txBody>
      </p:sp>
      <p:pic>
        <p:nvPicPr>
          <p:cNvPr id="4" name="ATW1">
            <a:hlinkClick r:id="" action="ppaction://media"/>
            <a:extLst>
              <a:ext uri="{FF2B5EF4-FFF2-40B4-BE49-F238E27FC236}">
                <a16:creationId xmlns:a16="http://schemas.microsoft.com/office/drawing/2014/main" id="{62DB0FA6-1DA8-4D23-AD37-4D6EB5DFE2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540500" y="2171700"/>
            <a:ext cx="406400" cy="406400"/>
          </a:xfrm>
          <a:prstGeom prst="rect">
            <a:avLst/>
          </a:prstGeom>
        </p:spPr>
      </p:pic>
      <p:pic>
        <p:nvPicPr>
          <p:cNvPr id="5" name="ATW2">
            <a:hlinkClick r:id="" action="ppaction://media"/>
            <a:extLst>
              <a:ext uri="{FF2B5EF4-FFF2-40B4-BE49-F238E27FC236}">
                <a16:creationId xmlns:a16="http://schemas.microsoft.com/office/drawing/2014/main" id="{110BA441-A1D1-47F1-B00B-B51A289BC3E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876321" y="2171700"/>
            <a:ext cx="406400" cy="406400"/>
          </a:xfrm>
          <a:prstGeom prst="rect">
            <a:avLst/>
          </a:prstGeom>
        </p:spPr>
      </p:pic>
      <p:pic>
        <p:nvPicPr>
          <p:cNvPr id="6" name="MatMatah1">
            <a:hlinkClick r:id="" action="ppaction://media"/>
            <a:extLst>
              <a:ext uri="{FF2B5EF4-FFF2-40B4-BE49-F238E27FC236}">
                <a16:creationId xmlns:a16="http://schemas.microsoft.com/office/drawing/2014/main" id="{E8FA1C67-B902-4F58-80F3-C87100A1A57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540500" y="4686301"/>
            <a:ext cx="406400" cy="406400"/>
          </a:xfrm>
          <a:prstGeom prst="rect">
            <a:avLst/>
          </a:prstGeom>
        </p:spPr>
      </p:pic>
      <p:pic>
        <p:nvPicPr>
          <p:cNvPr id="7" name="MatMatah2">
            <a:hlinkClick r:id="" action="ppaction://media"/>
            <a:extLst>
              <a:ext uri="{FF2B5EF4-FFF2-40B4-BE49-F238E27FC236}">
                <a16:creationId xmlns:a16="http://schemas.microsoft.com/office/drawing/2014/main" id="{59B3DB59-1EE1-45FC-B558-32034FE097F1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876321" y="4686301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02048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1041"/>
            <a:ext cx="9601200" cy="1485900"/>
          </a:xfrm>
        </p:spPr>
        <p:txBody>
          <a:bodyPr/>
          <a:lstStyle/>
          <a:p>
            <a:r>
              <a:rPr lang="fr-FR" dirty="0"/>
              <a:t>Example of pattern,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melody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47</a:t>
            </a:r>
          </a:p>
        </p:txBody>
      </p:sp>
      <p:pic>
        <p:nvPicPr>
          <p:cNvPr id="3" name="melodie_voix">
            <a:hlinkClick r:id="" action="ppaction://media"/>
            <a:extLst>
              <a:ext uri="{FF2B5EF4-FFF2-40B4-BE49-F238E27FC236}">
                <a16:creationId xmlns:a16="http://schemas.microsoft.com/office/drawing/2014/main" id="{A94F0E80-7356-497E-A038-327E460635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69000" y="271183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1373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1041"/>
            <a:ext cx="9601200" cy="1485900"/>
          </a:xfrm>
        </p:spPr>
        <p:txBody>
          <a:bodyPr/>
          <a:lstStyle/>
          <a:p>
            <a:r>
              <a:rPr lang="fr-FR" dirty="0"/>
              <a:t>Barwise point of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61738-353E-432E-854C-371FEEC38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023991"/>
            <a:ext cx="10109200" cy="2116373"/>
          </a:xfrm>
        </p:spPr>
        <p:txBody>
          <a:bodyPr>
            <a:normAutofit/>
          </a:bodyPr>
          <a:lstStyle/>
          <a:p>
            <a:r>
              <a:rPr lang="fr-FR" dirty="0" err="1"/>
              <a:t>Hypothesis</a:t>
            </a:r>
            <a:r>
              <a:rPr lang="fr-FR" dirty="0"/>
              <a:t> 2: </a:t>
            </a:r>
            <a:r>
              <a:rPr lang="fr-FR" b="1" dirty="0" err="1"/>
              <a:t>boundaries</a:t>
            </a:r>
            <a:r>
              <a:rPr lang="fr-FR" b="1" dirty="0"/>
              <a:t> </a:t>
            </a:r>
            <a:r>
              <a:rPr lang="fr-FR" b="1" dirty="0" err="1"/>
              <a:t>fall</a:t>
            </a:r>
            <a:r>
              <a:rPr lang="fr-FR" b="1" dirty="0"/>
              <a:t> on </a:t>
            </a:r>
            <a:r>
              <a:rPr lang="fr-FR" b="1" dirty="0" err="1"/>
              <a:t>downbeats</a:t>
            </a:r>
            <a:endParaRPr lang="fr-FR" b="1" dirty="0"/>
          </a:p>
          <a:p>
            <a:pPr lvl="1"/>
            <a:r>
              <a:rPr lang="fr-FR" dirty="0" err="1"/>
              <a:t>Valid</a:t>
            </a:r>
            <a:r>
              <a:rPr lang="fr-FR" dirty="0"/>
              <a:t> for </a:t>
            </a:r>
            <a:r>
              <a:rPr lang="fr-FR" dirty="0" err="1"/>
              <a:t>results</a:t>
            </a:r>
            <a:r>
              <a:rPr lang="fr-FR" dirty="0"/>
              <a:t> of state-of-the-art on RWC Pop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madmom</a:t>
            </a:r>
            <a:endParaRPr lang="en-US" sz="1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47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2810FD5-852B-4F47-8666-E82E5989D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14" y="2188699"/>
            <a:ext cx="8810914" cy="352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0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94" y="305334"/>
            <a:ext cx="9601200" cy="1485900"/>
          </a:xfrm>
        </p:spPr>
        <p:txBody>
          <a:bodyPr/>
          <a:lstStyle/>
          <a:p>
            <a:r>
              <a:rPr lang="fr-FR" dirty="0"/>
              <a:t>CBM </a:t>
            </a:r>
            <a:r>
              <a:rPr lang="fr-FR" dirty="0" err="1"/>
              <a:t>Results</a:t>
            </a:r>
            <a:r>
              <a:rPr lang="fr-FR" dirty="0"/>
              <a:t>, </a:t>
            </a:r>
            <a:r>
              <a:rPr lang="fr-FR" dirty="0" err="1"/>
              <a:t>according</a:t>
            </a:r>
            <a:r>
              <a:rPr lang="fr-FR" dirty="0"/>
              <a:t> to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70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A46676A-CC2B-449B-A568-33F0B7AFF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746" y="1063609"/>
            <a:ext cx="6011704" cy="262740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2D59BB1-459C-42D8-8706-1DDE46A3D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32" y="3898929"/>
            <a:ext cx="6011704" cy="2627401"/>
          </a:xfrm>
          <a:prstGeom prst="rect">
            <a:avLst/>
          </a:prstGeom>
        </p:spPr>
      </p:pic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DA1A5C3-A99A-4F97-83FC-1701D2F1ADB1}"/>
              </a:ext>
            </a:extLst>
          </p:cNvPr>
          <p:cNvSpPr/>
          <p:nvPr/>
        </p:nvSpPr>
        <p:spPr>
          <a:xfrm>
            <a:off x="5280454" y="1499286"/>
            <a:ext cx="873211" cy="2216439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BA2CDDF-6BA1-4FEC-BA5C-D259895712EB}"/>
              </a:ext>
            </a:extLst>
          </p:cNvPr>
          <p:cNvSpPr/>
          <p:nvPr/>
        </p:nvSpPr>
        <p:spPr>
          <a:xfrm>
            <a:off x="5280454" y="4336227"/>
            <a:ext cx="873211" cy="2216439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0468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205B2-72BC-4848-9129-1D372174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277" y="282251"/>
            <a:ext cx="10737649" cy="699056"/>
          </a:xfrm>
        </p:spPr>
        <p:txBody>
          <a:bodyPr>
            <a:normAutofit fontScale="90000"/>
          </a:bodyPr>
          <a:lstStyle/>
          <a:p>
            <a:r>
              <a:rPr lang="fr-FR" dirty="0"/>
              <a:t>Convolutive "block-</a:t>
            </a:r>
            <a:r>
              <a:rPr lang="fr-FR" dirty="0" err="1"/>
              <a:t>matching</a:t>
            </a:r>
            <a:r>
              <a:rPr lang="fr-FR" dirty="0"/>
              <a:t>" (CBM) </a:t>
            </a:r>
            <a:r>
              <a:rPr lang="fr-FR" dirty="0" err="1"/>
              <a:t>algorithm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A5CD0BF-E4CB-4DE4-BCE0-D26F8A38B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2973" y="1147764"/>
                <a:ext cx="6303740" cy="5431457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Principle: </a:t>
                </a:r>
              </a:p>
              <a:p>
                <a:pPr lvl="1"/>
                <a:r>
                  <a:rPr lang="fr-FR" dirty="0" err="1"/>
                  <a:t>associating</a:t>
                </a:r>
                <a:r>
                  <a:rPr lang="fr-FR" dirty="0"/>
                  <a:t> a </a:t>
                </a:r>
                <a:r>
                  <a:rPr lang="fr-FR" b="1" dirty="0"/>
                  <a:t>score</a:t>
                </a:r>
                <a:r>
                  <a:rPr lang="fr-FR" dirty="0"/>
                  <a:t> for </a:t>
                </a:r>
                <a:r>
                  <a:rPr lang="fr-FR" b="1" dirty="0" err="1"/>
                  <a:t>each</a:t>
                </a:r>
                <a:r>
                  <a:rPr lang="fr-FR" b="1" dirty="0"/>
                  <a:t> segment </a:t>
                </a:r>
                <a14:m>
                  <m:oMath xmlns:m="http://schemas.openxmlformats.org/officeDocument/2006/math">
                    <m:r>
                      <a:rPr lang="fr-FR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fr-FR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fr-FR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fr-FR" dirty="0"/>
                  <a:t> as a convolution</a:t>
                </a:r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[)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fr-FR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lvl="1"/>
                <a:endParaRPr lang="fr-FR" b="1" dirty="0"/>
              </a:p>
              <a:p>
                <a:pPr lvl="1"/>
                <a:r>
                  <a:rPr lang="fr-FR" b="1" dirty="0" err="1"/>
                  <a:t>maximizing</a:t>
                </a:r>
                <a:r>
                  <a:rPr lang="fr-FR" dirty="0"/>
                  <a:t> </a:t>
                </a:r>
                <a:r>
                  <a:rPr lang="fr-FR" dirty="0" err="1"/>
                  <a:t>their</a:t>
                </a:r>
                <a:r>
                  <a:rPr lang="fr-FR" dirty="0"/>
                  <a:t> </a:t>
                </a:r>
                <a:r>
                  <a:rPr lang="fr-FR" dirty="0" err="1"/>
                  <a:t>sum</a:t>
                </a:r>
                <a:r>
                  <a:rPr lang="fr-FR" dirty="0"/>
                  <a:t> via </a:t>
                </a:r>
                <a:r>
                  <a:rPr lang="fr-FR" b="1" dirty="0" err="1"/>
                  <a:t>dynamic</a:t>
                </a:r>
                <a:r>
                  <a:rPr lang="fr-FR" b="1" dirty="0"/>
                  <a:t> </a:t>
                </a:r>
                <a:r>
                  <a:rPr lang="fr-FR" b="1" dirty="0" err="1"/>
                  <a:t>programming</a:t>
                </a:r>
                <a:endParaRPr lang="fr-FR" b="1" dirty="0"/>
              </a:p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lang="fr-FR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A5CD0BF-E4CB-4DE4-BCE0-D26F8A38B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2973" y="1147764"/>
                <a:ext cx="6303740" cy="5431457"/>
              </a:xfrm>
              <a:blipFill>
                <a:blip r:embed="rId2"/>
                <a:stretch>
                  <a:fillRect l="-870" t="-898" r="-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71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17C0A4C-F48C-434D-88E9-3AC9B106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485" y="2319362"/>
            <a:ext cx="5185679" cy="1393269"/>
          </a:xfrm>
          <a:prstGeom prst="rect">
            <a:avLst/>
          </a:prstGeom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6E5B94A-87B0-4FBD-BB43-4AF517591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799" y="1631376"/>
            <a:ext cx="3595247" cy="35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354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205B2-72BC-4848-9129-1D372174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277" y="282251"/>
            <a:ext cx="10737649" cy="986712"/>
          </a:xfrm>
        </p:spPr>
        <p:txBody>
          <a:bodyPr>
            <a:normAutofit/>
          </a:bodyPr>
          <a:lstStyle/>
          <a:p>
            <a:r>
              <a:rPr lang="fr-FR" dirty="0"/>
              <a:t>Dynamic </a:t>
            </a:r>
            <a:r>
              <a:rPr lang="fr-FR" dirty="0" err="1"/>
              <a:t>Programming</a:t>
            </a:r>
            <a:r>
              <a:rPr lang="fr-FR" dirty="0"/>
              <a:t> (CBM)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5CD0BF-E4CB-4DE4-BCE0-D26F8A38B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277" y="1412464"/>
            <a:ext cx="9647759" cy="649371"/>
          </a:xfrm>
        </p:spPr>
        <p:txBody>
          <a:bodyPr>
            <a:normAutofit/>
          </a:bodyPr>
          <a:lstStyle/>
          <a:p>
            <a:r>
              <a:rPr lang="fr-FR" dirty="0"/>
              <a:t>Dynamic </a:t>
            </a:r>
            <a:r>
              <a:rPr lang="fr-FR" dirty="0" err="1"/>
              <a:t>programming</a:t>
            </a:r>
            <a:r>
              <a:rPr lang="fr-FR" dirty="0"/>
              <a:t>,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interpreted</a:t>
            </a:r>
            <a:r>
              <a:rPr lang="fr-FR" dirty="0"/>
              <a:t> as a </a:t>
            </a:r>
            <a:r>
              <a:rPr lang="fr-FR" dirty="0" err="1"/>
              <a:t>longest-path</a:t>
            </a:r>
            <a:r>
              <a:rPr lang="fr-FR" dirty="0"/>
              <a:t> </a:t>
            </a:r>
            <a:r>
              <a:rPr lang="fr-FR" dirty="0" err="1"/>
              <a:t>retrieving</a:t>
            </a:r>
            <a:r>
              <a:rPr lang="fr-FR" dirty="0"/>
              <a:t> in a graph</a:t>
            </a: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0DA0D-6315-45C8-862A-9E45884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rganigramme : Connecteur 5">
                <a:extLst>
                  <a:ext uri="{FF2B5EF4-FFF2-40B4-BE49-F238E27FC236}">
                    <a16:creationId xmlns:a16="http://schemas.microsoft.com/office/drawing/2014/main" id="{42DCDB9D-7297-472D-BEB4-FF005F0A0F42}"/>
                  </a:ext>
                </a:extLst>
              </p:cNvPr>
              <p:cNvSpPr/>
              <p:nvPr/>
            </p:nvSpPr>
            <p:spPr>
              <a:xfrm>
                <a:off x="2290714" y="4096071"/>
                <a:ext cx="804628" cy="700095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:0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Organigramme : Connecteur 5">
                <a:extLst>
                  <a:ext uri="{FF2B5EF4-FFF2-40B4-BE49-F238E27FC236}">
                    <a16:creationId xmlns:a16="http://schemas.microsoft.com/office/drawing/2014/main" id="{42DCDB9D-7297-472D-BEB4-FF005F0A0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14" y="4096071"/>
                <a:ext cx="804628" cy="700095"/>
              </a:xfrm>
              <a:prstGeom prst="flowChartConnector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rganigramme : Connecteur 14">
                <a:extLst>
                  <a:ext uri="{FF2B5EF4-FFF2-40B4-BE49-F238E27FC236}">
                    <a16:creationId xmlns:a16="http://schemas.microsoft.com/office/drawing/2014/main" id="{1F407C7A-D8B0-4821-AEBC-31364D6E4793}"/>
                  </a:ext>
                </a:extLst>
              </p:cNvPr>
              <p:cNvSpPr/>
              <p:nvPr/>
            </p:nvSpPr>
            <p:spPr>
              <a:xfrm>
                <a:off x="4986779" y="5303946"/>
                <a:ext cx="789213" cy="64633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Organigramme : Connecteur 14">
                <a:extLst>
                  <a:ext uri="{FF2B5EF4-FFF2-40B4-BE49-F238E27FC236}">
                    <a16:creationId xmlns:a16="http://schemas.microsoft.com/office/drawing/2014/main" id="{1F407C7A-D8B0-4821-AEBC-31364D6E4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779" y="5303946"/>
                <a:ext cx="789213" cy="646331"/>
              </a:xfrm>
              <a:prstGeom prst="flowChartConnector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rganigramme : Connecteur 15">
                <a:extLst>
                  <a:ext uri="{FF2B5EF4-FFF2-40B4-BE49-F238E27FC236}">
                    <a16:creationId xmlns:a16="http://schemas.microsoft.com/office/drawing/2014/main" id="{6CA91605-2F31-4680-A2B3-422BDFE7D5EE}"/>
                  </a:ext>
                </a:extLst>
              </p:cNvPr>
              <p:cNvSpPr/>
              <p:nvPr/>
            </p:nvSpPr>
            <p:spPr>
              <a:xfrm>
                <a:off x="7255630" y="3668806"/>
                <a:ext cx="889129" cy="64937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Organigramme : Connecteur 15">
                <a:extLst>
                  <a:ext uri="{FF2B5EF4-FFF2-40B4-BE49-F238E27FC236}">
                    <a16:creationId xmlns:a16="http://schemas.microsoft.com/office/drawing/2014/main" id="{6CA91605-2F31-4680-A2B3-422BDFE7D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630" y="3668806"/>
                <a:ext cx="889129" cy="649371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3562D3A-0D24-47E9-977B-DFBFB1918BBA}"/>
              </a:ext>
            </a:extLst>
          </p:cNvPr>
          <p:cNvCxnSpPr>
            <a:cxnSpLocks/>
            <a:stCxn id="6" idx="7"/>
            <a:endCxn id="23" idx="3"/>
          </p:cNvCxnSpPr>
          <p:nvPr/>
        </p:nvCxnSpPr>
        <p:spPr>
          <a:xfrm flipV="1">
            <a:off x="2977507" y="3178790"/>
            <a:ext cx="1748526" cy="1019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rganigramme : Connecteur 22">
                <a:extLst>
                  <a:ext uri="{FF2B5EF4-FFF2-40B4-BE49-F238E27FC236}">
                    <a16:creationId xmlns:a16="http://schemas.microsoft.com/office/drawing/2014/main" id="{7C11A7F0-8F89-4CDB-8FCC-17164B546E64}"/>
                  </a:ext>
                </a:extLst>
              </p:cNvPr>
              <p:cNvSpPr/>
              <p:nvPr/>
            </p:nvSpPr>
            <p:spPr>
              <a:xfrm>
                <a:off x="4614983" y="2627112"/>
                <a:ext cx="758295" cy="646331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Organigramme : Connecteur 22">
                <a:extLst>
                  <a:ext uri="{FF2B5EF4-FFF2-40B4-BE49-F238E27FC236}">
                    <a16:creationId xmlns:a16="http://schemas.microsoft.com/office/drawing/2014/main" id="{7C11A7F0-8F89-4CDB-8FCC-17164B546E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983" y="2627112"/>
                <a:ext cx="758295" cy="646331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A45EBC1-772F-467E-97E8-FF951B8DEF78}"/>
              </a:ext>
            </a:extLst>
          </p:cNvPr>
          <p:cNvCxnSpPr>
            <a:cxnSpLocks/>
            <a:stCxn id="6" idx="5"/>
            <a:endCxn id="15" idx="2"/>
          </p:cNvCxnSpPr>
          <p:nvPr/>
        </p:nvCxnSpPr>
        <p:spPr>
          <a:xfrm>
            <a:off x="2977507" y="4693639"/>
            <a:ext cx="2009272" cy="933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39358EA-A661-4095-A22C-D8FDA9905D21}"/>
              </a:ext>
            </a:extLst>
          </p:cNvPr>
          <p:cNvCxnSpPr>
            <a:cxnSpLocks/>
            <a:stCxn id="23" idx="4"/>
            <a:endCxn id="15" idx="0"/>
          </p:cNvCxnSpPr>
          <p:nvPr/>
        </p:nvCxnSpPr>
        <p:spPr>
          <a:xfrm>
            <a:off x="4994131" y="3273443"/>
            <a:ext cx="387255" cy="2030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D471513-7C3D-430A-A697-44C9D47DF496}"/>
              </a:ext>
            </a:extLst>
          </p:cNvPr>
          <p:cNvCxnSpPr>
            <a:cxnSpLocks/>
            <a:stCxn id="23" idx="5"/>
            <a:endCxn id="16" idx="1"/>
          </p:cNvCxnSpPr>
          <p:nvPr/>
        </p:nvCxnSpPr>
        <p:spPr>
          <a:xfrm>
            <a:off x="5262228" y="3178790"/>
            <a:ext cx="2123612" cy="585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D5A804E-FD44-4E2C-802D-ACD1E960B0F7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 flipV="1">
            <a:off x="3095342" y="3993492"/>
            <a:ext cx="4160288" cy="452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B1500FC-5092-4A0F-A709-118847F5E7AF}"/>
              </a:ext>
            </a:extLst>
          </p:cNvPr>
          <p:cNvCxnSpPr>
            <a:cxnSpLocks/>
            <a:stCxn id="15" idx="6"/>
            <a:endCxn id="16" idx="3"/>
          </p:cNvCxnSpPr>
          <p:nvPr/>
        </p:nvCxnSpPr>
        <p:spPr>
          <a:xfrm flipV="1">
            <a:off x="5775992" y="4223079"/>
            <a:ext cx="1609848" cy="1404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D6F189A2-09A7-4653-81EA-D4024519F360}"/>
              </a:ext>
            </a:extLst>
          </p:cNvPr>
          <p:cNvSpPr txBox="1"/>
          <p:nvPr/>
        </p:nvSpPr>
        <p:spPr>
          <a:xfrm>
            <a:off x="3658590" y="318718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3B061547-4DF3-4088-9D4D-2EBF4612C033}"/>
              </a:ext>
            </a:extLst>
          </p:cNvPr>
          <p:cNvSpPr txBox="1"/>
          <p:nvPr/>
        </p:nvSpPr>
        <p:spPr>
          <a:xfrm>
            <a:off x="6050924" y="370882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74C9D00F-0CFF-49A1-8685-252286F0355D}"/>
              </a:ext>
            </a:extLst>
          </p:cNvPr>
          <p:cNvSpPr txBox="1"/>
          <p:nvPr/>
        </p:nvSpPr>
        <p:spPr>
          <a:xfrm>
            <a:off x="6513885" y="309768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D9D5F0AB-9701-40EF-898E-EA1B456AD197}"/>
              </a:ext>
            </a:extLst>
          </p:cNvPr>
          <p:cNvSpPr txBox="1"/>
          <p:nvPr/>
        </p:nvSpPr>
        <p:spPr>
          <a:xfrm>
            <a:off x="6712392" y="464718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415F2BF8-BE24-46FE-BAB2-A81C3B30E2D8}"/>
              </a:ext>
            </a:extLst>
          </p:cNvPr>
          <p:cNvSpPr txBox="1"/>
          <p:nvPr/>
        </p:nvSpPr>
        <p:spPr>
          <a:xfrm>
            <a:off x="4741438" y="35044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C21DD5EC-D154-46FD-92A9-72199E696832}"/>
              </a:ext>
            </a:extLst>
          </p:cNvPr>
          <p:cNvSpPr txBox="1"/>
          <p:nvPr/>
        </p:nvSpPr>
        <p:spPr>
          <a:xfrm>
            <a:off x="4310499" y="495229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C848FB4-3040-487A-8D75-61C35D001F74}"/>
                  </a:ext>
                </a:extLst>
              </p:cNvPr>
              <p:cNvSpPr/>
              <p:nvPr/>
            </p:nvSpPr>
            <p:spPr>
              <a:xfrm>
                <a:off x="4907332" y="2765612"/>
                <a:ext cx="470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:2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C848FB4-3040-487A-8D75-61C35D001F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332" y="2765612"/>
                <a:ext cx="470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2ED225FA-F5BC-431F-B5C2-1C343561BB31}"/>
                  </a:ext>
                </a:extLst>
              </p:cNvPr>
              <p:cNvSpPr/>
              <p:nvPr/>
            </p:nvSpPr>
            <p:spPr>
              <a:xfrm>
                <a:off x="5305992" y="5442445"/>
                <a:ext cx="470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2ED225FA-F5BC-431F-B5C2-1C343561B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992" y="5442445"/>
                <a:ext cx="470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D89323A-3EF7-4F20-BDA5-E51AF5DA5D33}"/>
                  </a:ext>
                </a:extLst>
              </p:cNvPr>
              <p:cNvSpPr/>
              <p:nvPr/>
            </p:nvSpPr>
            <p:spPr>
              <a:xfrm>
                <a:off x="7575340" y="3804040"/>
                <a:ext cx="598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fr-F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D89323A-3EF7-4F20-BDA5-E51AF5DA5D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340" y="3804040"/>
                <a:ext cx="5982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01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5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3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6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6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6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6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3" grpId="0" animBg="1"/>
      <p:bldP spid="64" grpId="0"/>
      <p:bldP spid="65" grpId="0"/>
      <p:bldP spid="66" grpId="0"/>
      <p:bldP spid="67" grpId="0"/>
      <p:bldP spid="68" grpId="0"/>
      <p:bldP spid="6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94" y="305334"/>
            <a:ext cx="9601200" cy="1485900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, </a:t>
            </a:r>
            <a:r>
              <a:rPr lang="fr-FR" dirty="0" err="1"/>
              <a:t>according</a:t>
            </a:r>
            <a:r>
              <a:rPr lang="fr-FR" dirty="0"/>
              <a:t> to kernels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A22818-AE01-41ED-8AE9-9810CAF63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3" y="1165791"/>
            <a:ext cx="6837833" cy="21957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8537F61-0272-4B4F-9FCE-9B34BD742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00" y="4048553"/>
            <a:ext cx="6837836" cy="2195727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130E9B6-3E3D-4CF3-A774-151C65CA9A3E}"/>
              </a:ext>
            </a:extLst>
          </p:cNvPr>
          <p:cNvSpPr/>
          <p:nvPr/>
        </p:nvSpPr>
        <p:spPr>
          <a:xfrm>
            <a:off x="6433751" y="1458097"/>
            <a:ext cx="1293341" cy="2038387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7244FD7-D047-4C18-B7B7-C15D6B3188E9}"/>
              </a:ext>
            </a:extLst>
          </p:cNvPr>
          <p:cNvSpPr/>
          <p:nvPr/>
        </p:nvSpPr>
        <p:spPr>
          <a:xfrm>
            <a:off x="6433750" y="4310446"/>
            <a:ext cx="1293341" cy="2038387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5807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B4304E-73FA-421C-B24D-909C1D48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49225"/>
            <a:ext cx="9601200" cy="1485900"/>
          </a:xfrm>
        </p:spPr>
        <p:txBody>
          <a:bodyPr/>
          <a:lstStyle/>
          <a:p>
            <a:r>
              <a:rPr lang="fr-FR" dirty="0"/>
              <a:t>Audio – power </a:t>
            </a:r>
            <a:r>
              <a:rPr lang="fr-FR" dirty="0" err="1"/>
              <a:t>discrepancies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CD2C56-E74C-4779-A4C9-4F4F82F2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1569"/>
            <a:ext cx="6740769" cy="4155831"/>
          </a:xfrm>
        </p:spPr>
        <p:txBody>
          <a:bodyPr/>
          <a:lstStyle/>
          <a:p>
            <a:r>
              <a:rPr lang="en-US" dirty="0"/>
              <a:t>Low-frequency coefficients are generally larger in </a:t>
            </a:r>
            <a:r>
              <a:rPr lang="en-GB" dirty="0"/>
              <a:t>magnitude than high-frequency coefficients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en-US" dirty="0"/>
              <a:t>Components of low intensity can </a:t>
            </a:r>
            <a:r>
              <a:rPr lang="en-US" b="1" dirty="0"/>
              <a:t>perceptually</a:t>
            </a:r>
            <a:r>
              <a:rPr lang="en-US" dirty="0"/>
              <a:t> be as important as components of high intensity</a:t>
            </a:r>
          </a:p>
          <a:p>
            <a:pPr lvl="1"/>
            <a:r>
              <a:rPr lang="en-US" dirty="0"/>
              <a:t>perception of loudness in the human </a:t>
            </a:r>
            <a:r>
              <a:rPr lang="en-GB" dirty="0"/>
              <a:t>ear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EF9B0E3-AF88-45DE-9D80-7F3BB312F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681" y="1192175"/>
            <a:ext cx="3467719" cy="20998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9240BE6-8C2F-417A-B68C-031A0A870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43" y="3276601"/>
            <a:ext cx="3290077" cy="29542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3806A6-4DD6-491C-9255-C29CF9845FD4}"/>
              </a:ext>
            </a:extLst>
          </p:cNvPr>
          <p:cNvSpPr/>
          <p:nvPr/>
        </p:nvSpPr>
        <p:spPr>
          <a:xfrm>
            <a:off x="8461720" y="6260124"/>
            <a:ext cx="373028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By </a:t>
            </a:r>
            <a:r>
              <a:rPr lang="en-GB" sz="1050" dirty="0" err="1"/>
              <a:t>Lindosland</a:t>
            </a:r>
            <a:r>
              <a:rPr lang="en-GB" sz="1050" dirty="0"/>
              <a:t> http://en.wikipedia.org/wiki/Image:Lindos1.svg, Public Domain, https://commons.wikimedia.org/w/index.php?curid=2565926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BC5AAF-9A24-4A65-936E-DF21E40983BA}"/>
              </a:ext>
            </a:extLst>
          </p:cNvPr>
          <p:cNvSpPr/>
          <p:nvPr/>
        </p:nvSpPr>
        <p:spPr>
          <a:xfrm>
            <a:off x="480647" y="725767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dirty="0">
                <a:latin typeface="LMRoman12-Regular"/>
              </a:rPr>
              <a:t>[FBD09] Cédric </a:t>
            </a:r>
            <a:r>
              <a:rPr lang="en-GB" sz="1200" dirty="0" err="1">
                <a:latin typeface="LMRoman12-Regular"/>
              </a:rPr>
              <a:t>Févotte</a:t>
            </a:r>
            <a:r>
              <a:rPr lang="en-GB" sz="1200" dirty="0">
                <a:latin typeface="LMRoman12-Regular"/>
              </a:rPr>
              <a:t>, Nancy </a:t>
            </a:r>
            <a:r>
              <a:rPr lang="en-GB" sz="1200" dirty="0" err="1">
                <a:latin typeface="LMRoman12-Regular"/>
              </a:rPr>
              <a:t>Bertin</a:t>
            </a:r>
            <a:r>
              <a:rPr lang="en-GB" sz="1200" dirty="0">
                <a:latin typeface="LMRoman12-Regular"/>
              </a:rPr>
              <a:t>, and Jean-Louis </a:t>
            </a:r>
            <a:r>
              <a:rPr lang="en-GB" sz="1200" dirty="0" err="1">
                <a:latin typeface="LMRoman12-Regular"/>
              </a:rPr>
              <a:t>Durrieu</a:t>
            </a:r>
            <a:r>
              <a:rPr lang="en-GB" sz="1200" dirty="0">
                <a:latin typeface="LMRoman12-Regular"/>
              </a:rPr>
              <a:t>, « Nonnegative matrix </a:t>
            </a:r>
            <a:r>
              <a:rPr lang="en-US" sz="1200" dirty="0">
                <a:latin typeface="LMRoman12-Regular"/>
              </a:rPr>
              <a:t>factorization with the </a:t>
            </a:r>
            <a:r>
              <a:rPr lang="en-US" sz="1200" dirty="0" err="1">
                <a:latin typeface="LMRoman12-Regular"/>
              </a:rPr>
              <a:t>Itakura</a:t>
            </a:r>
            <a:r>
              <a:rPr lang="en-US" sz="1200" dirty="0">
                <a:latin typeface="LMRoman12-Regular"/>
              </a:rPr>
              <a:t>-Saito divergence: With application to music </a:t>
            </a:r>
            <a:r>
              <a:rPr lang="en-GB" sz="1200" dirty="0">
                <a:latin typeface="LMRoman12-Regular"/>
              </a:rPr>
              <a:t>analysis », </a:t>
            </a:r>
            <a:r>
              <a:rPr lang="en-GB" sz="1200" i="1" dirty="0">
                <a:latin typeface="LMRoman12-Italic"/>
              </a:rPr>
              <a:t>in</a:t>
            </a:r>
            <a:r>
              <a:rPr lang="en-GB" sz="1200" dirty="0">
                <a:latin typeface="LMRoman12-Regular"/>
              </a:rPr>
              <a:t>: </a:t>
            </a:r>
            <a:r>
              <a:rPr lang="en-GB" sz="1200" i="1" dirty="0">
                <a:latin typeface="LMRoman12-Italic"/>
              </a:rPr>
              <a:t>Neural computation </a:t>
            </a:r>
            <a:r>
              <a:rPr lang="en-GB" sz="1200" dirty="0">
                <a:latin typeface="LMRoman12-Regular"/>
              </a:rPr>
              <a:t>21.</a:t>
            </a:r>
            <a:r>
              <a:rPr lang="en-GB" sz="1200" i="1" dirty="0">
                <a:latin typeface="LMRoman12-Italic"/>
              </a:rPr>
              <a:t>3 </a:t>
            </a:r>
            <a:r>
              <a:rPr lang="en-GB" sz="1200" dirty="0">
                <a:latin typeface="LMRoman12-Regular"/>
              </a:rPr>
              <a:t>(2009), pp. 793–830.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94657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18C5150E-3B1D-4963-B1BB-8A01D27EEB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600" y="0"/>
                <a:ext cx="9601200" cy="14859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fr-FR" dirty="0"/>
                  <a:t>-divergence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18C5150E-3B1D-4963-B1BB-8A01D27EE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600" y="0"/>
                <a:ext cx="9601200" cy="1485900"/>
              </a:xfrm>
              <a:blipFill>
                <a:blip r:embed="rId2"/>
                <a:stretch>
                  <a:fillRect t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8D01F3-08C9-4BF6-A835-929A8C41623B}"/>
                  </a:ext>
                </a:extLst>
              </p:cNvPr>
              <p:cNvSpPr/>
              <p:nvPr/>
            </p:nvSpPr>
            <p:spPr>
              <a:xfrm>
                <a:off x="1371600" y="865921"/>
                <a:ext cx="8358554" cy="28753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−1                       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𝐼𝑡𝑎𝑘𝑢𝑟𝑎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𝑆𝑎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ï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𝐾𝑢𝑙𝑙𝑏𝑎𝑐𝑘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𝐿𝑒𝑖𝑏𝑙𝑒𝑟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\</m:t>
                              </m:r>
                              <m:r>
                                <m:rPr>
                                  <m:lit/>
                                </m:r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0,1}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8D01F3-08C9-4BF6-A835-929A8C416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865921"/>
                <a:ext cx="8358554" cy="2875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re 1">
                <a:extLst>
                  <a:ext uri="{FF2B5EF4-FFF2-40B4-BE49-F238E27FC236}">
                    <a16:creationId xmlns:a16="http://schemas.microsoft.com/office/drawing/2014/main" id="{EB4DDD61-3A4B-42CA-9FA7-0D91CDBEB5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3323" y="3266476"/>
                <a:ext cx="3938954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fr-FR" sz="2000" dirty="0"/>
                  <a:t>(</a:t>
                </a:r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=2: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𝐸𝑢𝑐𝑙𝑖𝑑𝑒𝑎𝑛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𝑛𝑜𝑟𝑚</m:t>
                    </m:r>
                  </m:oMath>
                </a14:m>
                <a:r>
                  <a:rPr lang="fr-FR" sz="2000" dirty="0"/>
                  <a:t>)</a:t>
                </a:r>
              </a:p>
            </p:txBody>
          </p:sp>
        </mc:Choice>
        <mc:Fallback xmlns="">
          <p:sp>
            <p:nvSpPr>
              <p:cNvPr id="8" name="Titre 1">
                <a:extLst>
                  <a:ext uri="{FF2B5EF4-FFF2-40B4-BE49-F238E27FC236}">
                    <a16:creationId xmlns:a16="http://schemas.microsoft.com/office/drawing/2014/main" id="{EB4DDD61-3A4B-42CA-9FA7-0D91CDBEB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323" y="3266476"/>
                <a:ext cx="3938954" cy="474784"/>
              </a:xfrm>
              <a:prstGeom prst="rect">
                <a:avLst/>
              </a:prstGeom>
              <a:blipFill>
                <a:blip r:embed="rId4"/>
                <a:stretch>
                  <a:fillRect l="-1703" t="-141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re 1">
                <a:extLst>
                  <a:ext uri="{FF2B5EF4-FFF2-40B4-BE49-F238E27FC236}">
                    <a16:creationId xmlns:a16="http://schemas.microsoft.com/office/drawing/2014/main" id="{9F803097-2BC8-4A30-B228-3DF8DAC425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1600" y="4727336"/>
                <a:ext cx="5580184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fr-FR" sz="2000" dirty="0"/>
                  <a:t>For </a:t>
                </a:r>
                <a:r>
                  <a:rPr lang="fr-FR" sz="2000" dirty="0" err="1"/>
                  <a:t>any</a:t>
                </a:r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sz="2000" dirty="0"/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Titre 1">
                <a:extLst>
                  <a:ext uri="{FF2B5EF4-FFF2-40B4-BE49-F238E27FC236}">
                    <a16:creationId xmlns:a16="http://schemas.microsoft.com/office/drawing/2014/main" id="{9F803097-2BC8-4A30-B228-3DF8DAC42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727336"/>
                <a:ext cx="5580184" cy="474784"/>
              </a:xfrm>
              <a:prstGeom prst="rect">
                <a:avLst/>
              </a:prstGeom>
              <a:blipFill>
                <a:blip r:embed="rId5"/>
                <a:stretch>
                  <a:fillRect l="-1093" t="-8974" b="-3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0B3078DF-1B68-48E9-8F84-6F6DE5A657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4462" y="4252552"/>
                <a:ext cx="3810000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0B3078DF-1B68-48E9-8F84-6F6DE5A65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462" y="4252552"/>
                <a:ext cx="3810000" cy="474784"/>
              </a:xfrm>
              <a:prstGeom prst="rect">
                <a:avLst/>
              </a:prstGeom>
              <a:blipFill>
                <a:blip r:embed="rId6"/>
                <a:stretch>
                  <a:fillRect l="-6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re 1">
                <a:extLst>
                  <a:ext uri="{FF2B5EF4-FFF2-40B4-BE49-F238E27FC236}">
                    <a16:creationId xmlns:a16="http://schemas.microsoft.com/office/drawing/2014/main" id="{53EE9BA2-7B80-4E3F-BF02-A41E004B78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4462" y="4718542"/>
                <a:ext cx="3810000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11" name="Titre 1">
                <a:extLst>
                  <a:ext uri="{FF2B5EF4-FFF2-40B4-BE49-F238E27FC236}">
                    <a16:creationId xmlns:a16="http://schemas.microsoft.com/office/drawing/2014/main" id="{53EE9BA2-7B80-4E3F-BF02-A41E004B7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462" y="4718542"/>
                <a:ext cx="3810000" cy="474784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re 1">
                <a:extLst>
                  <a:ext uri="{FF2B5EF4-FFF2-40B4-BE49-F238E27FC236}">
                    <a16:creationId xmlns:a16="http://schemas.microsoft.com/office/drawing/2014/main" id="{B7F7E363-6205-47F2-B364-69C830BACB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4462" y="5181603"/>
                <a:ext cx="3810000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12" name="Titre 1">
                <a:extLst>
                  <a:ext uri="{FF2B5EF4-FFF2-40B4-BE49-F238E27FC236}">
                    <a16:creationId xmlns:a16="http://schemas.microsoft.com/office/drawing/2014/main" id="{B7F7E363-6205-47F2-B364-69C830BAC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462" y="5181603"/>
                <a:ext cx="3810000" cy="474784"/>
              </a:xfrm>
              <a:prstGeom prst="rect">
                <a:avLst/>
              </a:prstGeom>
              <a:blipFill>
                <a:blip r:embed="rId8"/>
                <a:stretch>
                  <a:fillRect l="-6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re 1">
                <a:extLst>
                  <a:ext uri="{FF2B5EF4-FFF2-40B4-BE49-F238E27FC236}">
                    <a16:creationId xmlns:a16="http://schemas.microsoft.com/office/drawing/2014/main" id="{8255966A-E84B-4979-96EC-A7A58DE897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79278" y="6188196"/>
                <a:ext cx="5580184" cy="47478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89000"/>
                  </a:lnSpc>
                  <a:spcBef>
                    <a:spcPct val="0"/>
                  </a:spcBef>
                  <a:buNone/>
                  <a:defRPr sz="4400" kern="1200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fr-FR" sz="2000" dirty="0"/>
                  <a:t>(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fr-FR" sz="2000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0.1</m:t>
                        </m:r>
                      </m:e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</m:d>
                  </m:oMath>
                </a14:m>
                <a:r>
                  <a:rPr lang="fr-FR" sz="2000" dirty="0"/>
                  <a:t> )</a:t>
                </a:r>
              </a:p>
            </p:txBody>
          </p:sp>
        </mc:Choice>
        <mc:Fallback xmlns="">
          <p:sp>
            <p:nvSpPr>
              <p:cNvPr id="13" name="Titre 1">
                <a:extLst>
                  <a:ext uri="{FF2B5EF4-FFF2-40B4-BE49-F238E27FC236}">
                    <a16:creationId xmlns:a16="http://schemas.microsoft.com/office/drawing/2014/main" id="{8255966A-E84B-4979-96EC-A7A58DE89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78" y="6188196"/>
                <a:ext cx="5580184" cy="474784"/>
              </a:xfrm>
              <a:prstGeom prst="rect">
                <a:avLst/>
              </a:prstGeom>
              <a:blipFill>
                <a:blip r:embed="rId9"/>
                <a:stretch>
                  <a:fillRect l="-1202" t="-1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8D688C3-165C-4A6D-93C2-62AC85BF16B3}"/>
              </a:ext>
            </a:extLst>
          </p:cNvPr>
          <p:cNvCxnSpPr/>
          <p:nvPr/>
        </p:nvCxnSpPr>
        <p:spPr>
          <a:xfrm>
            <a:off x="1371600" y="3915508"/>
            <a:ext cx="102928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906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1041"/>
            <a:ext cx="9601200" cy="1485900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for CBM, scores </a:t>
            </a:r>
            <a:r>
              <a:rPr lang="fr-FR" dirty="0" err="1"/>
              <a:t>aligned</a:t>
            </a:r>
            <a:r>
              <a:rPr lang="fr-FR" dirty="0"/>
              <a:t> on bars</a:t>
            </a:r>
            <a:br>
              <a:rPr lang="fr-FR" dirty="0"/>
            </a:br>
            <a:r>
              <a:rPr lang="fr-FR" sz="2400" dirty="0"/>
              <a:t>RWC POP </a:t>
            </a:r>
            <a:r>
              <a:rPr lang="fr-FR" sz="2400" dirty="0" err="1"/>
              <a:t>dataset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59B4661-8C73-4674-89B0-DD420A475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824" y="1898050"/>
            <a:ext cx="2736900" cy="235250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71897FC-3226-423E-B881-073EA1A37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824" y="4427762"/>
            <a:ext cx="2736900" cy="235250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1C30866-1034-4B6D-AD41-AD465765F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47" y="1898050"/>
            <a:ext cx="2736901" cy="235250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0A0CD1C-F9DF-492C-BB4E-55F4CD176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47" y="4416611"/>
            <a:ext cx="2736900" cy="2352504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3E4222-518C-4B41-B943-42D792327458}"/>
              </a:ext>
            </a:extLst>
          </p:cNvPr>
          <p:cNvCxnSpPr/>
          <p:nvPr/>
        </p:nvCxnSpPr>
        <p:spPr>
          <a:xfrm>
            <a:off x="947854" y="4295158"/>
            <a:ext cx="9690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E873ED0-D196-4F0D-B716-63BED689C621}"/>
              </a:ext>
            </a:extLst>
          </p:cNvPr>
          <p:cNvCxnSpPr>
            <a:cxnSpLocks/>
          </p:cNvCxnSpPr>
          <p:nvPr/>
        </p:nvCxnSpPr>
        <p:spPr>
          <a:xfrm>
            <a:off x="5793058" y="1248937"/>
            <a:ext cx="0" cy="5520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7CB5F19-6038-43A1-BA5F-2E57A153F574}"/>
              </a:ext>
            </a:extLst>
          </p:cNvPr>
          <p:cNvCxnSpPr>
            <a:cxnSpLocks/>
          </p:cNvCxnSpPr>
          <p:nvPr/>
        </p:nvCxnSpPr>
        <p:spPr>
          <a:xfrm>
            <a:off x="2020229" y="1248937"/>
            <a:ext cx="0" cy="5531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DE6B0E5-4C9D-4D06-BDF8-C974CF6268D8}"/>
              </a:ext>
            </a:extLst>
          </p:cNvPr>
          <p:cNvCxnSpPr/>
          <p:nvPr/>
        </p:nvCxnSpPr>
        <p:spPr>
          <a:xfrm>
            <a:off x="947853" y="1698255"/>
            <a:ext cx="9690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0C69B0F-0060-410D-A7D2-9CB5261F6A1A}"/>
              </a:ext>
            </a:extLst>
          </p:cNvPr>
          <p:cNvSpPr txBox="1"/>
          <p:nvPr/>
        </p:nvSpPr>
        <p:spPr>
          <a:xfrm>
            <a:off x="972869" y="2673541"/>
            <a:ext cx="797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Close </a:t>
            </a:r>
          </a:p>
          <a:p>
            <a:r>
              <a:rPr lang="en-GB" dirty="0"/>
              <a:t>metric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D91B132-91B8-4147-A73E-6849BA6736AF}"/>
              </a:ext>
            </a:extLst>
          </p:cNvPr>
          <p:cNvSpPr txBox="1"/>
          <p:nvPr/>
        </p:nvSpPr>
        <p:spPr>
          <a:xfrm>
            <a:off x="972869" y="5214140"/>
            <a:ext cx="797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Large </a:t>
            </a:r>
          </a:p>
          <a:p>
            <a:r>
              <a:rPr lang="en-GB" dirty="0"/>
              <a:t>metric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478F7EE-DC7A-4E44-970F-C9A441A465FD}"/>
              </a:ext>
            </a:extLst>
          </p:cNvPr>
          <p:cNvSpPr txBox="1"/>
          <p:nvPr/>
        </p:nvSpPr>
        <p:spPr>
          <a:xfrm>
            <a:off x="3407949" y="124299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Seconds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343D60F-4DBD-48EF-A181-EF4BF8165C15}"/>
              </a:ext>
            </a:extLst>
          </p:cNvPr>
          <p:cNvSpPr txBox="1"/>
          <p:nvPr/>
        </p:nvSpPr>
        <p:spPr>
          <a:xfrm>
            <a:off x="7493579" y="1242995"/>
            <a:ext cx="173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Barwise aligned</a:t>
            </a:r>
          </a:p>
        </p:txBody>
      </p:sp>
    </p:spTree>
    <p:extLst>
      <p:ext uri="{BB962C8B-B14F-4D97-AF65-F5344CB8AC3E}">
        <p14:creationId xmlns:p14="http://schemas.microsoft.com/office/powerpoint/2010/main" val="4422131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555"/>
            <a:ext cx="9601200" cy="1485900"/>
          </a:xfrm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for CBM, scores </a:t>
            </a:r>
            <a:r>
              <a:rPr lang="fr-FR" dirty="0" err="1"/>
              <a:t>aligned</a:t>
            </a:r>
            <a:r>
              <a:rPr lang="fr-FR" dirty="0"/>
              <a:t> on bars</a:t>
            </a:r>
            <a:br>
              <a:rPr lang="fr-FR" dirty="0"/>
            </a:br>
            <a:r>
              <a:rPr lang="fr-FR" sz="2400" dirty="0"/>
              <a:t>SALAMI </a:t>
            </a:r>
            <a:r>
              <a:rPr lang="fr-FR" sz="2400" dirty="0" err="1"/>
              <a:t>dataset</a:t>
            </a:r>
            <a:endParaRPr lang="fr-FR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3E4222-518C-4B41-B943-42D792327458}"/>
              </a:ext>
            </a:extLst>
          </p:cNvPr>
          <p:cNvCxnSpPr/>
          <p:nvPr/>
        </p:nvCxnSpPr>
        <p:spPr>
          <a:xfrm>
            <a:off x="947854" y="4295158"/>
            <a:ext cx="9690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E873ED0-D196-4F0D-B716-63BED689C621}"/>
              </a:ext>
            </a:extLst>
          </p:cNvPr>
          <p:cNvCxnSpPr>
            <a:cxnSpLocks/>
          </p:cNvCxnSpPr>
          <p:nvPr/>
        </p:nvCxnSpPr>
        <p:spPr>
          <a:xfrm>
            <a:off x="5793058" y="1248937"/>
            <a:ext cx="0" cy="5520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7CB5F19-6038-43A1-BA5F-2E57A153F574}"/>
              </a:ext>
            </a:extLst>
          </p:cNvPr>
          <p:cNvCxnSpPr>
            <a:cxnSpLocks/>
          </p:cNvCxnSpPr>
          <p:nvPr/>
        </p:nvCxnSpPr>
        <p:spPr>
          <a:xfrm>
            <a:off x="2020229" y="1248937"/>
            <a:ext cx="0" cy="5531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DE6B0E5-4C9D-4D06-BDF8-C974CF6268D8}"/>
              </a:ext>
            </a:extLst>
          </p:cNvPr>
          <p:cNvCxnSpPr/>
          <p:nvPr/>
        </p:nvCxnSpPr>
        <p:spPr>
          <a:xfrm>
            <a:off x="947853" y="1698255"/>
            <a:ext cx="9690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0C69B0F-0060-410D-A7D2-9CB5261F6A1A}"/>
              </a:ext>
            </a:extLst>
          </p:cNvPr>
          <p:cNvSpPr txBox="1"/>
          <p:nvPr/>
        </p:nvSpPr>
        <p:spPr>
          <a:xfrm>
            <a:off x="972869" y="2673541"/>
            <a:ext cx="797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Close </a:t>
            </a:r>
          </a:p>
          <a:p>
            <a:r>
              <a:rPr lang="en-GB" dirty="0"/>
              <a:t>metric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D91B132-91B8-4147-A73E-6849BA6736AF}"/>
              </a:ext>
            </a:extLst>
          </p:cNvPr>
          <p:cNvSpPr txBox="1"/>
          <p:nvPr/>
        </p:nvSpPr>
        <p:spPr>
          <a:xfrm>
            <a:off x="972869" y="5214140"/>
            <a:ext cx="797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Large </a:t>
            </a:r>
          </a:p>
          <a:p>
            <a:r>
              <a:rPr lang="en-GB" dirty="0"/>
              <a:t>metric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478F7EE-DC7A-4E44-970F-C9A441A465FD}"/>
              </a:ext>
            </a:extLst>
          </p:cNvPr>
          <p:cNvSpPr txBox="1"/>
          <p:nvPr/>
        </p:nvSpPr>
        <p:spPr>
          <a:xfrm>
            <a:off x="3407949" y="1242995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Seconds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343D60F-4DBD-48EF-A181-EF4BF8165C15}"/>
              </a:ext>
            </a:extLst>
          </p:cNvPr>
          <p:cNvSpPr txBox="1"/>
          <p:nvPr/>
        </p:nvSpPr>
        <p:spPr>
          <a:xfrm>
            <a:off x="7493579" y="1242995"/>
            <a:ext cx="173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Barwise aligned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98EA95E-0E88-4E43-A094-1694B0085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45" y="1965284"/>
            <a:ext cx="2656829" cy="208964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BFC9D8F-4684-48A3-8B8B-FCFD625BC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26" y="1965284"/>
            <a:ext cx="2659008" cy="209135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E934BF7-2BE6-4348-B9B6-A5C4A450E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26" y="4568139"/>
            <a:ext cx="2659008" cy="209135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08E395C-4E37-4EE1-8EC5-6C25B0D17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13" y="4568139"/>
            <a:ext cx="2649261" cy="20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154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A7C8A2-5F65-430D-80BB-A0DF27F4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21856"/>
            <a:ext cx="9601200" cy="1485900"/>
          </a:xfrm>
        </p:spPr>
        <p:txBody>
          <a:bodyPr/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mixing</a:t>
            </a:r>
            <a:r>
              <a:rPr lang="fr-FR" dirty="0"/>
              <a:t> AE and NTD?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609C2F-7000-4372-B3A7-4612590D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78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DA3A5-BA49-4AA2-9112-EEC79CBAC8C7}"/>
              </a:ext>
            </a:extLst>
          </p:cNvPr>
          <p:cNvSpPr/>
          <p:nvPr/>
        </p:nvSpPr>
        <p:spPr>
          <a:xfrm>
            <a:off x="1516489" y="1509322"/>
            <a:ext cx="3046275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BE7DD"/>
                </a:solidFill>
              </a:rPr>
              <a:t>Performance-</a:t>
            </a:r>
            <a:r>
              <a:rPr lang="fr-FR" dirty="0" err="1">
                <a:solidFill>
                  <a:srgbClr val="EBE7DD"/>
                </a:solidFill>
              </a:rPr>
              <a:t>Interpretability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117A0-43D5-4448-9D20-3B6AD6F01107}"/>
              </a:ext>
            </a:extLst>
          </p:cNvPr>
          <p:cNvSpPr/>
          <p:nvPr/>
        </p:nvSpPr>
        <p:spPr>
          <a:xfrm>
            <a:off x="1516489" y="2294995"/>
            <a:ext cx="3046275" cy="291720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Combining</a:t>
            </a:r>
            <a:r>
              <a:rPr lang="fr-FR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segmentation </a:t>
            </a:r>
            <a:r>
              <a:rPr lang="fr-FR" dirty="0" err="1">
                <a:solidFill>
                  <a:schemeClr val="tx1"/>
                </a:solidFill>
              </a:rPr>
              <a:t>results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AutoEncoders</a:t>
            </a:r>
            <a:endParaRPr lang="fr-FR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interpretability</a:t>
            </a:r>
            <a:r>
              <a:rPr lang="fr-FR" dirty="0">
                <a:solidFill>
                  <a:schemeClr val="tx1"/>
                </a:solidFill>
              </a:rPr>
              <a:t> of NTD</a:t>
            </a:r>
          </a:p>
          <a:p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0CC8D5-E859-4569-983E-D8504D28D7AB}"/>
              </a:ext>
            </a:extLst>
          </p:cNvPr>
          <p:cNvSpPr/>
          <p:nvPr/>
        </p:nvSpPr>
        <p:spPr>
          <a:xfrm>
            <a:off x="5097886" y="1509322"/>
            <a:ext cx="2847697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rgbClr val="EBE7DD"/>
                </a:solidFill>
              </a:rPr>
              <a:t>Expressiveness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D0FA3-64F7-4077-8AB3-71B4BE62D902}"/>
              </a:ext>
            </a:extLst>
          </p:cNvPr>
          <p:cNvSpPr/>
          <p:nvPr/>
        </p:nvSpPr>
        <p:spPr>
          <a:xfrm>
            <a:off x="5097887" y="2294995"/>
            <a:ext cx="2847696" cy="29172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Greater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subspace</a:t>
            </a:r>
            <a:r>
              <a:rPr lang="fr-FR" dirty="0">
                <a:solidFill>
                  <a:schemeClr val="tx1"/>
                </a:solidFill>
              </a:rPr>
              <a:t> of solutions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AE </a:t>
            </a:r>
            <a:r>
              <a:rPr lang="fr-FR" dirty="0" err="1">
                <a:solidFill>
                  <a:schemeClr val="tx1"/>
                </a:solidFill>
              </a:rPr>
              <a:t>than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NTD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activations </a:t>
            </a:r>
            <a:r>
              <a:rPr lang="fr-FR" sz="1600" dirty="0" err="1">
                <a:solidFill>
                  <a:schemeClr val="tx1"/>
                </a:solidFill>
              </a:rPr>
              <a:t>functions</a:t>
            </a:r>
            <a:endParaRPr lang="fr-FR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encoder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Ease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implementing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constraints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i="1" dirty="0">
                <a:solidFill>
                  <a:schemeClr val="tx1"/>
                </a:solidFill>
              </a:rPr>
              <a:t>(ex: </a:t>
            </a:r>
            <a:r>
              <a:rPr lang="fr-FR" i="1" dirty="0" err="1">
                <a:solidFill>
                  <a:schemeClr val="tx1"/>
                </a:solidFill>
              </a:rPr>
              <a:t>sigmoid</a:t>
            </a:r>
            <a:r>
              <a:rPr lang="fr-FR" i="1" dirty="0">
                <a:solidFill>
                  <a:schemeClr val="tx1"/>
                </a:solidFill>
              </a:rPr>
              <a:t> in the latent </a:t>
            </a:r>
            <a:r>
              <a:rPr lang="fr-FR" i="1" dirty="0" err="1">
                <a:solidFill>
                  <a:schemeClr val="tx1"/>
                </a:solidFill>
              </a:rPr>
              <a:t>space</a:t>
            </a:r>
            <a:r>
              <a:rPr lang="fr-FR" i="1" dirty="0">
                <a:solidFill>
                  <a:schemeClr val="tx1"/>
                </a:solidFill>
              </a:rPr>
              <a:t>)</a:t>
            </a:r>
            <a:endParaRPr lang="fr-FR" sz="1600" i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A6CDE-E849-4C6C-B98F-3B3063B4C4B6}"/>
              </a:ext>
            </a:extLst>
          </p:cNvPr>
          <p:cNvSpPr/>
          <p:nvPr/>
        </p:nvSpPr>
        <p:spPr>
          <a:xfrm>
            <a:off x="8480706" y="1509322"/>
            <a:ext cx="3044828" cy="785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rgbClr val="EBE7DD"/>
                </a:solidFill>
              </a:rPr>
              <a:t>Technical</a:t>
            </a:r>
            <a:r>
              <a:rPr lang="fr-FR" dirty="0">
                <a:solidFill>
                  <a:srgbClr val="EBE7DD"/>
                </a:solidFill>
              </a:rPr>
              <a:t> </a:t>
            </a:r>
            <a:r>
              <a:rPr lang="fr-FR" dirty="0" err="1">
                <a:solidFill>
                  <a:srgbClr val="EBE7DD"/>
                </a:solidFill>
              </a:rPr>
              <a:t>tools</a:t>
            </a:r>
            <a:endParaRPr lang="fr-FR" dirty="0">
              <a:solidFill>
                <a:srgbClr val="EBE7DD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4EF9B-E0BC-45D0-B060-8E54C3856F13}"/>
              </a:ext>
            </a:extLst>
          </p:cNvPr>
          <p:cNvSpPr/>
          <p:nvPr/>
        </p:nvSpPr>
        <p:spPr>
          <a:xfrm>
            <a:off x="8480705" y="2294995"/>
            <a:ext cx="3044829" cy="29172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Using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toolboxes</a:t>
            </a:r>
            <a:r>
              <a:rPr lang="fr-FR" dirty="0">
                <a:solidFill>
                  <a:schemeClr val="tx1"/>
                </a:solidFill>
              </a:rPr>
              <a:t>    (</a:t>
            </a:r>
            <a:r>
              <a:rPr lang="fr-FR" dirty="0" err="1">
                <a:solidFill>
                  <a:schemeClr val="tx1"/>
                </a:solidFill>
              </a:rPr>
              <a:t>PyTorch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TensorFlow</a:t>
            </a:r>
            <a:r>
              <a:rPr lang="fr-FR" dirty="0">
                <a:solidFill>
                  <a:schemeClr val="tx1"/>
                </a:solidFill>
              </a:rPr>
              <a:t>)  </a:t>
            </a:r>
            <a:r>
              <a:rPr lang="fr-FR" dirty="0" err="1">
                <a:solidFill>
                  <a:schemeClr val="tx1"/>
                </a:solidFill>
              </a:rPr>
              <a:t>with</a:t>
            </a:r>
            <a:r>
              <a:rPr lang="fr-FR" dirty="0">
                <a:solidFill>
                  <a:schemeClr val="tx1"/>
                </a:solidFill>
              </a:rPr>
              <a:t> high-performance </a:t>
            </a:r>
            <a:r>
              <a:rPr lang="fr-FR" dirty="0" err="1">
                <a:solidFill>
                  <a:schemeClr val="tx1"/>
                </a:solidFill>
              </a:rPr>
              <a:t>computing</a:t>
            </a:r>
            <a:endParaRPr lang="fr-F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endParaRPr lang="fr-FR" i="1" dirty="0">
              <a:solidFill>
                <a:schemeClr val="tx1"/>
              </a:solidFill>
            </a:endParaRPr>
          </a:p>
          <a:p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CED68B-89C9-4505-AA38-FE02160A8F6E}"/>
              </a:ext>
            </a:extLst>
          </p:cNvPr>
          <p:cNvSpPr/>
          <p:nvPr/>
        </p:nvSpPr>
        <p:spPr>
          <a:xfrm>
            <a:off x="1516490" y="5213076"/>
            <a:ext cx="3046273" cy="11230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u="sng" dirty="0">
                <a:solidFill>
                  <a:schemeClr val="tx1"/>
                </a:solidFill>
              </a:rPr>
              <a:t>Objective</a:t>
            </a:r>
            <a:r>
              <a:rPr lang="fr-FR" i="1" dirty="0">
                <a:solidFill>
                  <a:schemeClr val="tx1"/>
                </a:solidFill>
              </a:rPr>
              <a:t>: </a:t>
            </a:r>
            <a:r>
              <a:rPr lang="fr-FR" i="1" dirty="0" err="1">
                <a:solidFill>
                  <a:schemeClr val="tx1"/>
                </a:solidFill>
              </a:rPr>
              <a:t>interpretable</a:t>
            </a:r>
            <a:r>
              <a:rPr lang="fr-FR" i="1" dirty="0">
                <a:solidFill>
                  <a:schemeClr val="tx1"/>
                </a:solidFill>
              </a:rPr>
              <a:t> patterns in the </a:t>
            </a:r>
            <a:r>
              <a:rPr lang="fr-FR" i="1" dirty="0" err="1">
                <a:solidFill>
                  <a:schemeClr val="tx1"/>
                </a:solidFill>
              </a:rPr>
              <a:t>decoder</a:t>
            </a: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51B324-FDFE-408F-B64B-D7D30458DE65}"/>
              </a:ext>
            </a:extLst>
          </p:cNvPr>
          <p:cNvSpPr/>
          <p:nvPr/>
        </p:nvSpPr>
        <p:spPr>
          <a:xfrm>
            <a:off x="5097883" y="5212198"/>
            <a:ext cx="2847697" cy="11230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u="sng" dirty="0">
                <a:solidFill>
                  <a:schemeClr val="tx1"/>
                </a:solidFill>
              </a:rPr>
              <a:t>Objective</a:t>
            </a:r>
            <a:r>
              <a:rPr lang="fr-FR" i="1" dirty="0">
                <a:solidFill>
                  <a:schemeClr val="tx1"/>
                </a:solidFill>
              </a:rPr>
              <a:t>: </a:t>
            </a:r>
            <a:r>
              <a:rPr lang="fr-FR" i="1" dirty="0" err="1">
                <a:solidFill>
                  <a:schemeClr val="tx1"/>
                </a:solidFill>
              </a:rPr>
              <a:t>improve</a:t>
            </a:r>
            <a:r>
              <a:rPr lang="fr-FR" i="1" dirty="0">
                <a:solidFill>
                  <a:schemeClr val="tx1"/>
                </a:solidFill>
              </a:rPr>
              <a:t> the NTD outputs, and follow state-of-the-art </a:t>
            </a:r>
            <a:r>
              <a:rPr lang="fr-FR" i="1" dirty="0" err="1">
                <a:solidFill>
                  <a:schemeClr val="tx1"/>
                </a:solidFill>
              </a:rPr>
              <a:t>research</a:t>
            </a: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ECB877-3D7C-44F1-B68E-ACBEF3107A2F}"/>
              </a:ext>
            </a:extLst>
          </p:cNvPr>
          <p:cNvSpPr/>
          <p:nvPr/>
        </p:nvSpPr>
        <p:spPr>
          <a:xfrm>
            <a:off x="8480703" y="5212198"/>
            <a:ext cx="3044831" cy="112306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u="sng" dirty="0">
                <a:solidFill>
                  <a:schemeClr val="tx1"/>
                </a:solidFill>
              </a:rPr>
              <a:t>Objective</a:t>
            </a:r>
            <a:r>
              <a:rPr lang="fr-FR" i="1" dirty="0">
                <a:solidFill>
                  <a:schemeClr val="tx1"/>
                </a:solidFill>
              </a:rPr>
              <a:t>: </a:t>
            </a:r>
            <a:r>
              <a:rPr lang="fr-FR" i="1" dirty="0" err="1">
                <a:solidFill>
                  <a:schemeClr val="tx1"/>
                </a:solidFill>
              </a:rPr>
              <a:t>benefiting</a:t>
            </a:r>
            <a:r>
              <a:rPr lang="fr-FR" i="1" dirty="0">
                <a:solidFill>
                  <a:schemeClr val="tx1"/>
                </a:solidFill>
              </a:rPr>
              <a:t> </a:t>
            </a:r>
            <a:r>
              <a:rPr lang="fr-FR" i="1" dirty="0" err="1">
                <a:solidFill>
                  <a:schemeClr val="tx1"/>
                </a:solidFill>
              </a:rPr>
              <a:t>from</a:t>
            </a:r>
            <a:r>
              <a:rPr lang="fr-FR" i="1" dirty="0">
                <a:solidFill>
                  <a:schemeClr val="tx1"/>
                </a:solidFill>
              </a:rPr>
              <a:t> </a:t>
            </a:r>
            <a:r>
              <a:rPr lang="fr-FR" i="1" dirty="0" err="1">
                <a:solidFill>
                  <a:schemeClr val="tx1"/>
                </a:solidFill>
              </a:rPr>
              <a:t>recent</a:t>
            </a:r>
            <a:r>
              <a:rPr lang="fr-FR" i="1" dirty="0">
                <a:solidFill>
                  <a:schemeClr val="tx1"/>
                </a:solidFill>
              </a:rPr>
              <a:t> </a:t>
            </a:r>
            <a:r>
              <a:rPr lang="fr-FR" i="1" dirty="0" err="1">
                <a:solidFill>
                  <a:schemeClr val="tx1"/>
                </a:solidFill>
              </a:rPr>
              <a:t>developments</a:t>
            </a:r>
            <a:r>
              <a:rPr lang="fr-FR" i="1" dirty="0">
                <a:solidFill>
                  <a:schemeClr val="tx1"/>
                </a:solidFill>
              </a:rPr>
              <a:t> in Neural networks computation</a:t>
            </a:r>
          </a:p>
        </p:txBody>
      </p:sp>
    </p:spTree>
    <p:extLst>
      <p:ext uri="{BB962C8B-B14F-4D97-AF65-F5344CB8AC3E}">
        <p14:creationId xmlns:p14="http://schemas.microsoft.com/office/powerpoint/2010/main" val="2173737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82BB9-1883-4863-BD0B-135276C0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6896"/>
            <a:ext cx="9601200" cy="832374"/>
          </a:xfrm>
        </p:spPr>
        <p:txBody>
          <a:bodyPr>
            <a:normAutofit/>
          </a:bodyPr>
          <a:lstStyle/>
          <a:p>
            <a:r>
              <a:rPr lang="fr-FR" dirty="0"/>
              <a:t>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55270BC-DF01-4E1D-B1BC-75A52FD72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212817"/>
                <a:ext cx="5247564" cy="4281443"/>
              </a:xfrm>
            </p:spPr>
            <p:txBody>
              <a:bodyPr/>
              <a:lstStyle/>
              <a:p>
                <a:r>
                  <a:rPr lang="fr-FR" dirty="0"/>
                  <a:t>Computes directions of maximal variance ("principal components")</a:t>
                </a:r>
              </a:p>
              <a:p>
                <a:pPr lvl="1"/>
                <a:r>
                  <a:rPr lang="fr-FR" b="1" dirty="0"/>
                  <a:t>Not </a:t>
                </a:r>
                <a:r>
                  <a:rPr lang="fr-FR" b="1" dirty="0" err="1"/>
                  <a:t>intepretable</a:t>
                </a:r>
                <a:r>
                  <a:rPr lang="fr-FR" b="1" dirty="0"/>
                  <a:t>!</a:t>
                </a:r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i="1" dirty="0">
                          <a:latin typeface="Cambria Math" panose="02040503050406030204" pitchFamily="18" charset="0"/>
                        </a:rPr>
                        <m:t>𝑈𝑆</m:t>
                      </m:r>
                      <m:sSup>
                        <m:sSupPr>
                          <m:ctrlPr>
                            <a:rPr lang="fr-FR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fr-FR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fr-FR" sz="2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FR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fr-FR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fr-FR" sz="1800" dirty="0"/>
                  <a:t>: centered </a:t>
                </a:r>
                <a14:m>
                  <m:oMath xmlns:m="http://schemas.openxmlformats.org/officeDocument/2006/math">
                    <m:r>
                      <a:rPr lang="fr-FR" sz="18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sz="1800" dirty="0"/>
                  <a:t> matrix)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55270BC-DF01-4E1D-B1BC-75A52FD72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212817"/>
                <a:ext cx="5247564" cy="4281443"/>
              </a:xfrm>
              <a:blipFill>
                <a:blip r:embed="rId3"/>
                <a:stretch>
                  <a:fillRect l="-1045" t="-12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CB2BE267-BC37-4C41-8E42-B14474F2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79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4B7AAAC-D114-49BB-B617-635C8347A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508" y="404964"/>
            <a:ext cx="3196251" cy="31962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8335B88-E8E0-463E-B95C-1CBEBD5B43FA}"/>
              </a:ext>
            </a:extLst>
          </p:cNvPr>
          <p:cNvSpPr/>
          <p:nvPr/>
        </p:nvSpPr>
        <p:spPr>
          <a:xfrm>
            <a:off x="7425508" y="3668014"/>
            <a:ext cx="3849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Image by </a:t>
            </a:r>
            <a:r>
              <a:rPr lang="en-GB" sz="1000" dirty="0" err="1"/>
              <a:t>Nicoguaro</a:t>
            </a:r>
            <a:r>
              <a:rPr lang="en-GB" sz="1000" dirty="0"/>
              <a:t> - Own work, CC BY 4.0, https://commons.wikimedia.org/w/index.php?curid=46871195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8AF4B32-715D-4D13-9012-52848A3A488D}"/>
                  </a:ext>
                </a:extLst>
              </p:cNvPr>
              <p:cNvSpPr txBox="1"/>
              <p:nvPr/>
            </p:nvSpPr>
            <p:spPr>
              <a:xfrm>
                <a:off x="9186907" y="5178579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8AF4B32-715D-4D13-9012-52848A3A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907" y="5178579"/>
                <a:ext cx="3371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760E701-D798-4F86-B88A-D45C068742F7}"/>
                  </a:ext>
                </a:extLst>
              </p:cNvPr>
              <p:cNvSpPr txBox="1"/>
              <p:nvPr/>
            </p:nvSpPr>
            <p:spPr>
              <a:xfrm>
                <a:off x="9733319" y="6013018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760E701-D798-4F86-B88A-D45C06874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319" y="6013018"/>
                <a:ext cx="9236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E2677EC-DC4B-48B7-9A55-4ED164A38DB4}"/>
              </a:ext>
            </a:extLst>
          </p:cNvPr>
          <p:cNvCxnSpPr>
            <a:cxnSpLocks/>
          </p:cNvCxnSpPr>
          <p:nvPr/>
        </p:nvCxnSpPr>
        <p:spPr>
          <a:xfrm flipV="1">
            <a:off x="9782509" y="5994692"/>
            <a:ext cx="874446" cy="3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lèche : droite 22">
                <a:extLst>
                  <a:ext uri="{FF2B5EF4-FFF2-40B4-BE49-F238E27FC236}">
                    <a16:creationId xmlns:a16="http://schemas.microsoft.com/office/drawing/2014/main" id="{D4690B2C-C7ED-4770-AA8E-59CBE509B8DD}"/>
                  </a:ext>
                </a:extLst>
              </p:cNvPr>
              <p:cNvSpPr/>
              <p:nvPr/>
            </p:nvSpPr>
            <p:spPr>
              <a:xfrm>
                <a:off x="6034265" y="4938049"/>
                <a:ext cx="2977866" cy="85039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bg2"/>
                    </a:solidFill>
                  </a:rPr>
                  <a:t>PCA: </a:t>
                </a:r>
                <a14:m>
                  <m:oMath xmlns:m="http://schemas.openxmlformats.org/officeDocument/2006/math">
                    <m:r>
                      <a:rPr lang="fr-FR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[: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3" name="Flèche : droite 22">
                <a:extLst>
                  <a:ext uri="{FF2B5EF4-FFF2-40B4-BE49-F238E27FC236}">
                    <a16:creationId xmlns:a16="http://schemas.microsoft.com/office/drawing/2014/main" id="{D4690B2C-C7ED-4770-AA8E-59CBE509B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265" y="4938049"/>
                <a:ext cx="2977866" cy="850392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DE83168-AACB-4B82-92B5-64ADC077F28E}"/>
              </a:ext>
            </a:extLst>
          </p:cNvPr>
          <p:cNvCxnSpPr>
            <a:cxnSpLocks/>
          </p:cNvCxnSpPr>
          <p:nvPr/>
        </p:nvCxnSpPr>
        <p:spPr>
          <a:xfrm flipV="1">
            <a:off x="1673490" y="4787589"/>
            <a:ext cx="0" cy="101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9E3FC41-8B75-440D-B1EE-38E5B7F1DCC4}"/>
                  </a:ext>
                </a:extLst>
              </p:cNvPr>
              <p:cNvSpPr txBox="1"/>
              <p:nvPr/>
            </p:nvSpPr>
            <p:spPr>
              <a:xfrm>
                <a:off x="1300684" y="5066816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9E3FC41-8B75-440D-B1EE-38E5B7F1D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684" y="5066816"/>
                <a:ext cx="3371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BAD39CA5-67E7-4088-89E2-1EAB5B789249}"/>
                  </a:ext>
                </a:extLst>
              </p:cNvPr>
              <p:cNvSpPr txBox="1"/>
              <p:nvPr/>
            </p:nvSpPr>
            <p:spPr>
              <a:xfrm>
                <a:off x="3291668" y="6046375"/>
                <a:ext cx="923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BAD39CA5-67E7-4088-89E2-1EAB5B789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668" y="6046375"/>
                <a:ext cx="923636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67135862-FAA5-4777-9B1B-376F06987304}"/>
              </a:ext>
            </a:extLst>
          </p:cNvPr>
          <p:cNvCxnSpPr>
            <a:cxnSpLocks/>
          </p:cNvCxnSpPr>
          <p:nvPr/>
        </p:nvCxnSpPr>
        <p:spPr>
          <a:xfrm>
            <a:off x="1804429" y="5982848"/>
            <a:ext cx="3898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AE651E7-6B82-44BC-B1D2-F1D1AD6DDE1D}"/>
              </a:ext>
            </a:extLst>
          </p:cNvPr>
          <p:cNvSpPr/>
          <p:nvPr/>
        </p:nvSpPr>
        <p:spPr>
          <a:xfrm>
            <a:off x="9782509" y="4787589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12BFA3-E643-4EDD-A268-07AC19D173B3}"/>
              </a:ext>
            </a:extLst>
          </p:cNvPr>
          <p:cNvSpPr/>
          <p:nvPr/>
        </p:nvSpPr>
        <p:spPr>
          <a:xfrm>
            <a:off x="9782509" y="4967669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02036E-C4DA-4137-B68F-21436FA0FF58}"/>
              </a:ext>
            </a:extLst>
          </p:cNvPr>
          <p:cNvSpPr/>
          <p:nvPr/>
        </p:nvSpPr>
        <p:spPr>
          <a:xfrm>
            <a:off x="9782509" y="5145761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ACDA53-4B08-4744-890A-6A65B8C5B957}"/>
              </a:ext>
            </a:extLst>
          </p:cNvPr>
          <p:cNvSpPr/>
          <p:nvPr/>
        </p:nvSpPr>
        <p:spPr>
          <a:xfrm>
            <a:off x="9783135" y="5325812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B10E51-1B06-49AD-B37E-7471F019B8D8}"/>
              </a:ext>
            </a:extLst>
          </p:cNvPr>
          <p:cNvSpPr/>
          <p:nvPr/>
        </p:nvSpPr>
        <p:spPr>
          <a:xfrm>
            <a:off x="9783305" y="5505892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4C6A62-E8D5-4F68-B8A6-CE20F1D42C53}"/>
              </a:ext>
            </a:extLst>
          </p:cNvPr>
          <p:cNvSpPr/>
          <p:nvPr/>
        </p:nvSpPr>
        <p:spPr>
          <a:xfrm>
            <a:off x="9782509" y="5685992"/>
            <a:ext cx="894497" cy="18005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729FA7E8-6E62-4358-8B67-D24EBF9BD60B}"/>
              </a:ext>
            </a:extLst>
          </p:cNvPr>
          <p:cNvCxnSpPr>
            <a:cxnSpLocks/>
          </p:cNvCxnSpPr>
          <p:nvPr/>
        </p:nvCxnSpPr>
        <p:spPr>
          <a:xfrm flipV="1">
            <a:off x="9608528" y="4827919"/>
            <a:ext cx="0" cy="101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E28EA287-7306-4BEA-9D4A-AE6DCBDADE18}"/>
                  </a:ext>
                </a:extLst>
              </p:cNvPr>
              <p:cNvSpPr txBox="1"/>
              <p:nvPr/>
            </p:nvSpPr>
            <p:spPr>
              <a:xfrm>
                <a:off x="3582740" y="4376070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E28EA287-7306-4BEA-9D4A-AE6DCBDA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740" y="4376070"/>
                <a:ext cx="3371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6E65F29-3AE1-4151-A71A-B0E589583615}"/>
                  </a:ext>
                </a:extLst>
              </p:cNvPr>
              <p:cNvSpPr txBox="1"/>
              <p:nvPr/>
            </p:nvSpPr>
            <p:spPr>
              <a:xfrm>
                <a:off x="10051173" y="4371234"/>
                <a:ext cx="33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6E65F29-3AE1-4151-A71A-B0E589583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173" y="4371234"/>
                <a:ext cx="337118" cy="369332"/>
              </a:xfrm>
              <a:prstGeom prst="rect">
                <a:avLst/>
              </a:prstGeom>
              <a:blipFill>
                <a:blip r:embed="rId11"/>
                <a:stretch>
                  <a:fillRect l="-3636" r="-5455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e 3">
            <a:extLst>
              <a:ext uri="{FF2B5EF4-FFF2-40B4-BE49-F238E27FC236}">
                <a16:creationId xmlns:a16="http://schemas.microsoft.com/office/drawing/2014/main" id="{987F88E0-F0F6-4943-8231-A2C95DFB19B3}"/>
              </a:ext>
            </a:extLst>
          </p:cNvPr>
          <p:cNvGrpSpPr/>
          <p:nvPr/>
        </p:nvGrpSpPr>
        <p:grpSpPr>
          <a:xfrm>
            <a:off x="1785112" y="4782792"/>
            <a:ext cx="3972965" cy="1080849"/>
            <a:chOff x="1821908" y="3321830"/>
            <a:chExt cx="3972965" cy="108084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5748C4F-6359-48C4-8836-63333374B5CC}"/>
                </a:ext>
              </a:extLst>
            </p:cNvPr>
            <p:cNvSpPr/>
            <p:nvPr/>
          </p:nvSpPr>
          <p:spPr>
            <a:xfrm>
              <a:off x="1821908" y="3321830"/>
              <a:ext cx="3972339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2FE6022-8728-4593-ADEE-44B5D51DE289}"/>
                </a:ext>
              </a:extLst>
            </p:cNvPr>
            <p:cNvSpPr/>
            <p:nvPr/>
          </p:nvSpPr>
          <p:spPr>
            <a:xfrm>
              <a:off x="1821908" y="3501910"/>
              <a:ext cx="3972339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439C728-AE42-46BB-8179-BB45494BA85F}"/>
                </a:ext>
              </a:extLst>
            </p:cNvPr>
            <p:cNvSpPr/>
            <p:nvPr/>
          </p:nvSpPr>
          <p:spPr>
            <a:xfrm>
              <a:off x="1821908" y="3682383"/>
              <a:ext cx="3972339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AF95B07-C3C8-4490-9BDA-6D6FED3D4365}"/>
                </a:ext>
              </a:extLst>
            </p:cNvPr>
            <p:cNvSpPr/>
            <p:nvPr/>
          </p:nvSpPr>
          <p:spPr>
            <a:xfrm>
              <a:off x="1822996" y="3863048"/>
              <a:ext cx="3971249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A0CDB42-95A3-4097-A155-AE760377AF81}"/>
                </a:ext>
              </a:extLst>
            </p:cNvPr>
            <p:cNvSpPr/>
            <p:nvPr/>
          </p:nvSpPr>
          <p:spPr>
            <a:xfrm>
              <a:off x="1824051" y="4042514"/>
              <a:ext cx="3970194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86AC9B0-EF2B-43C5-8482-0868392D55A8}"/>
                </a:ext>
              </a:extLst>
            </p:cNvPr>
            <p:cNvSpPr/>
            <p:nvPr/>
          </p:nvSpPr>
          <p:spPr>
            <a:xfrm>
              <a:off x="1821909" y="4222628"/>
              <a:ext cx="3972964" cy="18005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7702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F92D7C-9CF2-46DF-B66D-4CEB8438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08" y="453405"/>
            <a:ext cx="2391508" cy="3030415"/>
          </a:xfrm>
        </p:spPr>
        <p:txBody>
          <a:bodyPr>
            <a:normAutofit/>
          </a:bodyPr>
          <a:lstStyle/>
          <a:p>
            <a:r>
              <a:rPr lang="en-GB" dirty="0"/>
              <a:t>Results on SALAMI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7ED9851-EACC-4BDD-A3E4-72B0C130D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6" y="453405"/>
            <a:ext cx="8346831" cy="2770437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54CFD-772A-4594-AD64-67C93A29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80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DEC46A0-A6D2-4777-AB3B-3E595EBC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209" y="3223842"/>
            <a:ext cx="7235582" cy="350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702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A491D-AFE5-43F2-8AC8-9E1C269B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94" y="305334"/>
            <a:ext cx="9601200" cy="1485900"/>
          </a:xfrm>
        </p:spPr>
        <p:txBody>
          <a:bodyPr/>
          <a:lstStyle/>
          <a:p>
            <a:r>
              <a:rPr lang="fr-FR" dirty="0"/>
              <a:t>Fourier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A95E36-99B5-4100-9F8A-2663807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81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3D69AA9-8C9C-43B9-AD0E-F2A27BE840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671"/>
          <a:stretch/>
        </p:blipFill>
        <p:spPr>
          <a:xfrm>
            <a:off x="1378394" y="2686050"/>
            <a:ext cx="3966151" cy="14859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9BF1D81-AF65-43CE-B174-784D13844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3822334"/>
            <a:ext cx="3498404" cy="283336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3692452-9466-4F44-A1BA-F358D76D9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1" y="374493"/>
            <a:ext cx="3854648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72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5150E-3B1D-4963-B1BB-8A01D27E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Kronecker </a:t>
            </a:r>
            <a:r>
              <a:rPr lang="fr-FR" dirty="0" err="1"/>
              <a:t>product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E23A22D-ECF1-4AB6-8D6C-B9618787D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23" y="1703430"/>
            <a:ext cx="9905062" cy="470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791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347C4-62AA-4D85-91F7-453F204A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References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C8EE5-27DD-45D5-B467-14A51F1B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582"/>
            <a:ext cx="9601200" cy="4978400"/>
          </a:xfrm>
        </p:spPr>
        <p:txBody>
          <a:bodyPr>
            <a:normAutofit/>
          </a:bodyPr>
          <a:lstStyle/>
          <a:p>
            <a:r>
              <a:rPr lang="en-US" dirty="0"/>
              <a:t>[Böc+16] </a:t>
            </a:r>
            <a:r>
              <a:rPr lang="en-US" dirty="0" err="1"/>
              <a:t>Böck</a:t>
            </a:r>
            <a:r>
              <a:rPr lang="en-US" dirty="0"/>
              <a:t>, S et al. </a:t>
            </a:r>
            <a:r>
              <a:rPr lang="en-US" dirty="0" err="1"/>
              <a:t>Madmom</a:t>
            </a:r>
            <a:r>
              <a:rPr lang="en-US" dirty="0"/>
              <a:t>: A new python audio and music signal processing library. In 2016 Proc. of the 24th ACM international conference on Multimedia.</a:t>
            </a:r>
            <a:endParaRPr lang="fr-FR" dirty="0"/>
          </a:p>
          <a:p>
            <a:r>
              <a:rPr lang="en-US" dirty="0"/>
              <a:t>[FI11] </a:t>
            </a:r>
            <a:r>
              <a:rPr lang="en-GB" dirty="0" err="1"/>
              <a:t>Févotte</a:t>
            </a:r>
            <a:r>
              <a:rPr lang="en-GB" dirty="0"/>
              <a:t>, C. and </a:t>
            </a:r>
            <a:r>
              <a:rPr lang="en-GB" dirty="0" err="1"/>
              <a:t>Idier</a:t>
            </a:r>
            <a:r>
              <a:rPr lang="en-GB" dirty="0"/>
              <a:t>, J., « Algorithms for nonnegative matrix factorization with the </a:t>
            </a:r>
            <a:r>
              <a:rPr lang="en-GB" i="1" dirty="0"/>
              <a:t>β</a:t>
            </a:r>
            <a:r>
              <a:rPr lang="en-GB" dirty="0"/>
              <a:t>-divergence », </a:t>
            </a:r>
            <a:r>
              <a:rPr lang="en-GB" i="1" dirty="0"/>
              <a:t>in</a:t>
            </a:r>
            <a:r>
              <a:rPr lang="en-GB" dirty="0"/>
              <a:t>: </a:t>
            </a:r>
            <a:r>
              <a:rPr lang="en-GB" i="1" dirty="0"/>
              <a:t>Neural computation </a:t>
            </a:r>
            <a:r>
              <a:rPr lang="en-GB" dirty="0"/>
              <a:t>23.</a:t>
            </a:r>
            <a:r>
              <a:rPr lang="en-GB" i="1" dirty="0"/>
              <a:t>9 </a:t>
            </a:r>
            <a:r>
              <a:rPr lang="en-GB" dirty="0"/>
              <a:t>(2011), pp. 2421–2456.</a:t>
            </a:r>
            <a:endParaRPr lang="fr-FR" dirty="0"/>
          </a:p>
          <a:p>
            <a:r>
              <a:rPr lang="en-US" dirty="0"/>
              <a:t>[Foo00] Foote, J. Automatic Audio Segmentation using a Measure of Audio Novelty. In 2000 </a:t>
            </a:r>
            <a:r>
              <a:rPr lang="en-US" i="1" dirty="0"/>
              <a:t>Proc. IEEE International Conference on Multimedia and Expo.</a:t>
            </a:r>
            <a:endParaRPr lang="fr-FR" dirty="0"/>
          </a:p>
          <a:p>
            <a:r>
              <a:rPr lang="en-GB" dirty="0"/>
              <a:t>[GG12] Gillis, N. and </a:t>
            </a:r>
            <a:r>
              <a:rPr lang="en-GB" dirty="0" err="1"/>
              <a:t>Glineur</a:t>
            </a:r>
            <a:r>
              <a:rPr lang="en-GB" dirty="0"/>
              <a:t>, F., « Accelerated multiplicative updates and hierarchical ALS algorithms for nonnegative matrix factorization », </a:t>
            </a:r>
            <a:r>
              <a:rPr lang="en-GB" i="1" dirty="0"/>
              <a:t>in</a:t>
            </a:r>
            <a:r>
              <a:rPr lang="en-GB" dirty="0"/>
              <a:t>: </a:t>
            </a:r>
            <a:r>
              <a:rPr lang="en-GB" i="1" dirty="0"/>
              <a:t>Neural computation </a:t>
            </a:r>
            <a:r>
              <a:rPr lang="en-GB" dirty="0"/>
              <a:t>24.</a:t>
            </a:r>
            <a:r>
              <a:rPr lang="en-GB" i="1" dirty="0"/>
              <a:t>4 </a:t>
            </a:r>
            <a:r>
              <a:rPr lang="en-GB" dirty="0"/>
              <a:t>(2012), pp. 1085–1105.</a:t>
            </a:r>
            <a:endParaRPr lang="fr-FR" dirty="0"/>
          </a:p>
          <a:p>
            <a:r>
              <a:rPr lang="en-US" dirty="0"/>
              <a:t>[GS15] Grill, T. and Schlüter, J., « Music Boundary Detection Using Neural Networks on Combined Features and Two-Level Annotations. », </a:t>
            </a:r>
            <a:r>
              <a:rPr lang="en-US" i="1" dirty="0"/>
              <a:t>in</a:t>
            </a:r>
            <a:r>
              <a:rPr lang="en-US" dirty="0"/>
              <a:t>: </a:t>
            </a:r>
            <a:r>
              <a:rPr lang="en-US" i="1" dirty="0"/>
              <a:t>ISMIR</a:t>
            </a:r>
            <a:r>
              <a:rPr lang="en-US" dirty="0"/>
              <a:t>, </a:t>
            </a:r>
            <a:r>
              <a:rPr lang="en-GB" dirty="0"/>
              <a:t>2015, pp. 531–537</a:t>
            </a:r>
            <a:endParaRPr lang="fr-FR" dirty="0"/>
          </a:p>
          <a:p>
            <a:r>
              <a:rPr lang="en-US" dirty="0"/>
              <a:t>[Got+02] </a:t>
            </a:r>
            <a:r>
              <a:rPr lang="en-GB" dirty="0" err="1"/>
              <a:t>Goto</a:t>
            </a:r>
            <a:r>
              <a:rPr lang="en-GB" dirty="0"/>
              <a:t>, M., Hashiguchi, H., Nishimura, T., and Oka, R., « RWC Music Database: </a:t>
            </a:r>
            <a:r>
              <a:rPr lang="en-US" dirty="0"/>
              <a:t>Popular, Classical and Jazz Music Databases », </a:t>
            </a:r>
            <a:r>
              <a:rPr lang="en-US" i="1" dirty="0"/>
              <a:t>in</a:t>
            </a:r>
            <a:r>
              <a:rPr lang="en-US" dirty="0"/>
              <a:t>: </a:t>
            </a:r>
            <a:r>
              <a:rPr lang="en-US" i="1" dirty="0"/>
              <a:t>ISMIR</a:t>
            </a:r>
            <a:r>
              <a:rPr lang="en-US" dirty="0"/>
              <a:t>, vol. 2, 2002, </a:t>
            </a:r>
            <a:r>
              <a:rPr lang="en-GB" dirty="0"/>
              <a:t>pp. 287–288.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0376B6-4CBE-491D-8B3C-0CA524E5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83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7721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347C4-62AA-4D85-91F7-453F204A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References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C8EE5-27DD-45D5-B467-14A51F1B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582"/>
            <a:ext cx="9601200" cy="49784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[KC07] Kim, Y. D., &amp; Choi, </a:t>
            </a:r>
            <a:r>
              <a:rPr lang="en-GB" dirty="0" err="1"/>
              <a:t>S.Nonnegative</a:t>
            </a:r>
            <a:r>
              <a:rPr lang="en-GB" dirty="0"/>
              <a:t> tucker decomposition. In 2007</a:t>
            </a:r>
            <a:r>
              <a:rPr lang="en-GB" i="1" dirty="0"/>
              <a:t> IEEE conference on computer vision and pattern recognition.</a:t>
            </a:r>
            <a:endParaRPr lang="fr-FR" dirty="0"/>
          </a:p>
          <a:p>
            <a:r>
              <a:rPr lang="en-US" dirty="0"/>
              <a:t>[</a:t>
            </a:r>
            <a:r>
              <a:rPr lang="en-US" b="1" u="sng" dirty="0"/>
              <a:t>Mar+20</a:t>
            </a:r>
            <a:r>
              <a:rPr lang="en-US" dirty="0"/>
              <a:t>] </a:t>
            </a:r>
            <a:r>
              <a:rPr lang="en-US" b="1" dirty="0"/>
              <a:t>Marmoret, A</a:t>
            </a:r>
            <a:r>
              <a:rPr lang="en-US" dirty="0"/>
              <a:t>., Cohen, J., </a:t>
            </a:r>
            <a:r>
              <a:rPr lang="en-US" dirty="0" err="1"/>
              <a:t>Bertin</a:t>
            </a:r>
            <a:r>
              <a:rPr lang="en-US" dirty="0"/>
              <a:t>, N., &amp; </a:t>
            </a:r>
            <a:r>
              <a:rPr lang="en-US" dirty="0" err="1"/>
              <a:t>Bimbot</a:t>
            </a:r>
            <a:r>
              <a:rPr lang="en-US" dirty="0"/>
              <a:t>, F. Uncovering Audio Patterns in Music with Nonnegative Tucker Decomposition for Structural Segmentation. In 2020 </a:t>
            </a:r>
            <a:r>
              <a:rPr lang="en-US" i="1" dirty="0"/>
              <a:t>ISMIR</a:t>
            </a:r>
            <a:r>
              <a:rPr lang="en-US" dirty="0"/>
              <a:t>.</a:t>
            </a:r>
            <a:endParaRPr lang="fr-FR" dirty="0"/>
          </a:p>
          <a:p>
            <a:r>
              <a:rPr lang="en-US" dirty="0"/>
              <a:t>[</a:t>
            </a:r>
            <a:r>
              <a:rPr lang="en-US" b="1" u="sng" dirty="0"/>
              <a:t>Mar+22</a:t>
            </a:r>
            <a:r>
              <a:rPr lang="en-US" dirty="0"/>
              <a:t>] </a:t>
            </a:r>
            <a:r>
              <a:rPr lang="en-US" b="1" dirty="0"/>
              <a:t>Marmoret, A</a:t>
            </a:r>
            <a:r>
              <a:rPr lang="en-US" dirty="0"/>
              <a:t>., et al.. Nonnegative Tucker Decomposition with Beta-divergence for Music Structure Analysis of audio signals. </a:t>
            </a:r>
            <a:r>
              <a:rPr lang="fr-FR" i="1" dirty="0"/>
              <a:t>GRETSI2022</a:t>
            </a:r>
            <a:r>
              <a:rPr lang="fr-FR" dirty="0"/>
              <a:t>.</a:t>
            </a:r>
          </a:p>
          <a:p>
            <a:r>
              <a:rPr lang="en-US" b="1" u="sng" dirty="0"/>
              <a:t>[MCB22a]</a:t>
            </a:r>
            <a:r>
              <a:rPr lang="en-US" dirty="0"/>
              <a:t> </a:t>
            </a:r>
            <a:r>
              <a:rPr lang="en-US" b="1" dirty="0"/>
              <a:t>Marmoret, A</a:t>
            </a:r>
            <a:r>
              <a:rPr lang="en-US" dirty="0"/>
              <a:t>., Cohen, J. E., &amp; </a:t>
            </a:r>
            <a:r>
              <a:rPr lang="en-US" dirty="0" err="1"/>
              <a:t>Bimbot</a:t>
            </a:r>
            <a:r>
              <a:rPr lang="en-US" dirty="0"/>
              <a:t>, F. (2022). Convolutive Block-Matching Segmentation Algorithm with Application to Music Structure Analysis. </a:t>
            </a:r>
            <a:r>
              <a:rPr lang="en-US" i="1" dirty="0" err="1"/>
              <a:t>arXiv</a:t>
            </a:r>
            <a:r>
              <a:rPr lang="en-US" i="1" dirty="0"/>
              <a:t> preprint arXiv:2210.15356</a:t>
            </a:r>
            <a:r>
              <a:rPr lang="en-US" dirty="0"/>
              <a:t>. (Submitted to ICASSP 2023)</a:t>
            </a:r>
            <a:endParaRPr lang="fr-FR" dirty="0"/>
          </a:p>
          <a:p>
            <a:r>
              <a:rPr lang="en-US" dirty="0"/>
              <a:t>[</a:t>
            </a:r>
            <a:r>
              <a:rPr lang="en-US" b="1" u="sng" dirty="0"/>
              <a:t>MCB22b</a:t>
            </a:r>
            <a:r>
              <a:rPr lang="en-US" dirty="0"/>
              <a:t>] </a:t>
            </a:r>
            <a:r>
              <a:rPr lang="en-GB" b="1" dirty="0"/>
              <a:t>Marmoret, A</a:t>
            </a:r>
            <a:r>
              <a:rPr lang="en-GB" dirty="0"/>
              <a:t>., Cohen, J.E., and </a:t>
            </a:r>
            <a:r>
              <a:rPr lang="en-GB" dirty="0" err="1"/>
              <a:t>Bimbot</a:t>
            </a:r>
            <a:r>
              <a:rPr lang="en-GB" dirty="0"/>
              <a:t>, F., « Barwise Compression </a:t>
            </a:r>
            <a:r>
              <a:rPr lang="en-US" dirty="0"/>
              <a:t>Schemes for Audio-Based Music Structure Analysis », </a:t>
            </a:r>
            <a:r>
              <a:rPr lang="en-US" i="1" dirty="0"/>
              <a:t>in</a:t>
            </a:r>
            <a:r>
              <a:rPr lang="en-US" dirty="0"/>
              <a:t>: </a:t>
            </a:r>
            <a:r>
              <a:rPr lang="en-US" i="1" dirty="0"/>
              <a:t>19th Sound and Music Computing Conference, SMC 2022</a:t>
            </a:r>
            <a:r>
              <a:rPr lang="en-US" dirty="0"/>
              <a:t>, Sound and music Computing </a:t>
            </a:r>
            <a:r>
              <a:rPr lang="en-GB" dirty="0"/>
              <a:t>network, 2022.</a:t>
            </a:r>
            <a:endParaRPr lang="fr-FR" dirty="0"/>
          </a:p>
          <a:p>
            <a:r>
              <a:rPr lang="en-US" dirty="0"/>
              <a:t>[ME14] McFee, B., &amp; Ellis, D. Analyzing Song Structure with Spectral Clustering. In 2014 </a:t>
            </a:r>
            <a:r>
              <a:rPr lang="en-US" i="1" dirty="0"/>
              <a:t>ISMIR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1697D2-8863-4AAD-84BB-F1E36AAC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84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7339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347C4-62AA-4D85-91F7-453F204A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References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C8EE5-27DD-45D5-B467-14A51F1B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582"/>
            <a:ext cx="9601200" cy="4978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[Nie+20] Nieto, O </a:t>
            </a:r>
            <a:r>
              <a:rPr lang="en-US" i="1" dirty="0"/>
              <a:t>et al., </a:t>
            </a:r>
            <a:r>
              <a:rPr lang="en-US" dirty="0"/>
              <a:t>Audio-based music structure analysis: Current trends, open challenges, and applications. 2020 </a:t>
            </a:r>
            <a:r>
              <a:rPr lang="en-US" i="1" dirty="0"/>
              <a:t>Transactions of the International Society for Music Information Retrieval</a:t>
            </a:r>
            <a:r>
              <a:rPr lang="en-US" dirty="0"/>
              <a:t>.</a:t>
            </a:r>
            <a:endParaRPr lang="fr-FR" dirty="0"/>
          </a:p>
          <a:p>
            <a:r>
              <a:rPr lang="en-US" dirty="0"/>
              <a:t>[Ser+14] </a:t>
            </a:r>
            <a:r>
              <a:rPr lang="en-GB" dirty="0"/>
              <a:t>Serra, J., Müller, M., </a:t>
            </a:r>
            <a:r>
              <a:rPr lang="en-GB" dirty="0" err="1"/>
              <a:t>Grosche</a:t>
            </a:r>
            <a:r>
              <a:rPr lang="en-GB" dirty="0"/>
              <a:t>, P., and Arcos, </a:t>
            </a:r>
            <a:r>
              <a:rPr lang="en-GB" dirty="0" err="1"/>
              <a:t>J.Ll</a:t>
            </a:r>
            <a:r>
              <a:rPr lang="en-GB" dirty="0"/>
              <a:t>., « Unsupervised </a:t>
            </a:r>
            <a:r>
              <a:rPr lang="en-US" dirty="0"/>
              <a:t>music structure annotation by time series structure features and segment similarity », </a:t>
            </a:r>
            <a:r>
              <a:rPr lang="en-US" i="1" dirty="0"/>
              <a:t>in</a:t>
            </a:r>
            <a:r>
              <a:rPr lang="en-US" dirty="0"/>
              <a:t>: </a:t>
            </a:r>
            <a:r>
              <a:rPr lang="en-US" i="1" dirty="0"/>
              <a:t>IEEE Transactions on Multimedia </a:t>
            </a:r>
            <a:r>
              <a:rPr lang="en-US" dirty="0"/>
              <a:t>16.</a:t>
            </a:r>
            <a:r>
              <a:rPr lang="en-US" i="1" dirty="0"/>
              <a:t>5 </a:t>
            </a:r>
            <a:r>
              <a:rPr lang="en-US" dirty="0"/>
              <a:t>(2014), </a:t>
            </a:r>
            <a:r>
              <a:rPr lang="en-GB" dirty="0"/>
              <a:t>pp. 1229–1240.</a:t>
            </a:r>
            <a:endParaRPr lang="fr-FR" dirty="0"/>
          </a:p>
          <a:p>
            <a:r>
              <a:rPr lang="en-US" dirty="0"/>
              <a:t>[SG18] Smith, J. B., &amp; </a:t>
            </a:r>
            <a:r>
              <a:rPr lang="en-US" dirty="0" err="1"/>
              <a:t>Goto</a:t>
            </a:r>
            <a:r>
              <a:rPr lang="en-US" dirty="0"/>
              <a:t>, M.. Nonnegative tensor factorization for source separation of loops in audio. In </a:t>
            </a:r>
            <a:r>
              <a:rPr lang="en-US" i="1" dirty="0"/>
              <a:t>2018 IEEE ICASSP</a:t>
            </a:r>
            <a:r>
              <a:rPr lang="en-US" dirty="0"/>
              <a:t>.</a:t>
            </a:r>
          </a:p>
          <a:p>
            <a:r>
              <a:rPr lang="en-GB" dirty="0"/>
              <a:t>[Smi+11] Smith, J.B.L., Burgoyne, J.A., </a:t>
            </a:r>
            <a:r>
              <a:rPr lang="en-GB" dirty="0" err="1"/>
              <a:t>Fujinaga</a:t>
            </a:r>
            <a:r>
              <a:rPr lang="en-GB" dirty="0"/>
              <a:t>, I., De </a:t>
            </a:r>
            <a:r>
              <a:rPr lang="en-GB" dirty="0" err="1"/>
              <a:t>Roure</a:t>
            </a:r>
            <a:r>
              <a:rPr lang="en-GB" dirty="0"/>
              <a:t>, D., and </a:t>
            </a:r>
            <a:r>
              <a:rPr lang="en-GB" dirty="0" err="1"/>
              <a:t>Downie</a:t>
            </a:r>
            <a:r>
              <a:rPr lang="en-GB" dirty="0"/>
              <a:t>, J.S., </a:t>
            </a:r>
            <a:r>
              <a:rPr lang="en-US" dirty="0"/>
              <a:t>« Design and creation of a large-scale database of structural annotations. », </a:t>
            </a:r>
            <a:r>
              <a:rPr lang="nl-NL" i="1" dirty="0"/>
              <a:t>in</a:t>
            </a:r>
            <a:r>
              <a:rPr lang="nl-NL" dirty="0"/>
              <a:t>: </a:t>
            </a:r>
            <a:r>
              <a:rPr lang="nl-NL" i="1" dirty="0"/>
              <a:t>ISMIR</a:t>
            </a:r>
            <a:r>
              <a:rPr lang="nl-NL" dirty="0"/>
              <a:t>, vol. 11, Miami, FL, 2011, pp. 555–560.</a:t>
            </a:r>
            <a:endParaRPr lang="fr-FR" dirty="0"/>
          </a:p>
          <a:p>
            <a:r>
              <a:rPr lang="en-GB" dirty="0"/>
              <a:t>[S03] </a:t>
            </a:r>
            <a:r>
              <a:rPr lang="en-GB" dirty="0" err="1"/>
              <a:t>Smaragdis</a:t>
            </a:r>
            <a:r>
              <a:rPr lang="en-GB" dirty="0"/>
              <a:t>, B., and Brown, J., “Non-negative matrix factorization for polyphonic music transcription,” in 2003 Proc. IEEE Workshop </a:t>
            </a:r>
            <a:r>
              <a:rPr lang="en-GB" dirty="0" err="1"/>
              <a:t>Applicat</a:t>
            </a:r>
            <a:r>
              <a:rPr lang="en-GB" dirty="0"/>
              <a:t>. Signal Process. Audio </a:t>
            </a:r>
            <a:r>
              <a:rPr lang="en-GB" dirty="0" err="1"/>
              <a:t>Acoust</a:t>
            </a:r>
            <a:r>
              <a:rPr lang="en-GB" dirty="0"/>
              <a:t>. (WASPAA)</a:t>
            </a:r>
            <a:endParaRPr lang="fr-FR" dirty="0"/>
          </a:p>
          <a:p>
            <a:r>
              <a:rPr lang="en-US" dirty="0"/>
              <a:t>[</a:t>
            </a:r>
            <a:r>
              <a:rPr lang="en-US" b="1" u="sng" dirty="0"/>
              <a:t>Wu+22</a:t>
            </a:r>
            <a:r>
              <a:rPr lang="en-US" dirty="0"/>
              <a:t>] Wu, H., </a:t>
            </a:r>
            <a:r>
              <a:rPr lang="en-US" b="1" dirty="0"/>
              <a:t>Marmoret, A</a:t>
            </a:r>
            <a:r>
              <a:rPr lang="en-US" dirty="0"/>
              <a:t>., &amp; Cohen, J. E. Semi-Supervised Convolutive NMF for Automatic Music Transcription. </a:t>
            </a:r>
            <a:r>
              <a:rPr lang="fr-FR" dirty="0"/>
              <a:t>2022, </a:t>
            </a:r>
            <a:r>
              <a:rPr lang="fr-FR" i="1" dirty="0" err="1"/>
              <a:t>arXiv</a:t>
            </a:r>
            <a:r>
              <a:rPr lang="fr-FR" i="1" dirty="0"/>
              <a:t> </a:t>
            </a:r>
            <a:r>
              <a:rPr lang="fr-FR" i="1" dirty="0" err="1"/>
              <a:t>preprint</a:t>
            </a:r>
            <a:r>
              <a:rPr lang="fr-FR" i="1" dirty="0"/>
              <a:t> arXiv:2202.04989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13F8C1-6100-4DDC-8C0A-A73BB6A6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9920-31A3-4B34-AAFA-0D666CFA796E}" type="slidenum">
              <a:rPr lang="fr-FR" smtClean="0"/>
              <a:t>85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1548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5|0.1"/>
</p:tagLst>
</file>

<file path=ppt/theme/theme1.xml><?xml version="1.0" encoding="utf-8"?>
<a:theme xmlns:a="http://schemas.openxmlformats.org/drawingml/2006/main" name="Rognage">
  <a:themeElements>
    <a:clrScheme name="Rognage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Rogn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ogn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6316</TotalTime>
  <Words>5983</Words>
  <Application>Microsoft Office PowerPoint</Application>
  <PresentationFormat>Grand écran</PresentationFormat>
  <Paragraphs>1195</Paragraphs>
  <Slides>85</Slides>
  <Notes>60</Notes>
  <HiddenSlides>0</HiddenSlides>
  <MMClips>25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85</vt:i4>
      </vt:variant>
    </vt:vector>
  </HeadingPairs>
  <TitlesOfParts>
    <vt:vector size="95" baseType="lpstr">
      <vt:lpstr>MS Gothic</vt:lpstr>
      <vt:lpstr>Arial</vt:lpstr>
      <vt:lpstr>Calibri</vt:lpstr>
      <vt:lpstr>Cambria Math</vt:lpstr>
      <vt:lpstr>Franklin Gothic Book</vt:lpstr>
      <vt:lpstr>French Script MT</vt:lpstr>
      <vt:lpstr>LMRoman12-Italic</vt:lpstr>
      <vt:lpstr>LMRoman12-Regular</vt:lpstr>
      <vt:lpstr>Wingdings</vt:lpstr>
      <vt:lpstr>Rognage</vt:lpstr>
      <vt:lpstr>Test</vt:lpstr>
      <vt:lpstr>Unsupervised  Machine Learning Paradigms  for the Representation of  Music Similarity and Structure</vt:lpstr>
      <vt:lpstr>PhD,  in a nutshell</vt:lpstr>
      <vt:lpstr>Music</vt:lpstr>
      <vt:lpstr>Music structure?</vt:lpstr>
      <vt:lpstr>Why structural segmentation?</vt:lpstr>
      <vt:lpstr>How are sections estimated?</vt:lpstr>
      <vt:lpstr>Présentation PowerPoint</vt:lpstr>
      <vt:lpstr>Présentation PowerPoint</vt:lpstr>
      <vt:lpstr>Supervised Machine Learning</vt:lpstr>
      <vt:lpstr>Unsupervised Machine Learning</vt:lpstr>
      <vt:lpstr>How is structure evaluated?</vt:lpstr>
      <vt:lpstr>Présentation PowerPoint</vt:lpstr>
      <vt:lpstr>Présentation PowerPoint</vt:lpstr>
      <vt:lpstr>Présentation PowerPoint</vt:lpstr>
      <vt:lpstr>Spectrogram?</vt:lpstr>
      <vt:lpstr>Barwise scale</vt:lpstr>
      <vt:lpstr>Hypotheses for barwise processing</vt:lpstr>
      <vt:lpstr>Barwise spectrograms</vt:lpstr>
      <vt:lpstr>Time-Frequency-Bar Tensor (TFB)</vt:lpstr>
      <vt:lpstr>Présentation PowerPoint</vt:lpstr>
      <vt:lpstr>Présentation PowerPoint</vt:lpstr>
      <vt:lpstr>Présentation PowerPoint</vt:lpstr>
      <vt:lpstr>Présentation PowerPoint</vt:lpstr>
      <vt:lpstr>Convolutive Block-Matching (CBM) algorithm </vt:lpstr>
      <vt:lpstr>Présentation PowerPoint</vt:lpstr>
      <vt:lpstr>CBM algorithm, in practice</vt:lpstr>
      <vt:lpstr>Présentation PowerPoint</vt:lpstr>
      <vt:lpstr>CBM algorithm, RBF</vt:lpstr>
      <vt:lpstr>Présentation PowerPoint</vt:lpstr>
      <vt:lpstr>Machine Learning used for compression</vt:lpstr>
      <vt:lpstr>Présentation PowerPoint</vt:lpstr>
      <vt:lpstr>Présentation PowerPoint</vt:lpstr>
      <vt:lpstr>Présentation PowerPoint</vt:lpstr>
      <vt:lpstr>Nonnegative Matrix Factorization (NMF)</vt:lpstr>
      <vt:lpstr>NMF for Music Transcription [SB03] Example adapted from [Wu+22] </vt:lpstr>
      <vt:lpstr>Mixing templates</vt:lpstr>
      <vt:lpstr>Barwise musical pattern: WGH</vt:lpstr>
      <vt:lpstr>Combining patterns</vt:lpstr>
      <vt:lpstr>Bars, expressed with patterns</vt:lpstr>
      <vt:lpstr>NTD: Nonnegative Tucker Decomposition</vt:lpstr>
      <vt:lpstr>NTD in practice: chromagram</vt:lpstr>
      <vt:lpstr>NTD computation</vt:lpstr>
      <vt:lpstr>Musical patterns W"G" _([::i]) H? </vt:lpstr>
      <vt:lpstr>NTD in practice: chromagram</vt:lpstr>
      <vt:lpstr>Q matrix</vt:lpstr>
      <vt:lpstr>Autosimilarities: Uncompressed vs NTD (Cosine)</vt:lpstr>
      <vt:lpstr>Présentation PowerPoint</vt:lpstr>
      <vt:lpstr>NTD segmentation results</vt:lpstr>
      <vt:lpstr>NTD segmentation results</vt:lpstr>
      <vt:lpstr>Présentation PowerPoint</vt:lpstr>
      <vt:lpstr>Présentation PowerPoint</vt:lpstr>
      <vt:lpstr>Présentation PowerPoint</vt:lpstr>
      <vt:lpstr>PCA</vt:lpstr>
      <vt:lpstr>PCA segmentation results</vt:lpstr>
      <vt:lpstr>Présentation PowerPoint</vt:lpstr>
      <vt:lpstr>Présentation PowerPoint</vt:lpstr>
      <vt:lpstr>Présentation PowerPoint</vt:lpstr>
      <vt:lpstr>AutoEncoders</vt:lpstr>
      <vt:lpstr>NTD matricisation</vt:lpstr>
      <vt:lpstr>NTD-AutoEncoder: NTD as a 2-layer decoder</vt:lpstr>
      <vt:lpstr>Exploratory results</vt:lpstr>
      <vt:lpstr>Présentation PowerPoint</vt:lpstr>
      <vt:lpstr>Overview of segmentation results</vt:lpstr>
      <vt:lpstr>Perspectives</vt:lpstr>
      <vt:lpstr>Unsupervised  Machine Learning Paradigms  for the Representation of  Music Similarity and Structure</vt:lpstr>
      <vt:lpstr>What could constitute structure?</vt:lpstr>
      <vt:lpstr>Example of pattern, with melody</vt:lpstr>
      <vt:lpstr>Barwise point of view</vt:lpstr>
      <vt:lpstr>CBM Results, according to features</vt:lpstr>
      <vt:lpstr>Convolutive "block-matching" (CBM) algorithm</vt:lpstr>
      <vt:lpstr>Dynamic Programming (CBM)</vt:lpstr>
      <vt:lpstr>Results, according to kernels</vt:lpstr>
      <vt:lpstr>Audio – power discrepancies</vt:lpstr>
      <vt:lpstr>β-divergence</vt:lpstr>
      <vt:lpstr>Results for CBM, scores aligned on bars RWC POP dataset</vt:lpstr>
      <vt:lpstr>Results for CBM, scores aligned on bars SALAMI dataset</vt:lpstr>
      <vt:lpstr>Why mixing AE and NTD?</vt:lpstr>
      <vt:lpstr>PCA</vt:lpstr>
      <vt:lpstr>Results on SALAMI</vt:lpstr>
      <vt:lpstr>Fourier analysis</vt:lpstr>
      <vt:lpstr>Kronecker product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c4dm</dc:title>
  <dc:creator>Axel Marmoret</dc:creator>
  <cp:lastModifiedBy>Axel Marmoret</cp:lastModifiedBy>
  <cp:revision>2236</cp:revision>
  <cp:lastPrinted>2022-03-01T14:10:38Z</cp:lastPrinted>
  <dcterms:created xsi:type="dcterms:W3CDTF">2022-02-28T19:24:45Z</dcterms:created>
  <dcterms:modified xsi:type="dcterms:W3CDTF">2023-01-25T18:06:45Z</dcterms:modified>
</cp:coreProperties>
</file>